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eabf2b933f4ee4" /><Relationship Type="http://schemas.openxmlformats.org/officeDocument/2006/relationships/extended-properties" Target="/docProps/app.xml" Id="Ra2de8dce08b04616" /><Relationship Type="http://schemas.openxmlformats.org/officeDocument/2006/relationships/officeDocument" Target="/ppt/presentation.xml" Id="Rd6af779cb3124ad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418ac167d254113"/>
  </p:sldMasterIdLst>
  <p:notesMasterIdLst>
    <p:notesMasterId xmlns:r="http://schemas.openxmlformats.org/officeDocument/2006/relationships" r:id="R914258d389384800"/>
  </p:notesMasterIdLst>
  <p:sldIdLst>
    <p:sldId xmlns:r="http://schemas.openxmlformats.org/officeDocument/2006/relationships" id="256" r:id="Rbf84308bdb1b4a64"/>
    <p:sldId xmlns:r="http://schemas.openxmlformats.org/officeDocument/2006/relationships" id="257" r:id="R62c02af46f574785"/>
    <p:sldId xmlns:r="http://schemas.openxmlformats.org/officeDocument/2006/relationships" id="258" r:id="R1e1f5645a8ae41e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a280b2402774bf2" /><Relationship Type="http://schemas.openxmlformats.org/officeDocument/2006/relationships/slideMaster" Target="/ppt/slideMasters/slideMaster1.xml" Id="R7418ac167d254113" /><Relationship Type="http://schemas.openxmlformats.org/officeDocument/2006/relationships/notesMaster" Target="/ppt/notesMasters/notesMaster1.xml" Id="R914258d389384800" /><Relationship Type="http://schemas.openxmlformats.org/officeDocument/2006/relationships/presProps" Target="/ppt/presProps.xml" Id="R8e02d96f9c634a02" /><Relationship Type="http://schemas.openxmlformats.org/officeDocument/2006/relationships/tableStyles" Target="/ppt/tableStyles.xml" Id="R6fda3910bb854a0a" /><Relationship Type="http://schemas.openxmlformats.org/officeDocument/2006/relationships/slide" Target="/ppt/slides/slide1.xml" Id="Rbf84308bdb1b4a64" /><Relationship Type="http://schemas.openxmlformats.org/officeDocument/2006/relationships/slide" Target="/ppt/slides/slide2.xml" Id="R62c02af46f574785" /><Relationship Type="http://schemas.openxmlformats.org/officeDocument/2006/relationships/slide" Target="/ppt/slides/slide3.xml" Id="R1e1f5645a8ae41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e03954169c42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1be52c5936b4809" /><Relationship Type="http://schemas.openxmlformats.org/officeDocument/2006/relationships/notesMaster" Target="/ppt/notesMasters/notesMaster1.xml" Id="Re4b5536f120749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d51d9a690ac4be0" /><Relationship Type="http://schemas.openxmlformats.org/officeDocument/2006/relationships/notesMaster" Target="/ppt/notesMasters/notesMaster1.xml" Id="R46df514ffdfc4f5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5636e3a5ca489b" /><Relationship Type="http://schemas.openxmlformats.org/officeDocument/2006/relationships/notesMaster" Target="/ppt/notesMasters/notesMaster1.xml" Id="R9b3b53260c5e450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7aa5b863974b2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1e3c13ecb74488a" /><Relationship Type="http://schemas.openxmlformats.org/officeDocument/2006/relationships/slideLayout" Target="/ppt/slideLayouts/slideLayout1.xml" Id="R520cccd694914c8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0cccd694914c8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e0d5a77a12452b" /><Relationship Type="http://schemas.openxmlformats.org/officeDocument/2006/relationships/notesSlide" Target="/ppt/notesSlides/notesSlide1.xml" Id="Rb7b8072dbee440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542842fccc445f" /><Relationship Type="http://schemas.openxmlformats.org/officeDocument/2006/relationships/notesSlide" Target="/ppt/notesSlides/notesSlide2.xml" Id="R763db661eba2491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c5075f28514ca6" /><Relationship Type="http://schemas.openxmlformats.org/officeDocument/2006/relationships/notesSlide" Target="/ppt/notesSlides/notesSlide3.xml" Id="Rfbf0f02f0b4c4d7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915478D6-C4E2-4B02-B978-E2F4ED0B4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ED023C25-CB6D-456D-AE1F-3AB87497C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7DB9DD6E-0B1E-409D-9F47-FAD1755D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BD9E8"/>
                </a:solidFill>
              </a:defRPr>
            </a:pPr>
            <a:r>
              <a:rPr sz="1125" b="1">
                <a:solidFill>
                  <a:srgbClr val="8BD9E8"/>
                </a:solidFill>
              </a:rPr>
              <a:t>HIT2 JAPAN LAUNCH ROADMAP | PAGE 01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589EBEF4-E64A-4757-B3AA-658A0BEB7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94A3B8"/>
                </a:solidFill>
              </a:defRPr>
            </a:pPr>
            <a:r>
              <a:rPr sz="1125">
                <a:solidFill>
                  <a:srgbClr val="94A3B8"/>
                </a:solidFill>
              </a:rPr>
              <a:t>HIT2 일본 서비스 런칭 6개월 전 로드맵</a:t>
            </a:r>
          </a:p>
        </p:txBody>
      </p:sp>
      <p:sp>
        <p:nvSpPr>
          <p:cNvPr id="5" name="page-no">
            <a:extLst xmlns:a="http://schemas.openxmlformats.org/drawingml/2006/main">
              <a:ext uri="{FF2B5EF4-FFF2-40B4-BE49-F238E27FC236}">
                <a16:creationId xmlns:a16="http://schemas.microsoft.com/office/drawing/2014/main" id="{7C8D61A1-8182-427F-9A8C-3EEC5C7D5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579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4A3B8"/>
                </a:solidFill>
              </a:defRPr>
            </a:pPr>
            <a:r>
              <a:rPr sz="1200" b="1">
                <a:solidFill>
                  <a:srgbClr val="94A3B8"/>
                </a:solidFill>
              </a:rPr>
              <a:t>01</a:t>
            </a:r>
          </a:p>
        </p:txBody>
      </p:sp>
      <p:sp>
        <p:nvSpPr>
          <p:cNvPr id="6" name="hero-panel">
            <a:extLst xmlns:a="http://schemas.openxmlformats.org/drawingml/2006/main">
              <a:ext uri="{FF2B5EF4-FFF2-40B4-BE49-F238E27FC236}">
                <a16:creationId xmlns:a16="http://schemas.microsoft.com/office/drawing/2014/main" id="{7F599A71-FE45-4C49-96E6-376333CFD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1252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92E"/>
          </a:solidFill>
          <a:ln xmlns:a="http://schemas.openxmlformats.org/drawingml/2006/main" w="9525">
            <a:solidFill>
              <a:srgbClr val="22304E"/>
            </a:solidFill>
            <a:prstDash val="solid"/>
          </a:ln>
        </p:spPr>
      </p:sp>
      <p:sp>
        <p:nvSpPr>
          <p:cNvPr id="7" name="hero-kicker">
            <a:extLst xmlns:a="http://schemas.openxmlformats.org/drawingml/2006/main">
              <a:ext uri="{FF2B5EF4-FFF2-40B4-BE49-F238E27FC236}">
                <a16:creationId xmlns:a16="http://schemas.microsoft.com/office/drawing/2014/main" id="{90BFCC91-B00C-485F-B5D4-0FEFE6A16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191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8BD9E8"/>
                </a:solidFill>
              </a:defRPr>
            </a:pPr>
            <a:r>
              <a:rPr sz="1500" b="1">
                <a:solidFill>
                  <a:srgbClr val="8BD9E8"/>
                </a:solidFill>
              </a:rPr>
              <a:t>개발 PM 관점의 글로벌 런칭 준비안</a:t>
            </a:r>
          </a:p>
        </p:txBody>
      </p:sp>
      <p:sp>
        <p:nvSpPr>
          <p:cNvPr id="8" name="hero-title">
            <a:extLst xmlns:a="http://schemas.openxmlformats.org/drawingml/2006/main">
              <a:ext uri="{FF2B5EF4-FFF2-40B4-BE49-F238E27FC236}">
                <a16:creationId xmlns:a16="http://schemas.microsoft.com/office/drawing/2014/main" id="{1C1624C8-8DA4-42D9-B024-2AFD8DD76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809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HIT2 일본 런칭 6개월 전 로드맵</a:t>
            </a:r>
          </a:p>
        </p:txBody>
      </p:sp>
      <p:sp>
        <p:nvSpPr>
          <p:cNvPr id="9" name="hero-subtitle">
            <a:extLst xmlns:a="http://schemas.openxmlformats.org/drawingml/2006/main">
              <a:ext uri="{FF2B5EF4-FFF2-40B4-BE49-F238E27FC236}">
                <a16:creationId xmlns:a16="http://schemas.microsoft.com/office/drawing/2014/main" id="{BF1973F7-EDD0-4609-98B4-6074D36C7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050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CBD5E1"/>
                </a:solidFill>
              </a:defRPr>
            </a:pPr>
            <a:r>
              <a:rPr sz="1425">
                <a:solidFill>
                  <a:srgbClr val="CBD5E1"/>
                </a:solidFill>
              </a:rPr>
              <a:t>마일스톤, 빌드·버전, QA, 퍼블리셔 커뮤니케이션을 하나의 출시 준비 흐름으로 정리합니다.</a:t>
            </a:r>
          </a:p>
        </p:txBody>
      </p:sp>
      <p:sp>
        <p:nvSpPr>
          <p:cNvPr id="10" name="tag-1">
            <a:extLst xmlns:a="http://schemas.openxmlformats.org/drawingml/2006/main">
              <a:ext uri="{FF2B5EF4-FFF2-40B4-BE49-F238E27FC236}">
                <a16:creationId xmlns:a16="http://schemas.microsoft.com/office/drawing/2014/main" id="{E7D25977-DB2E-4C56-BBDB-EBF533694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80010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9525">
            <a:solidFill>
              <a:srgbClr val="00B8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6111F"/>
                </a:solidFill>
              </a:defRPr>
            </a:pPr>
            <a:r>
              <a:rPr sz="1125" b="1">
                <a:solidFill>
                  <a:srgbClr val="06111F"/>
                </a:solidFill>
              </a:rPr>
              <a:t>런칭 D-6M</a:t>
            </a:r>
          </a:p>
        </p:txBody>
      </p:sp>
      <p:sp>
        <p:nvSpPr>
          <p:cNvPr id="11" name="tag-2">
            <a:extLst xmlns:a="http://schemas.openxmlformats.org/drawingml/2006/main">
              <a:ext uri="{FF2B5EF4-FFF2-40B4-BE49-F238E27FC236}">
                <a16:creationId xmlns:a16="http://schemas.microsoft.com/office/drawing/2014/main" id="{25EAF25A-8F71-46E2-83E8-2341EE1C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5730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일본 서비스</a:t>
            </a:r>
          </a:p>
        </p:txBody>
      </p:sp>
      <p:sp>
        <p:nvSpPr>
          <p:cNvPr id="12" name="tag-3">
            <a:extLst xmlns:a="http://schemas.openxmlformats.org/drawingml/2006/main">
              <a:ext uri="{FF2B5EF4-FFF2-40B4-BE49-F238E27FC236}">
                <a16:creationId xmlns:a16="http://schemas.microsoft.com/office/drawing/2014/main" id="{A882FE4B-C872-4CCB-B7FD-CA0AE586B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1450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34155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개발 PM</a:t>
            </a:r>
          </a:p>
        </p:txBody>
      </p:sp>
      <p:sp>
        <p:nvSpPr>
          <p:cNvPr id="13" name="scope-title">
            <a:extLst xmlns:a="http://schemas.openxmlformats.org/drawingml/2006/main">
              <a:ext uri="{FF2B5EF4-FFF2-40B4-BE49-F238E27FC236}">
                <a16:creationId xmlns:a16="http://schemas.microsoft.com/office/drawing/2014/main" id="{DCC71DF3-4F72-4FC7-A341-27A46AF26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작성 범위</a:t>
            </a:r>
          </a:p>
        </p:txBody>
      </p:sp>
      <p:sp>
        <p:nvSpPr>
          <p:cNvPr id="14" name="scope-note">
            <a:extLst xmlns:a="http://schemas.openxmlformats.org/drawingml/2006/main">
              <a:ext uri="{FF2B5EF4-FFF2-40B4-BE49-F238E27FC236}">
                <a16:creationId xmlns:a16="http://schemas.microsoft.com/office/drawing/2014/main" id="{4E5FAB43-19AB-4831-BA4A-663D456C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981325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94A3B8"/>
                </a:solidFill>
              </a:defRPr>
            </a:pPr>
            <a:r>
              <a:rPr sz="1125">
                <a:solidFill>
                  <a:srgbClr val="94A3B8"/>
                </a:solidFill>
              </a:rPr>
              <a:t>실제 경력 서술을 바탕으로 한 임의 로드맵 초안</a:t>
            </a:r>
          </a:p>
        </p:txBody>
      </p:sp>
      <p:sp>
        <p:nvSpPr>
          <p:cNvPr id="15" name="scope-row-1">
            <a:extLst xmlns:a="http://schemas.openxmlformats.org/drawingml/2006/main">
              <a:ext uri="{FF2B5EF4-FFF2-40B4-BE49-F238E27FC236}">
                <a16:creationId xmlns:a16="http://schemas.microsoft.com/office/drawing/2014/main" id="{14595D21-8304-4EBB-BEA7-CE99EC4F0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6" name="scope-label-1">
            <a:extLst xmlns:a="http://schemas.openxmlformats.org/drawingml/2006/main">
              <a:ext uri="{FF2B5EF4-FFF2-40B4-BE49-F238E27FC236}">
                <a16:creationId xmlns:a16="http://schemas.microsoft.com/office/drawing/2014/main" id="{07E724B2-100F-4078-9CB9-ADFAC0406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목표</a:t>
            </a:r>
          </a:p>
        </p:txBody>
      </p:sp>
      <p:sp>
        <p:nvSpPr>
          <p:cNvPr id="17" name="scope-value-1">
            <a:extLst xmlns:a="http://schemas.openxmlformats.org/drawingml/2006/main">
              <a:ext uri="{FF2B5EF4-FFF2-40B4-BE49-F238E27FC236}">
                <a16:creationId xmlns:a16="http://schemas.microsoft.com/office/drawing/2014/main" id="{F513CBC5-C018-430F-A0C7-D02C876A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705225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</a:defRPr>
            </a:pPr>
            <a:r>
              <a:rPr sz="1200">
                <a:solidFill>
                  <a:srgbClr val="FFFFFF"/>
                </a:solidFill>
              </a:rPr>
              <a:t>일본 런칭 전 6개월간의 준비 과업과 의사결정 흐름 제시</a:t>
            </a:r>
          </a:p>
        </p:txBody>
      </p:sp>
      <p:sp>
        <p:nvSpPr>
          <p:cNvPr id="18" name="scope-row-2">
            <a:extLst xmlns:a="http://schemas.openxmlformats.org/drawingml/2006/main">
              <a:ext uri="{FF2B5EF4-FFF2-40B4-BE49-F238E27FC236}">
                <a16:creationId xmlns:a16="http://schemas.microsoft.com/office/drawing/2014/main" id="{211FAC08-5FE6-461F-AEEA-C2DAA87D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9" name="scope-label-2">
            <a:extLst xmlns:a="http://schemas.openxmlformats.org/drawingml/2006/main">
              <a:ext uri="{FF2B5EF4-FFF2-40B4-BE49-F238E27FC236}">
                <a16:creationId xmlns:a16="http://schemas.microsoft.com/office/drawing/2014/main" id="{C1D609A1-251D-4C43-A8DF-60CE86A12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291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핵심 축</a:t>
            </a:r>
          </a:p>
        </p:txBody>
      </p:sp>
      <p:sp>
        <p:nvSpPr>
          <p:cNvPr id="20" name="scope-value-2">
            <a:extLst xmlns:a="http://schemas.openxmlformats.org/drawingml/2006/main">
              <a:ext uri="{FF2B5EF4-FFF2-40B4-BE49-F238E27FC236}">
                <a16:creationId xmlns:a16="http://schemas.microsoft.com/office/drawing/2014/main" id="{FE07C9B7-9251-4B43-9E01-4083708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219575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</a:defRPr>
            </a:pPr>
            <a:r>
              <a:rPr sz="1200">
                <a:solidFill>
                  <a:srgbClr val="FFFFFF"/>
                </a:solidFill>
              </a:rPr>
              <a:t>마일스톤 관리, 빌드·버전 통제, QA 안정화, 퍼블리셔 대응</a:t>
            </a:r>
          </a:p>
        </p:txBody>
      </p:sp>
      <p:sp>
        <p:nvSpPr>
          <p:cNvPr id="21" name="scope-row-3">
            <a:extLst xmlns:a="http://schemas.openxmlformats.org/drawingml/2006/main">
              <a:ext uri="{FF2B5EF4-FFF2-40B4-BE49-F238E27FC236}">
                <a16:creationId xmlns:a16="http://schemas.microsoft.com/office/drawing/2014/main" id="{21C8AF00-CCD6-46F2-8DBE-D2845BB7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2" name="scope-label-3">
            <a:extLst xmlns:a="http://schemas.openxmlformats.org/drawingml/2006/main">
              <a:ext uri="{FF2B5EF4-FFF2-40B4-BE49-F238E27FC236}">
                <a16:creationId xmlns:a16="http://schemas.microsoft.com/office/drawing/2014/main" id="{C300E796-8E6E-43F6-A80F-C9670605E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434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산출물</a:t>
            </a:r>
          </a:p>
        </p:txBody>
      </p:sp>
      <p:sp>
        <p:nvSpPr>
          <p:cNvPr id="23" name="scope-value-3">
            <a:extLst xmlns:a="http://schemas.openxmlformats.org/drawingml/2006/main">
              <a:ext uri="{FF2B5EF4-FFF2-40B4-BE49-F238E27FC236}">
                <a16:creationId xmlns:a16="http://schemas.microsoft.com/office/drawing/2014/main" id="{56474A90-BFBB-4C1D-A98C-99EEF3BC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733925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</a:defRPr>
            </a:pPr>
            <a:r>
              <a:rPr sz="1200">
                <a:solidFill>
                  <a:srgbClr val="FFFFFF"/>
                </a:solidFill>
              </a:rPr>
              <a:t>월별 로드맵, 게이트 기준, 리스크·커뮤니케이션 관리안</a:t>
            </a:r>
          </a:p>
        </p:txBody>
      </p:sp>
      <p:sp>
        <p:nvSpPr>
          <p:cNvPr id="24" name="scope-row-4">
            <a:extLst xmlns:a="http://schemas.openxmlformats.org/drawingml/2006/main">
              <a:ext uri="{FF2B5EF4-FFF2-40B4-BE49-F238E27FC236}">
                <a16:creationId xmlns:a16="http://schemas.microsoft.com/office/drawing/2014/main" id="{73653595-F7BC-4DFD-83C4-2D0E57A7E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5" name="scope-label-4">
            <a:extLst xmlns:a="http://schemas.openxmlformats.org/drawingml/2006/main">
              <a:ext uri="{FF2B5EF4-FFF2-40B4-BE49-F238E27FC236}">
                <a16:creationId xmlns:a16="http://schemas.microsoft.com/office/drawing/2014/main" id="{85390BD5-B89F-4BB8-BA98-689D64857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578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전제</a:t>
            </a:r>
          </a:p>
        </p:txBody>
      </p:sp>
      <p:sp>
        <p:nvSpPr>
          <p:cNvPr id="26" name="scope-value-4">
            <a:extLst xmlns:a="http://schemas.openxmlformats.org/drawingml/2006/main">
              <a:ext uri="{FF2B5EF4-FFF2-40B4-BE49-F238E27FC236}">
                <a16:creationId xmlns:a16="http://schemas.microsoft.com/office/drawing/2014/main" id="{8EB7FB78-6B7A-460D-A1D4-35DE81FC8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48275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</a:defRPr>
            </a:pPr>
            <a:r>
              <a:rPr sz="1200">
                <a:solidFill>
                  <a:srgbClr val="FFFFFF"/>
                </a:solidFill>
              </a:rPr>
              <a:t>상세 일정과 지표는 과제 목적에 맞춘 가정값으로 구성</a:t>
            </a:r>
          </a:p>
        </p:txBody>
      </p:sp>
      <p:sp>
        <p:nvSpPr>
          <p:cNvPr id="27" name="evidence-title">
            <a:extLst xmlns:a="http://schemas.openxmlformats.org/drawingml/2006/main">
              <a:ext uri="{FF2B5EF4-FFF2-40B4-BE49-F238E27FC236}">
                <a16:creationId xmlns:a16="http://schemas.microsoft.com/office/drawing/2014/main" id="{E144894E-E9C3-4C11-A88C-B54C375B6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146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경력 근거</a:t>
            </a:r>
          </a:p>
        </p:txBody>
      </p:sp>
      <p:sp>
        <p:nvSpPr>
          <p:cNvPr id="28" name="evidence-card-1">
            <a:extLst xmlns:a="http://schemas.openxmlformats.org/drawingml/2006/main">
              <a:ext uri="{FF2B5EF4-FFF2-40B4-BE49-F238E27FC236}">
                <a16:creationId xmlns:a16="http://schemas.microsoft.com/office/drawing/2014/main" id="{9F0A17F9-2C37-4464-A861-B1F2A50E4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76600"/>
            <a:ext cx="35623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9" name="evidence-bar-1">
            <a:extLst xmlns:a="http://schemas.openxmlformats.org/drawingml/2006/main">
              <a:ext uri="{FF2B5EF4-FFF2-40B4-BE49-F238E27FC236}">
                <a16:creationId xmlns:a16="http://schemas.microsoft.com/office/drawing/2014/main" id="{E1D4CD3B-1413-4F23-89D8-7D6D932FB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7660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30" name="evidence-title-1">
            <a:extLst xmlns:a="http://schemas.openxmlformats.org/drawingml/2006/main">
              <a:ext uri="{FF2B5EF4-FFF2-40B4-BE49-F238E27FC236}">
                <a16:creationId xmlns:a16="http://schemas.microsoft.com/office/drawing/2014/main" id="{FECBBD11-8719-4334-AE99-8D7050E3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71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HIT2 일본 서비스 개발 PM</a:t>
            </a:r>
          </a:p>
        </p:txBody>
      </p:sp>
      <p:sp>
        <p:nvSpPr>
          <p:cNvPr id="31" name="evidence-body-1">
            <a:extLst xmlns:a="http://schemas.openxmlformats.org/drawingml/2006/main">
              <a:ext uri="{FF2B5EF4-FFF2-40B4-BE49-F238E27FC236}">
                <a16:creationId xmlns:a16="http://schemas.microsoft.com/office/drawing/2014/main" id="{7DA3C8AF-2BE6-4EAA-B12F-E6F86AD4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6195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런칭 운영을 담당 PM 관점에서 통합 관리</a:t>
            </a:r>
          </a:p>
        </p:txBody>
      </p:sp>
      <p:sp>
        <p:nvSpPr>
          <p:cNvPr id="32" name="evidence-card-2">
            <a:extLst xmlns:a="http://schemas.openxmlformats.org/drawingml/2006/main">
              <a:ext uri="{FF2B5EF4-FFF2-40B4-BE49-F238E27FC236}">
                <a16:creationId xmlns:a16="http://schemas.microsoft.com/office/drawing/2014/main" id="{0402305E-2FC3-4D57-9615-EC82D452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76700"/>
            <a:ext cx="35623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3" name="evidence-bar-2">
            <a:extLst xmlns:a="http://schemas.openxmlformats.org/drawingml/2006/main">
              <a:ext uri="{FF2B5EF4-FFF2-40B4-BE49-F238E27FC236}">
                <a16:creationId xmlns:a16="http://schemas.microsoft.com/office/drawing/2014/main" id="{7A0852F6-63E3-4D71-95B8-5D543F31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7670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34" name="evidence-title-2">
            <a:extLst xmlns:a="http://schemas.openxmlformats.org/drawingml/2006/main">
              <a:ext uri="{FF2B5EF4-FFF2-40B4-BE49-F238E27FC236}">
                <a16:creationId xmlns:a16="http://schemas.microsoft.com/office/drawing/2014/main" id="{00172DA9-9DA4-41F7-93F0-DA3C609E9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719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마일스톤 및 배포 일정 총괄</a:t>
            </a:r>
          </a:p>
        </p:txBody>
      </p:sp>
      <p:sp>
        <p:nvSpPr>
          <p:cNvPr id="35" name="evidence-body-2">
            <a:extLst xmlns:a="http://schemas.openxmlformats.org/drawingml/2006/main">
              <a:ext uri="{FF2B5EF4-FFF2-40B4-BE49-F238E27FC236}">
                <a16:creationId xmlns:a16="http://schemas.microsoft.com/office/drawing/2014/main" id="{0C1CEADD-B4AF-45C6-A413-BF9B600D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196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일정·범위·릴리즈 기준을 연결해 관리</a:t>
            </a:r>
          </a:p>
        </p:txBody>
      </p:sp>
      <p:sp>
        <p:nvSpPr>
          <p:cNvPr id="36" name="evidence-card-3">
            <a:extLst xmlns:a="http://schemas.openxmlformats.org/drawingml/2006/main">
              <a:ext uri="{FF2B5EF4-FFF2-40B4-BE49-F238E27FC236}">
                <a16:creationId xmlns:a16="http://schemas.microsoft.com/office/drawing/2014/main" id="{2FD10DC0-7D6D-4493-B081-68F14DB5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76800"/>
            <a:ext cx="35623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7" name="evidence-bar-3">
            <a:extLst xmlns:a="http://schemas.openxmlformats.org/drawingml/2006/main">
              <a:ext uri="{FF2B5EF4-FFF2-40B4-BE49-F238E27FC236}">
                <a16:creationId xmlns:a16="http://schemas.microsoft.com/office/drawing/2014/main" id="{71BBF68A-5F9D-46DA-8F79-B0F6D3F28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7680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38" name="evidence-title-3">
            <a:extLst xmlns:a="http://schemas.openxmlformats.org/drawingml/2006/main">
              <a:ext uri="{FF2B5EF4-FFF2-40B4-BE49-F238E27FC236}">
                <a16:creationId xmlns:a16="http://schemas.microsoft.com/office/drawing/2014/main" id="{582CC6DC-17B6-4C56-B9C6-4C11AF3F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72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Perforce 기반 빌드·버전 관리</a:t>
            </a:r>
          </a:p>
        </p:txBody>
      </p:sp>
      <p:sp>
        <p:nvSpPr>
          <p:cNvPr id="39" name="evidence-body-3">
            <a:extLst xmlns:a="http://schemas.openxmlformats.org/drawingml/2006/main">
              <a:ext uri="{FF2B5EF4-FFF2-40B4-BE49-F238E27FC236}">
                <a16:creationId xmlns:a16="http://schemas.microsoft.com/office/drawing/2014/main" id="{7060E1E2-4592-4FEC-84B8-08631965E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19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업데이트 안정성을 확보하는 릴리즈 체계 경험</a:t>
            </a:r>
          </a:p>
        </p:txBody>
      </p:sp>
    </p:spTree>
    <p:extLst>
      <p:ext uri="{BB962C8B-B14F-4D97-AF65-F5344CB8AC3E}">
        <p14:creationId xmlns:p14="http://schemas.microsoft.com/office/powerpoint/2010/main" val="14148321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C5B4065F-AF9C-472D-BEAC-01079763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108FB09B-C99E-40FA-B33C-CB151F01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79F5C9BA-0339-4966-B12E-4B48029B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BD9E8"/>
                </a:solidFill>
              </a:defRPr>
            </a:pPr>
            <a:r>
              <a:rPr sz="1125" b="1">
                <a:solidFill>
                  <a:srgbClr val="8BD9E8"/>
                </a:solidFill>
              </a:rPr>
              <a:t>SIX-MONTH LAUNCH ROADMAP | PAGE 02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E5F9E4AD-7573-48A5-ACD7-C7697C81D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94A3B8"/>
                </a:solidFill>
              </a:defRPr>
            </a:pPr>
            <a:r>
              <a:rPr sz="1125">
                <a:solidFill>
                  <a:srgbClr val="94A3B8"/>
                </a:solidFill>
              </a:rPr>
              <a:t>HIT2 일본 서비스 런칭 6개월 전 로드맵</a:t>
            </a:r>
          </a:p>
        </p:txBody>
      </p:sp>
      <p:sp>
        <p:nvSpPr>
          <p:cNvPr id="5" name="page-no">
            <a:extLst xmlns:a="http://schemas.openxmlformats.org/drawingml/2006/main">
              <a:ext uri="{FF2B5EF4-FFF2-40B4-BE49-F238E27FC236}">
                <a16:creationId xmlns:a16="http://schemas.microsoft.com/office/drawing/2014/main" id="{EA804ACF-259E-4576-BC80-30A91CFC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579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4A3B8"/>
                </a:solidFill>
              </a:defRPr>
            </a:pPr>
            <a:r>
              <a:rPr sz="1200" b="1">
                <a:solidFill>
                  <a:srgbClr val="94A3B8"/>
                </a:solidFill>
              </a:rPr>
              <a:t>02</a:t>
            </a:r>
          </a:p>
        </p:txBody>
      </p:sp>
      <p:sp>
        <p:nvSpPr>
          <p:cNvPr id="6" name="title-02">
            <a:extLst xmlns:a="http://schemas.openxmlformats.org/drawingml/2006/main">
              <a:ext uri="{FF2B5EF4-FFF2-40B4-BE49-F238E27FC236}">
                <a16:creationId xmlns:a16="http://schemas.microsoft.com/office/drawing/2014/main" id="{78331278-F27C-4F68-B39D-4C8FE45F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057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6개월 런칭 준비는 네 축이 병렬로 움직입니다</a:t>
            </a:r>
          </a:p>
        </p:txBody>
      </p:sp>
      <p:sp>
        <p:nvSpPr>
          <p:cNvPr id="7" name="subtitle-02">
            <a:extLst xmlns:a="http://schemas.openxmlformats.org/drawingml/2006/main">
              <a:ext uri="{FF2B5EF4-FFF2-40B4-BE49-F238E27FC236}">
                <a16:creationId xmlns:a16="http://schemas.microsoft.com/office/drawing/2014/main" id="{06A6556A-7FB6-4A2A-894E-DF6968936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CBD5E1"/>
                </a:solidFill>
              </a:rPr>
              <a:t>월별 단계는 순차 진행처럼 보이지만, PM 관점에서는 범위·버전·검수 기준을 동시에 맞춰야 합니다.</a:t>
            </a:r>
          </a:p>
        </p:txBody>
      </p:sp>
      <p:sp>
        <p:nvSpPr>
          <p:cNvPr id="8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F91F3DFC-FD0B-49A9-B449-8A082B1A6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00425"/>
            <a:ext cx="9963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3B55"/>
          </a:solidFill>
          <a:ln xmlns:a="http://schemas.openxmlformats.org/drawingml/2006/main" w="0">
            <a:solidFill>
              <a:srgbClr val="2F3B55"/>
            </a:solidFill>
            <a:prstDash val="solid"/>
          </a:ln>
        </p:spPr>
      </p:sp>
      <p:sp>
        <p:nvSpPr>
          <p:cNvPr id="9" name="timeline-card-1">
            <a:extLst xmlns:a="http://schemas.openxmlformats.org/drawingml/2006/main">
              <a:ext uri="{FF2B5EF4-FFF2-40B4-BE49-F238E27FC236}">
                <a16:creationId xmlns:a16="http://schemas.microsoft.com/office/drawing/2014/main" id="{7C77F99E-032D-4082-A73D-ACFCA4610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0" name="timeline-bar-1">
            <a:extLst xmlns:a="http://schemas.openxmlformats.org/drawingml/2006/main">
              <a:ext uri="{FF2B5EF4-FFF2-40B4-BE49-F238E27FC236}">
                <a16:creationId xmlns:a16="http://schemas.microsoft.com/office/drawing/2014/main" id="{DC9B893B-A935-411F-BD8B-472C4675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11" name="timeline-month-1">
            <a:extLst xmlns:a="http://schemas.openxmlformats.org/drawingml/2006/main">
              <a:ext uri="{FF2B5EF4-FFF2-40B4-BE49-F238E27FC236}">
                <a16:creationId xmlns:a16="http://schemas.microsoft.com/office/drawing/2014/main" id="{D8D2538B-AEF6-42C5-83B2-FF5C5510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B8D9"/>
                </a:solidFill>
              </a:defRPr>
            </a:pPr>
            <a:r>
              <a:rPr sz="1275" b="1">
                <a:solidFill>
                  <a:srgbClr val="00B8D9"/>
                </a:solidFill>
              </a:rPr>
              <a:t>D-6M</a:t>
            </a:r>
          </a:p>
        </p:txBody>
      </p:sp>
      <p:sp>
        <p:nvSpPr>
          <p:cNvPr id="12" name="timeline-title-1">
            <a:extLst xmlns:a="http://schemas.openxmlformats.org/drawingml/2006/main">
              <a:ext uri="{FF2B5EF4-FFF2-40B4-BE49-F238E27FC236}">
                <a16:creationId xmlns:a16="http://schemas.microsoft.com/office/drawing/2014/main" id="{8F055F9B-1FD6-4BD3-A5E6-FFFB7169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런칭 범위 확정</a:t>
            </a:r>
          </a:p>
        </p:txBody>
      </p:sp>
      <p:sp>
        <p:nvSpPr>
          <p:cNvPr id="13" name="timeline-dot-1-1">
            <a:extLst xmlns:a="http://schemas.openxmlformats.org/drawingml/2006/main">
              <a:ext uri="{FF2B5EF4-FFF2-40B4-BE49-F238E27FC236}">
                <a16:creationId xmlns:a16="http://schemas.microsoft.com/office/drawing/2014/main" id="{80971BCC-3E95-401E-AC84-3D9D9807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B8D9"/>
                </a:solidFill>
              </a:defRPr>
            </a:pPr>
            <a:r>
              <a:rPr sz="1350" b="1">
                <a:solidFill>
                  <a:srgbClr val="00B8D9"/>
                </a:solidFill>
              </a:rPr>
              <a:t>·</a:t>
            </a:r>
          </a:p>
        </p:txBody>
      </p:sp>
      <p:sp>
        <p:nvSpPr>
          <p:cNvPr id="14" name="timeline-item-1-1">
            <a:extLst xmlns:a="http://schemas.openxmlformats.org/drawingml/2006/main">
              <a:ext uri="{FF2B5EF4-FFF2-40B4-BE49-F238E27FC236}">
                <a16:creationId xmlns:a16="http://schemas.microsoft.com/office/drawing/2014/main" id="{CD321824-E8AB-4817-8643-F9EFC76F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일본 서비스 범위</a:t>
            </a:r>
          </a:p>
        </p:txBody>
      </p:sp>
      <p:sp>
        <p:nvSpPr>
          <p:cNvPr id="15" name="timeline-dot-1-2">
            <a:extLst xmlns:a="http://schemas.openxmlformats.org/drawingml/2006/main">
              <a:ext uri="{FF2B5EF4-FFF2-40B4-BE49-F238E27FC236}">
                <a16:creationId xmlns:a16="http://schemas.microsoft.com/office/drawing/2014/main" id="{6C80BE1F-3692-402D-A54D-A9AED1732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B8D9"/>
                </a:solidFill>
              </a:defRPr>
            </a:pPr>
            <a:r>
              <a:rPr sz="1350" b="1">
                <a:solidFill>
                  <a:srgbClr val="00B8D9"/>
                </a:solidFill>
              </a:rPr>
              <a:t>·</a:t>
            </a:r>
          </a:p>
        </p:txBody>
      </p:sp>
      <p:sp>
        <p:nvSpPr>
          <p:cNvPr id="16" name="timeline-item-1-2">
            <a:extLst xmlns:a="http://schemas.openxmlformats.org/drawingml/2006/main">
              <a:ext uri="{FF2B5EF4-FFF2-40B4-BE49-F238E27FC236}">
                <a16:creationId xmlns:a16="http://schemas.microsoft.com/office/drawing/2014/main" id="{41ACFFF6-0F0E-491C-9FC3-2F490CF7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주요 콘텐츠 기준</a:t>
            </a:r>
          </a:p>
        </p:txBody>
      </p:sp>
      <p:sp>
        <p:nvSpPr>
          <p:cNvPr id="17" name="timeline-dot-1-3">
            <a:extLst xmlns:a="http://schemas.openxmlformats.org/drawingml/2006/main">
              <a:ext uri="{FF2B5EF4-FFF2-40B4-BE49-F238E27FC236}">
                <a16:creationId xmlns:a16="http://schemas.microsoft.com/office/drawing/2014/main" id="{93FB5EA8-3AF8-40B6-A1A6-A1C03486F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B8D9"/>
                </a:solidFill>
              </a:defRPr>
            </a:pPr>
            <a:r>
              <a:rPr sz="1350" b="1">
                <a:solidFill>
                  <a:srgbClr val="00B8D9"/>
                </a:solidFill>
              </a:rPr>
              <a:t>·</a:t>
            </a:r>
          </a:p>
        </p:txBody>
      </p:sp>
      <p:sp>
        <p:nvSpPr>
          <p:cNvPr id="18" name="timeline-item-1-3">
            <a:extLst xmlns:a="http://schemas.openxmlformats.org/drawingml/2006/main">
              <a:ext uri="{FF2B5EF4-FFF2-40B4-BE49-F238E27FC236}">
                <a16:creationId xmlns:a16="http://schemas.microsoft.com/office/drawing/2014/main" id="{688CC708-B5E4-4124-9905-347F2F4DB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브랜치 운영 원칙</a:t>
            </a:r>
          </a:p>
        </p:txBody>
      </p:sp>
      <p:sp>
        <p:nvSpPr>
          <p:cNvPr id="19" name="timeline-card-2">
            <a:extLst xmlns:a="http://schemas.openxmlformats.org/drawingml/2006/main">
              <a:ext uri="{FF2B5EF4-FFF2-40B4-BE49-F238E27FC236}">
                <a16:creationId xmlns:a16="http://schemas.microsoft.com/office/drawing/2014/main" id="{FFDA65BA-3851-4630-AADC-C8C7C5E5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0" name="timeline-bar-2">
            <a:extLst xmlns:a="http://schemas.openxmlformats.org/drawingml/2006/main">
              <a:ext uri="{FF2B5EF4-FFF2-40B4-BE49-F238E27FC236}">
                <a16:creationId xmlns:a16="http://schemas.microsoft.com/office/drawing/2014/main" id="{DFB40DC3-62CB-46FF-9115-A62DE752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21" name="timeline-month-2">
            <a:extLst xmlns:a="http://schemas.openxmlformats.org/drawingml/2006/main">
              <a:ext uri="{FF2B5EF4-FFF2-40B4-BE49-F238E27FC236}">
                <a16:creationId xmlns:a16="http://schemas.microsoft.com/office/drawing/2014/main" id="{8E56C1FC-16A7-46D6-81CC-83BC6D5F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B35"/>
                </a:solidFill>
              </a:defRPr>
            </a:pPr>
            <a:r>
              <a:rPr sz="1275" b="1">
                <a:solidFill>
                  <a:srgbClr val="FF6B35"/>
                </a:solidFill>
              </a:rPr>
              <a:t>D-5M</a:t>
            </a:r>
          </a:p>
        </p:txBody>
      </p:sp>
      <p:sp>
        <p:nvSpPr>
          <p:cNvPr id="22" name="timeline-title-2">
            <a:extLst xmlns:a="http://schemas.openxmlformats.org/drawingml/2006/main">
              <a:ext uri="{FF2B5EF4-FFF2-40B4-BE49-F238E27FC236}">
                <a16:creationId xmlns:a16="http://schemas.microsoft.com/office/drawing/2014/main" id="{F5A3600C-4C7E-4B5B-9E0A-4B5C35708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개발·현지화 동기화</a:t>
            </a:r>
          </a:p>
        </p:txBody>
      </p:sp>
      <p:sp>
        <p:nvSpPr>
          <p:cNvPr id="23" name="timeline-dot-2-1">
            <a:extLst xmlns:a="http://schemas.openxmlformats.org/drawingml/2006/main">
              <a:ext uri="{FF2B5EF4-FFF2-40B4-BE49-F238E27FC236}">
                <a16:creationId xmlns:a16="http://schemas.microsoft.com/office/drawing/2014/main" id="{02A0192B-0F5C-496D-8AFA-9A9A22D3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24" name="timeline-item-2-1">
            <a:extLst xmlns:a="http://schemas.openxmlformats.org/drawingml/2006/main">
              <a:ext uri="{FF2B5EF4-FFF2-40B4-BE49-F238E27FC236}">
                <a16:creationId xmlns:a16="http://schemas.microsoft.com/office/drawing/2014/main" id="{1B617751-0E19-44A9-885C-5248CD6F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번역·리소스 반영</a:t>
            </a:r>
          </a:p>
        </p:txBody>
      </p:sp>
      <p:sp>
        <p:nvSpPr>
          <p:cNvPr id="25" name="timeline-dot-2-2">
            <a:extLst xmlns:a="http://schemas.openxmlformats.org/drawingml/2006/main">
              <a:ext uri="{FF2B5EF4-FFF2-40B4-BE49-F238E27FC236}">
                <a16:creationId xmlns:a16="http://schemas.microsoft.com/office/drawing/2014/main" id="{DCF2427C-B0D1-4741-A7EC-6665F528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26" name="timeline-item-2-2">
            <a:extLst xmlns:a="http://schemas.openxmlformats.org/drawingml/2006/main">
              <a:ext uri="{FF2B5EF4-FFF2-40B4-BE49-F238E27FC236}">
                <a16:creationId xmlns:a16="http://schemas.microsoft.com/office/drawing/2014/main" id="{C4114685-59AA-4F8D-A302-36C5E1761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퍼블리셔 요청 정리</a:t>
            </a:r>
          </a:p>
        </p:txBody>
      </p:sp>
      <p:sp>
        <p:nvSpPr>
          <p:cNvPr id="27" name="timeline-dot-2-3">
            <a:extLst xmlns:a="http://schemas.openxmlformats.org/drawingml/2006/main">
              <a:ext uri="{FF2B5EF4-FFF2-40B4-BE49-F238E27FC236}">
                <a16:creationId xmlns:a16="http://schemas.microsoft.com/office/drawing/2014/main" id="{81570395-076B-4FED-A557-EC569F0B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28" name="timeline-item-2-3">
            <a:extLst xmlns:a="http://schemas.openxmlformats.org/drawingml/2006/main">
              <a:ext uri="{FF2B5EF4-FFF2-40B4-BE49-F238E27FC236}">
                <a16:creationId xmlns:a16="http://schemas.microsoft.com/office/drawing/2014/main" id="{23A0BD52-9FAE-4941-831F-A134F181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기능 마감 기준</a:t>
            </a:r>
          </a:p>
        </p:txBody>
      </p:sp>
      <p:sp>
        <p:nvSpPr>
          <p:cNvPr id="29" name="timeline-card-3">
            <a:extLst xmlns:a="http://schemas.openxmlformats.org/drawingml/2006/main">
              <a:ext uri="{FF2B5EF4-FFF2-40B4-BE49-F238E27FC236}">
                <a16:creationId xmlns:a16="http://schemas.microsoft.com/office/drawing/2014/main" id="{1B6A0DB0-0281-4B47-B3CE-008B196B1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0" name="timeline-bar-3">
            <a:extLst xmlns:a="http://schemas.openxmlformats.org/drawingml/2006/main">
              <a:ext uri="{FF2B5EF4-FFF2-40B4-BE49-F238E27FC236}">
                <a16:creationId xmlns:a16="http://schemas.microsoft.com/office/drawing/2014/main" id="{D01BEA83-8DBD-48F2-B5F4-65C65570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31" name="timeline-month-3">
            <a:extLst xmlns:a="http://schemas.openxmlformats.org/drawingml/2006/main">
              <a:ext uri="{FF2B5EF4-FFF2-40B4-BE49-F238E27FC236}">
                <a16:creationId xmlns:a16="http://schemas.microsoft.com/office/drawing/2014/main" id="{AB52A153-9088-4B9F-8969-835F9CE58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C3AED"/>
                </a:solidFill>
              </a:defRPr>
            </a:pPr>
            <a:r>
              <a:rPr sz="1275" b="1">
                <a:solidFill>
                  <a:srgbClr val="7C3AED"/>
                </a:solidFill>
              </a:rPr>
              <a:t>D-4M</a:t>
            </a:r>
          </a:p>
        </p:txBody>
      </p:sp>
      <p:sp>
        <p:nvSpPr>
          <p:cNvPr id="32" name="timeline-title-3">
            <a:extLst xmlns:a="http://schemas.openxmlformats.org/drawingml/2006/main">
              <a:ext uri="{FF2B5EF4-FFF2-40B4-BE49-F238E27FC236}">
                <a16:creationId xmlns:a16="http://schemas.microsoft.com/office/drawing/2014/main" id="{DB557715-32F0-4615-A65D-51786465E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내부 QA 진입</a:t>
            </a:r>
          </a:p>
        </p:txBody>
      </p:sp>
      <p:sp>
        <p:nvSpPr>
          <p:cNvPr id="33" name="timeline-dot-3-1">
            <a:extLst xmlns:a="http://schemas.openxmlformats.org/drawingml/2006/main">
              <a:ext uri="{FF2B5EF4-FFF2-40B4-BE49-F238E27FC236}">
                <a16:creationId xmlns:a16="http://schemas.microsoft.com/office/drawing/2014/main" id="{76A309AA-CA30-499F-BB0E-5856264DC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34" name="timeline-item-3-1">
            <a:extLst xmlns:a="http://schemas.openxmlformats.org/drawingml/2006/main">
              <a:ext uri="{FF2B5EF4-FFF2-40B4-BE49-F238E27FC236}">
                <a16:creationId xmlns:a16="http://schemas.microsoft.com/office/drawing/2014/main" id="{DB4D1398-DD4C-46B8-9D91-52BCEF95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일본향 빌드 점검</a:t>
            </a:r>
          </a:p>
        </p:txBody>
      </p:sp>
      <p:sp>
        <p:nvSpPr>
          <p:cNvPr id="35" name="timeline-dot-3-2">
            <a:extLst xmlns:a="http://schemas.openxmlformats.org/drawingml/2006/main">
              <a:ext uri="{FF2B5EF4-FFF2-40B4-BE49-F238E27FC236}">
                <a16:creationId xmlns:a16="http://schemas.microsoft.com/office/drawing/2014/main" id="{35BDA465-81F7-40F5-93A7-4A01701CF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36" name="timeline-item-3-2">
            <a:extLst xmlns:a="http://schemas.openxmlformats.org/drawingml/2006/main">
              <a:ext uri="{FF2B5EF4-FFF2-40B4-BE49-F238E27FC236}">
                <a16:creationId xmlns:a16="http://schemas.microsoft.com/office/drawing/2014/main" id="{646CBF00-3F2B-42E7-9FCD-39398F6D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결함 등급 분류</a:t>
            </a:r>
          </a:p>
        </p:txBody>
      </p:sp>
      <p:sp>
        <p:nvSpPr>
          <p:cNvPr id="37" name="timeline-dot-3-3">
            <a:extLst xmlns:a="http://schemas.openxmlformats.org/drawingml/2006/main">
              <a:ext uri="{FF2B5EF4-FFF2-40B4-BE49-F238E27FC236}">
                <a16:creationId xmlns:a16="http://schemas.microsoft.com/office/drawing/2014/main" id="{3DF94618-5622-48C6-B2F7-701476A20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38" name="timeline-item-3-3">
            <a:extLst xmlns:a="http://schemas.openxmlformats.org/drawingml/2006/main">
              <a:ext uri="{FF2B5EF4-FFF2-40B4-BE49-F238E27FC236}">
                <a16:creationId xmlns:a16="http://schemas.microsoft.com/office/drawing/2014/main" id="{C375F0E8-5005-4417-A950-8E90F7519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수정 우선순위</a:t>
            </a:r>
          </a:p>
        </p:txBody>
      </p:sp>
      <p:sp>
        <p:nvSpPr>
          <p:cNvPr id="39" name="timeline-card-4">
            <a:extLst xmlns:a="http://schemas.openxmlformats.org/drawingml/2006/main">
              <a:ext uri="{FF2B5EF4-FFF2-40B4-BE49-F238E27FC236}">
                <a16:creationId xmlns:a16="http://schemas.microsoft.com/office/drawing/2014/main" id="{AAC8974D-9BF0-4614-8443-8BB3A0639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40" name="timeline-bar-4">
            <a:extLst xmlns:a="http://schemas.openxmlformats.org/drawingml/2006/main">
              <a:ext uri="{FF2B5EF4-FFF2-40B4-BE49-F238E27FC236}">
                <a16:creationId xmlns:a16="http://schemas.microsoft.com/office/drawing/2014/main" id="{4D525D06-E5BD-473E-929B-ADC8810D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D9E8"/>
          </a:solidFill>
          <a:ln xmlns:a="http://schemas.openxmlformats.org/drawingml/2006/main" w="0">
            <a:solidFill>
              <a:srgbClr val="8BD9E8"/>
            </a:solidFill>
            <a:prstDash val="solid"/>
          </a:ln>
        </p:spPr>
      </p:sp>
      <p:sp>
        <p:nvSpPr>
          <p:cNvPr id="41" name="timeline-month-4">
            <a:extLst xmlns:a="http://schemas.openxmlformats.org/drawingml/2006/main">
              <a:ext uri="{FF2B5EF4-FFF2-40B4-BE49-F238E27FC236}">
                <a16:creationId xmlns:a16="http://schemas.microsoft.com/office/drawing/2014/main" id="{39847B26-AE16-4ED8-B115-F124D0270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8BD9E8"/>
                </a:solidFill>
              </a:defRPr>
            </a:pPr>
            <a:r>
              <a:rPr sz="1275" b="1">
                <a:solidFill>
                  <a:srgbClr val="8BD9E8"/>
                </a:solidFill>
              </a:rPr>
              <a:t>D-3M</a:t>
            </a:r>
          </a:p>
        </p:txBody>
      </p:sp>
      <p:sp>
        <p:nvSpPr>
          <p:cNvPr id="42" name="timeline-title-4">
            <a:extLst xmlns:a="http://schemas.openxmlformats.org/drawingml/2006/main">
              <a:ext uri="{FF2B5EF4-FFF2-40B4-BE49-F238E27FC236}">
                <a16:creationId xmlns:a16="http://schemas.microsoft.com/office/drawing/2014/main" id="{7728BD85-7BAB-462B-B35D-DE20D3C25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검수·CBT 준비</a:t>
            </a:r>
          </a:p>
        </p:txBody>
      </p:sp>
      <p:sp>
        <p:nvSpPr>
          <p:cNvPr id="43" name="timeline-dot-4-1">
            <a:extLst xmlns:a="http://schemas.openxmlformats.org/drawingml/2006/main">
              <a:ext uri="{FF2B5EF4-FFF2-40B4-BE49-F238E27FC236}">
                <a16:creationId xmlns:a16="http://schemas.microsoft.com/office/drawing/2014/main" id="{1EF3C154-8231-4A08-8B53-2F8B1AE8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BD9E8"/>
                </a:solidFill>
              </a:defRPr>
            </a:pPr>
            <a:r>
              <a:rPr sz="1350" b="1">
                <a:solidFill>
                  <a:srgbClr val="8BD9E8"/>
                </a:solidFill>
              </a:rPr>
              <a:t>·</a:t>
            </a:r>
          </a:p>
        </p:txBody>
      </p:sp>
      <p:sp>
        <p:nvSpPr>
          <p:cNvPr id="44" name="timeline-item-4-1">
            <a:extLst xmlns:a="http://schemas.openxmlformats.org/drawingml/2006/main">
              <a:ext uri="{FF2B5EF4-FFF2-40B4-BE49-F238E27FC236}">
                <a16:creationId xmlns:a16="http://schemas.microsoft.com/office/drawing/2014/main" id="{D446BC95-5D78-4F17-8EB5-182E2876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퍼블리셔 검수 대응</a:t>
            </a:r>
          </a:p>
        </p:txBody>
      </p:sp>
      <p:sp>
        <p:nvSpPr>
          <p:cNvPr id="45" name="timeline-dot-4-2">
            <a:extLst xmlns:a="http://schemas.openxmlformats.org/drawingml/2006/main">
              <a:ext uri="{FF2B5EF4-FFF2-40B4-BE49-F238E27FC236}">
                <a16:creationId xmlns:a16="http://schemas.microsoft.com/office/drawing/2014/main" id="{94AE69AA-75D2-4D23-AEFA-97A6B9C7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BD9E8"/>
                </a:solidFill>
              </a:defRPr>
            </a:pPr>
            <a:r>
              <a:rPr sz="1350" b="1">
                <a:solidFill>
                  <a:srgbClr val="8BD9E8"/>
                </a:solidFill>
              </a:rPr>
              <a:t>·</a:t>
            </a:r>
          </a:p>
        </p:txBody>
      </p:sp>
      <p:sp>
        <p:nvSpPr>
          <p:cNvPr id="46" name="timeline-item-4-2">
            <a:extLst xmlns:a="http://schemas.openxmlformats.org/drawingml/2006/main">
              <a:ext uri="{FF2B5EF4-FFF2-40B4-BE49-F238E27FC236}">
                <a16:creationId xmlns:a16="http://schemas.microsoft.com/office/drawing/2014/main" id="{E95DE8D2-DE78-456D-8B95-1F56149B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CBT 빌드 기준</a:t>
            </a:r>
          </a:p>
        </p:txBody>
      </p:sp>
      <p:sp>
        <p:nvSpPr>
          <p:cNvPr id="47" name="timeline-dot-4-3">
            <a:extLst xmlns:a="http://schemas.openxmlformats.org/drawingml/2006/main">
              <a:ext uri="{FF2B5EF4-FFF2-40B4-BE49-F238E27FC236}">
                <a16:creationId xmlns:a16="http://schemas.microsoft.com/office/drawing/2014/main" id="{0D0409BB-B352-4AD4-B4CE-8FFDF30CD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BD9E8"/>
                </a:solidFill>
              </a:defRPr>
            </a:pPr>
            <a:r>
              <a:rPr sz="1350" b="1">
                <a:solidFill>
                  <a:srgbClr val="8BD9E8"/>
                </a:solidFill>
              </a:rPr>
              <a:t>·</a:t>
            </a:r>
          </a:p>
        </p:txBody>
      </p:sp>
      <p:sp>
        <p:nvSpPr>
          <p:cNvPr id="48" name="timeline-item-4-3">
            <a:extLst xmlns:a="http://schemas.openxmlformats.org/drawingml/2006/main">
              <a:ext uri="{FF2B5EF4-FFF2-40B4-BE49-F238E27FC236}">
                <a16:creationId xmlns:a16="http://schemas.microsoft.com/office/drawing/2014/main" id="{FF8795DD-3BF8-474F-B441-D2528F54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운영 시나리오</a:t>
            </a:r>
          </a:p>
        </p:txBody>
      </p:sp>
      <p:sp>
        <p:nvSpPr>
          <p:cNvPr id="49" name="timeline-card-5">
            <a:extLst xmlns:a="http://schemas.openxmlformats.org/drawingml/2006/main">
              <a:ext uri="{FF2B5EF4-FFF2-40B4-BE49-F238E27FC236}">
                <a16:creationId xmlns:a16="http://schemas.microsoft.com/office/drawing/2014/main" id="{D1E9EE8D-5ACD-4A39-A481-07953AAD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50" name="timeline-bar-5">
            <a:extLst xmlns:a="http://schemas.openxmlformats.org/drawingml/2006/main">
              <a:ext uri="{FF2B5EF4-FFF2-40B4-BE49-F238E27FC236}">
                <a16:creationId xmlns:a16="http://schemas.microsoft.com/office/drawing/2014/main" id="{378D48FE-331B-4CCA-A695-197E2D12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51" name="timeline-month-5">
            <a:extLst xmlns:a="http://schemas.openxmlformats.org/drawingml/2006/main">
              <a:ext uri="{FF2B5EF4-FFF2-40B4-BE49-F238E27FC236}">
                <a16:creationId xmlns:a16="http://schemas.microsoft.com/office/drawing/2014/main" id="{0272FC7C-3E2D-474C-8746-792FADE9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B35"/>
                </a:solidFill>
              </a:defRPr>
            </a:pPr>
            <a:r>
              <a:rPr sz="1275" b="1">
                <a:solidFill>
                  <a:srgbClr val="FF6B35"/>
                </a:solidFill>
              </a:rPr>
              <a:t>D-2M</a:t>
            </a:r>
          </a:p>
        </p:txBody>
      </p:sp>
      <p:sp>
        <p:nvSpPr>
          <p:cNvPr id="52" name="timeline-title-5">
            <a:extLst xmlns:a="http://schemas.openxmlformats.org/drawingml/2006/main">
              <a:ext uri="{FF2B5EF4-FFF2-40B4-BE49-F238E27FC236}">
                <a16:creationId xmlns:a16="http://schemas.microsoft.com/office/drawing/2014/main" id="{6782BFB3-41BC-4B05-9E89-7E21A0679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후보 빌드 안정화</a:t>
            </a:r>
          </a:p>
        </p:txBody>
      </p:sp>
      <p:sp>
        <p:nvSpPr>
          <p:cNvPr id="53" name="timeline-dot-5-1">
            <a:extLst xmlns:a="http://schemas.openxmlformats.org/drawingml/2006/main">
              <a:ext uri="{FF2B5EF4-FFF2-40B4-BE49-F238E27FC236}">
                <a16:creationId xmlns:a16="http://schemas.microsoft.com/office/drawing/2014/main" id="{EE670B59-AB95-42D3-B87D-55EA92B06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54" name="timeline-item-5-1">
            <a:extLst xmlns:a="http://schemas.openxmlformats.org/drawingml/2006/main">
              <a:ext uri="{FF2B5EF4-FFF2-40B4-BE49-F238E27FC236}">
                <a16:creationId xmlns:a16="http://schemas.microsoft.com/office/drawing/2014/main" id="{267724D5-D8B1-452F-BDA4-33110D16D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릴리즈 후보 관리</a:t>
            </a:r>
          </a:p>
        </p:txBody>
      </p:sp>
      <p:sp>
        <p:nvSpPr>
          <p:cNvPr id="55" name="timeline-dot-5-2">
            <a:extLst xmlns:a="http://schemas.openxmlformats.org/drawingml/2006/main">
              <a:ext uri="{FF2B5EF4-FFF2-40B4-BE49-F238E27FC236}">
                <a16:creationId xmlns:a16="http://schemas.microsoft.com/office/drawing/2014/main" id="{98B057A9-B951-4945-AD07-4B2D35652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56" name="timeline-item-5-2">
            <a:extLst xmlns:a="http://schemas.openxmlformats.org/drawingml/2006/main">
              <a:ext uri="{FF2B5EF4-FFF2-40B4-BE49-F238E27FC236}">
                <a16:creationId xmlns:a16="http://schemas.microsoft.com/office/drawing/2014/main" id="{E7AA0977-2113-4DD8-9B8D-096E8146D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잔여 이슈 추적</a:t>
            </a:r>
          </a:p>
        </p:txBody>
      </p:sp>
      <p:sp>
        <p:nvSpPr>
          <p:cNvPr id="57" name="timeline-dot-5-3">
            <a:extLst xmlns:a="http://schemas.openxmlformats.org/drawingml/2006/main">
              <a:ext uri="{FF2B5EF4-FFF2-40B4-BE49-F238E27FC236}">
                <a16:creationId xmlns:a16="http://schemas.microsoft.com/office/drawing/2014/main" id="{C608EACA-F1A6-4050-8E59-71BE5578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58" name="timeline-item-5-3">
            <a:extLst xmlns:a="http://schemas.openxmlformats.org/drawingml/2006/main">
              <a:ext uri="{FF2B5EF4-FFF2-40B4-BE49-F238E27FC236}">
                <a16:creationId xmlns:a16="http://schemas.microsoft.com/office/drawing/2014/main" id="{52C54133-7A2A-4A91-A196-5BC77FF16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스토어·심의 체크</a:t>
            </a:r>
          </a:p>
        </p:txBody>
      </p:sp>
      <p:sp>
        <p:nvSpPr>
          <p:cNvPr id="59" name="timeline-card-6">
            <a:extLst xmlns:a="http://schemas.openxmlformats.org/drawingml/2006/main">
              <a:ext uri="{FF2B5EF4-FFF2-40B4-BE49-F238E27FC236}">
                <a16:creationId xmlns:a16="http://schemas.microsoft.com/office/drawing/2014/main" id="{F6CEE417-E5C5-42A1-836D-640A400B9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60" name="timeline-bar-6">
            <a:extLst xmlns:a="http://schemas.openxmlformats.org/drawingml/2006/main">
              <a:ext uri="{FF2B5EF4-FFF2-40B4-BE49-F238E27FC236}">
                <a16:creationId xmlns:a16="http://schemas.microsoft.com/office/drawing/2014/main" id="{DBB628AA-ACB9-47D9-B43E-0EAAF85C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61" name="timeline-month-6">
            <a:extLst xmlns:a="http://schemas.openxmlformats.org/drawingml/2006/main">
              <a:ext uri="{FF2B5EF4-FFF2-40B4-BE49-F238E27FC236}">
                <a16:creationId xmlns:a16="http://schemas.microsoft.com/office/drawing/2014/main" id="{6483C664-D17D-4AA2-945B-C16AD6545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C3AED"/>
                </a:solidFill>
              </a:defRPr>
            </a:pPr>
            <a:r>
              <a:rPr sz="1275" b="1">
                <a:solidFill>
                  <a:srgbClr val="7C3AED"/>
                </a:solidFill>
              </a:rPr>
              <a:t>D-1M</a:t>
            </a:r>
          </a:p>
        </p:txBody>
      </p:sp>
      <p:sp>
        <p:nvSpPr>
          <p:cNvPr id="62" name="timeline-title-6">
            <a:extLst xmlns:a="http://schemas.openxmlformats.org/drawingml/2006/main">
              <a:ext uri="{FF2B5EF4-FFF2-40B4-BE49-F238E27FC236}">
                <a16:creationId xmlns:a16="http://schemas.microsoft.com/office/drawing/2014/main" id="{5F526A02-A929-4699-99B9-A02F8013D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리허설·배포</a:t>
            </a:r>
          </a:p>
        </p:txBody>
      </p:sp>
      <p:sp>
        <p:nvSpPr>
          <p:cNvPr id="63" name="timeline-dot-6-1">
            <a:extLst xmlns:a="http://schemas.openxmlformats.org/drawingml/2006/main">
              <a:ext uri="{FF2B5EF4-FFF2-40B4-BE49-F238E27FC236}">
                <a16:creationId xmlns:a16="http://schemas.microsoft.com/office/drawing/2014/main" id="{7AE6970A-196D-4CF4-B9E6-31169E46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64" name="timeline-item-6-1">
            <a:extLst xmlns:a="http://schemas.openxmlformats.org/drawingml/2006/main">
              <a:ext uri="{FF2B5EF4-FFF2-40B4-BE49-F238E27FC236}">
                <a16:creationId xmlns:a16="http://schemas.microsoft.com/office/drawing/2014/main" id="{62C06B8D-D1A2-4F2E-89FA-6D7B9EFF4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배포 리허설</a:t>
            </a:r>
          </a:p>
        </p:txBody>
      </p:sp>
      <p:sp>
        <p:nvSpPr>
          <p:cNvPr id="65" name="timeline-dot-6-2">
            <a:extLst xmlns:a="http://schemas.openxmlformats.org/drawingml/2006/main">
              <a:ext uri="{FF2B5EF4-FFF2-40B4-BE49-F238E27FC236}">
                <a16:creationId xmlns:a16="http://schemas.microsoft.com/office/drawing/2014/main" id="{47B44FB4-7CC4-4C6B-BB08-39751552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66" name="timeline-item-6-2">
            <a:extLst xmlns:a="http://schemas.openxmlformats.org/drawingml/2006/main">
              <a:ext uri="{FF2B5EF4-FFF2-40B4-BE49-F238E27FC236}">
                <a16:creationId xmlns:a16="http://schemas.microsoft.com/office/drawing/2014/main" id="{77E639F7-CD89-47FA-B263-EB47EC35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장애 대응 플랜</a:t>
            </a:r>
          </a:p>
        </p:txBody>
      </p:sp>
      <p:sp>
        <p:nvSpPr>
          <p:cNvPr id="67" name="timeline-dot-6-3">
            <a:extLst xmlns:a="http://schemas.openxmlformats.org/drawingml/2006/main">
              <a:ext uri="{FF2B5EF4-FFF2-40B4-BE49-F238E27FC236}">
                <a16:creationId xmlns:a16="http://schemas.microsoft.com/office/drawing/2014/main" id="{F05B7C0A-7E65-4954-9F76-228225B24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68" name="timeline-item-6-3">
            <a:extLst xmlns:a="http://schemas.openxmlformats.org/drawingml/2006/main">
              <a:ext uri="{FF2B5EF4-FFF2-40B4-BE49-F238E27FC236}">
                <a16:creationId xmlns:a16="http://schemas.microsoft.com/office/drawing/2014/main" id="{D2CE6211-C823-44E1-9986-66E6ABC6B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런칭 당일 체계</a:t>
            </a:r>
          </a:p>
        </p:txBody>
      </p:sp>
      <p:sp>
        <p:nvSpPr>
          <p:cNvPr id="69" name="management-title">
            <a:extLst xmlns:a="http://schemas.openxmlformats.org/drawingml/2006/main">
              <a:ext uri="{FF2B5EF4-FFF2-40B4-BE49-F238E27FC236}">
                <a16:creationId xmlns:a16="http://schemas.microsoft.com/office/drawing/2014/main" id="{23E6D33D-7CA3-4039-80DB-3AC3DBD23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196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PM 관리 포인트</a:t>
            </a:r>
          </a:p>
        </p:txBody>
      </p:sp>
      <p:sp>
        <p:nvSpPr>
          <p:cNvPr id="70" name="management-note">
            <a:extLst xmlns:a="http://schemas.openxmlformats.org/drawingml/2006/main">
              <a:ext uri="{FF2B5EF4-FFF2-40B4-BE49-F238E27FC236}">
                <a16:creationId xmlns:a16="http://schemas.microsoft.com/office/drawing/2014/main" id="{46A80453-4025-4817-992D-70C82E4C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67275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94A3B8"/>
                </a:solidFill>
              </a:defRPr>
            </a:pPr>
            <a:r>
              <a:rPr sz="1050">
                <a:solidFill>
                  <a:srgbClr val="94A3B8"/>
                </a:solidFill>
              </a:rPr>
              <a:t>각 단계의 완료 기준을 명확히 두고, 빌드·QA·퍼블리셔 대응을 같은 리듬으로 관리합니다.</a:t>
            </a:r>
          </a:p>
        </p:txBody>
      </p:sp>
      <p:sp>
        <p:nvSpPr>
          <p:cNvPr id="71" name="mgmt-card-1">
            <a:extLst xmlns:a="http://schemas.openxmlformats.org/drawingml/2006/main">
              <a:ext uri="{FF2B5EF4-FFF2-40B4-BE49-F238E27FC236}">
                <a16:creationId xmlns:a16="http://schemas.microsoft.com/office/drawing/2014/main" id="{84824C05-2EE7-46D7-9137-44C25129E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0065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72" name="mgmt-bar-1">
            <a:extLst xmlns:a="http://schemas.openxmlformats.org/drawingml/2006/main">
              <a:ext uri="{FF2B5EF4-FFF2-40B4-BE49-F238E27FC236}">
                <a16:creationId xmlns:a16="http://schemas.microsoft.com/office/drawing/2014/main" id="{B1B1AEC8-CD5E-4E2E-8972-EE2EA149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006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73" name="mgmt-label-1">
            <a:extLst xmlns:a="http://schemas.openxmlformats.org/drawingml/2006/main">
              <a:ext uri="{FF2B5EF4-FFF2-40B4-BE49-F238E27FC236}">
                <a16:creationId xmlns:a16="http://schemas.microsoft.com/office/drawing/2014/main" id="{A8347DE2-982C-49F1-9EFD-0862056D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91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마일스톤</a:t>
            </a:r>
          </a:p>
        </p:txBody>
      </p:sp>
      <p:sp>
        <p:nvSpPr>
          <p:cNvPr id="74" name="mgmt-body-1">
            <a:extLst xmlns:a="http://schemas.openxmlformats.org/drawingml/2006/main">
              <a:ext uri="{FF2B5EF4-FFF2-40B4-BE49-F238E27FC236}">
                <a16:creationId xmlns:a16="http://schemas.microsoft.com/office/drawing/2014/main" id="{8507851C-FCCA-49B7-AC28-D1F10D4C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578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단계별 게이트 기준 관리</a:t>
            </a:r>
          </a:p>
        </p:txBody>
      </p:sp>
      <p:sp>
        <p:nvSpPr>
          <p:cNvPr id="75" name="mgmt-card-2">
            <a:extLst xmlns:a="http://schemas.openxmlformats.org/drawingml/2006/main">
              <a:ext uri="{FF2B5EF4-FFF2-40B4-BE49-F238E27FC236}">
                <a16:creationId xmlns:a16="http://schemas.microsoft.com/office/drawing/2014/main" id="{B35691A3-ECBA-4042-9A05-3C7EAB11F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0065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76" name="mgmt-bar-2">
            <a:extLst xmlns:a="http://schemas.openxmlformats.org/drawingml/2006/main">
              <a:ext uri="{FF2B5EF4-FFF2-40B4-BE49-F238E27FC236}">
                <a16:creationId xmlns:a16="http://schemas.microsoft.com/office/drawing/2014/main" id="{80969DE9-6307-4C60-83C5-F10AD4B85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006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7" name="mgmt-label-2">
            <a:extLst xmlns:a="http://schemas.openxmlformats.org/drawingml/2006/main">
              <a:ext uri="{FF2B5EF4-FFF2-40B4-BE49-F238E27FC236}">
                <a16:creationId xmlns:a16="http://schemas.microsoft.com/office/drawing/2014/main" id="{D82233D0-1F10-4EAB-ACD5-B4F4A51F2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391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빌드·버전</a:t>
            </a:r>
          </a:p>
        </p:txBody>
      </p:sp>
      <p:sp>
        <p:nvSpPr>
          <p:cNvPr id="78" name="mgmt-body-2">
            <a:extLst xmlns:a="http://schemas.openxmlformats.org/drawingml/2006/main">
              <a:ext uri="{FF2B5EF4-FFF2-40B4-BE49-F238E27FC236}">
                <a16:creationId xmlns:a16="http://schemas.microsoft.com/office/drawing/2014/main" id="{0062A4BE-8F01-4ACE-BC76-65A0C92AA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6578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Perforce 기반 후보 빌드 통제</a:t>
            </a:r>
          </a:p>
        </p:txBody>
      </p:sp>
      <p:sp>
        <p:nvSpPr>
          <p:cNvPr id="79" name="mgmt-card-3">
            <a:extLst xmlns:a="http://schemas.openxmlformats.org/drawingml/2006/main">
              <a:ext uri="{FF2B5EF4-FFF2-40B4-BE49-F238E27FC236}">
                <a16:creationId xmlns:a16="http://schemas.microsoft.com/office/drawing/2014/main" id="{66013F89-EF7E-4898-8DBE-5992D6B0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20065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80" name="mgmt-bar-3">
            <a:extLst xmlns:a="http://schemas.openxmlformats.org/drawingml/2006/main">
              <a:ext uri="{FF2B5EF4-FFF2-40B4-BE49-F238E27FC236}">
                <a16:creationId xmlns:a16="http://schemas.microsoft.com/office/drawing/2014/main" id="{04C6820E-BA70-453F-B7ED-F7D9F728E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2006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81" name="mgmt-label-3">
            <a:extLst xmlns:a="http://schemas.openxmlformats.org/drawingml/2006/main">
              <a:ext uri="{FF2B5EF4-FFF2-40B4-BE49-F238E27FC236}">
                <a16:creationId xmlns:a16="http://schemas.microsoft.com/office/drawing/2014/main" id="{F44A9C6C-7453-49CF-A2B5-93D31C32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391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QA</a:t>
            </a:r>
          </a:p>
        </p:txBody>
      </p:sp>
      <p:sp>
        <p:nvSpPr>
          <p:cNvPr id="82" name="mgmt-body-3">
            <a:extLst xmlns:a="http://schemas.openxmlformats.org/drawingml/2006/main">
              <a:ext uri="{FF2B5EF4-FFF2-40B4-BE49-F238E27FC236}">
                <a16:creationId xmlns:a16="http://schemas.microsoft.com/office/drawing/2014/main" id="{0670FCB6-76ED-45BD-8F37-08C8F5AEF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6578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결함 우선순위와 수정 반영 추적</a:t>
            </a:r>
          </a:p>
        </p:txBody>
      </p:sp>
      <p:sp>
        <p:nvSpPr>
          <p:cNvPr id="83" name="mgmt-card-4">
            <a:extLst xmlns:a="http://schemas.openxmlformats.org/drawingml/2006/main">
              <a:ext uri="{FF2B5EF4-FFF2-40B4-BE49-F238E27FC236}">
                <a16:creationId xmlns:a16="http://schemas.microsoft.com/office/drawing/2014/main" id="{AC32FC36-E2E9-465C-B4E9-E56D3B3C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20065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84" name="mgmt-bar-4">
            <a:extLst xmlns:a="http://schemas.openxmlformats.org/drawingml/2006/main">
              <a:ext uri="{FF2B5EF4-FFF2-40B4-BE49-F238E27FC236}">
                <a16:creationId xmlns:a16="http://schemas.microsoft.com/office/drawing/2014/main" id="{A0A98AAA-F63F-4B49-8517-8F1EF20D8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2006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D9E8"/>
          </a:solidFill>
          <a:ln xmlns:a="http://schemas.openxmlformats.org/drawingml/2006/main" w="0">
            <a:solidFill>
              <a:srgbClr val="8BD9E8"/>
            </a:solidFill>
            <a:prstDash val="solid"/>
          </a:ln>
        </p:spPr>
      </p:sp>
      <p:sp>
        <p:nvSpPr>
          <p:cNvPr id="85" name="mgmt-label-4">
            <a:extLst xmlns:a="http://schemas.openxmlformats.org/drawingml/2006/main">
              <a:ext uri="{FF2B5EF4-FFF2-40B4-BE49-F238E27FC236}">
                <a16:creationId xmlns:a16="http://schemas.microsoft.com/office/drawing/2014/main" id="{DAD6C970-B201-402B-9545-3B5D986AC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391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커뮤니케이션</a:t>
            </a:r>
          </a:p>
        </p:txBody>
      </p:sp>
      <p:sp>
        <p:nvSpPr>
          <p:cNvPr id="86" name="mgmt-body-4">
            <a:extLst xmlns:a="http://schemas.openxmlformats.org/drawingml/2006/main">
              <a:ext uri="{FF2B5EF4-FFF2-40B4-BE49-F238E27FC236}">
                <a16:creationId xmlns:a16="http://schemas.microsoft.com/office/drawing/2014/main" id="{A08A694A-A422-4068-896D-4D2B709EF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6578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개발·QA·퍼블리셔 의사결정 정리</a:t>
            </a:r>
          </a:p>
        </p:txBody>
      </p:sp>
    </p:spTree>
    <p:extLst>
      <p:ext uri="{BB962C8B-B14F-4D97-AF65-F5344CB8AC3E}">
        <p14:creationId xmlns:p14="http://schemas.microsoft.com/office/powerpoint/2010/main" val="584566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F2C4A980-4570-4BB2-A38C-0D91B067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EA1F300C-3F46-41A4-9832-75643A9E0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7D982622-6C19-49FE-A7AF-7BB7007F7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BD9E8"/>
                </a:solidFill>
              </a:defRPr>
            </a:pPr>
            <a:r>
              <a:rPr sz="1125" b="1">
                <a:solidFill>
                  <a:srgbClr val="8BD9E8"/>
                </a:solidFill>
              </a:rPr>
              <a:t>LAUNCH GATE CRITERIA | PAGE 03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B3B15104-419C-4A4E-B3B5-7AAB760A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94A3B8"/>
                </a:solidFill>
              </a:defRPr>
            </a:pPr>
            <a:r>
              <a:rPr sz="1125">
                <a:solidFill>
                  <a:srgbClr val="94A3B8"/>
                </a:solidFill>
              </a:rPr>
              <a:t>HIT2 일본 서비스 런칭 6개월 전 로드맵</a:t>
            </a:r>
          </a:p>
        </p:txBody>
      </p:sp>
      <p:sp>
        <p:nvSpPr>
          <p:cNvPr id="5" name="page-no">
            <a:extLst xmlns:a="http://schemas.openxmlformats.org/drawingml/2006/main">
              <a:ext uri="{FF2B5EF4-FFF2-40B4-BE49-F238E27FC236}">
                <a16:creationId xmlns:a16="http://schemas.microsoft.com/office/drawing/2014/main" id="{D32EA220-CEB8-4865-93D5-4B1A5DAE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579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4A3B8"/>
                </a:solidFill>
              </a:defRPr>
            </a:pPr>
            <a:r>
              <a:rPr sz="1200" b="1">
                <a:solidFill>
                  <a:srgbClr val="94A3B8"/>
                </a:solidFill>
              </a:rPr>
              <a:t>03</a:t>
            </a:r>
          </a:p>
        </p:txBody>
      </p:sp>
      <p:sp>
        <p:nvSpPr>
          <p:cNvPr id="6" name="title-03">
            <a:extLst xmlns:a="http://schemas.openxmlformats.org/drawingml/2006/main">
              <a:ext uri="{FF2B5EF4-FFF2-40B4-BE49-F238E27FC236}">
                <a16:creationId xmlns:a16="http://schemas.microsoft.com/office/drawing/2014/main" id="{77BFF889-8ACA-4062-8395-E09342248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057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런칭 게이트는 일정이 아니라 통과 기준으로 관리합니다</a:t>
            </a:r>
          </a:p>
        </p:txBody>
      </p:sp>
      <p:sp>
        <p:nvSpPr>
          <p:cNvPr id="7" name="subtitle-03">
            <a:extLst xmlns:a="http://schemas.openxmlformats.org/drawingml/2006/main">
              <a:ext uri="{FF2B5EF4-FFF2-40B4-BE49-F238E27FC236}">
                <a16:creationId xmlns:a16="http://schemas.microsoft.com/office/drawing/2014/main" id="{C1665073-6F92-4F61-B6CD-36448A6CF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CBD5E1"/>
                </a:solidFill>
              </a:rPr>
              <a:t>월별 일정표만으로는 리스크가 숨기 쉽기 때문에, 범위·빌드·QA·검수 기준을 게이트로 묶어 판정합니다.</a:t>
            </a:r>
          </a:p>
        </p:txBody>
      </p:sp>
      <p:sp>
        <p:nvSpPr>
          <p:cNvPr id="8" name="gate-section-title">
            <a:extLst xmlns:a="http://schemas.openxmlformats.org/drawingml/2006/main">
              <a:ext uri="{FF2B5EF4-FFF2-40B4-BE49-F238E27FC236}">
                <a16:creationId xmlns:a16="http://schemas.microsoft.com/office/drawing/2014/main" id="{0FE4A4AF-373E-4940-BB4C-7F4C7423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핵심 게이트</a:t>
            </a:r>
          </a:p>
        </p:txBody>
      </p:sp>
      <p:sp>
        <p:nvSpPr>
          <p:cNvPr id="9" name="gate-card-1">
            <a:extLst xmlns:a="http://schemas.openxmlformats.org/drawingml/2006/main">
              <a:ext uri="{FF2B5EF4-FFF2-40B4-BE49-F238E27FC236}">
                <a16:creationId xmlns:a16="http://schemas.microsoft.com/office/drawing/2014/main" id="{B3111E65-678B-433B-AF3A-81F7AA7B5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37147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0" name="gate-bar-1">
            <a:extLst xmlns:a="http://schemas.openxmlformats.org/drawingml/2006/main">
              <a:ext uri="{FF2B5EF4-FFF2-40B4-BE49-F238E27FC236}">
                <a16:creationId xmlns:a16="http://schemas.microsoft.com/office/drawing/2014/main" id="{8A8850C3-9CB2-4977-AB96-79633811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11" name="gate-phase-1">
            <a:extLst xmlns:a="http://schemas.openxmlformats.org/drawingml/2006/main">
              <a:ext uri="{FF2B5EF4-FFF2-40B4-BE49-F238E27FC236}">
                <a16:creationId xmlns:a16="http://schemas.microsoft.com/office/drawing/2014/main" id="{84DD06CD-8B5F-4273-A5B5-179DED53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B8D9"/>
                </a:solidFill>
              </a:defRPr>
            </a:pPr>
            <a:r>
              <a:rPr sz="1200" b="1">
                <a:solidFill>
                  <a:srgbClr val="00B8D9"/>
                </a:solidFill>
              </a:rPr>
              <a:t>Gate 1</a:t>
            </a:r>
          </a:p>
        </p:txBody>
      </p:sp>
      <p:sp>
        <p:nvSpPr>
          <p:cNvPr id="12" name="gate-title-1">
            <a:extLst xmlns:a="http://schemas.openxmlformats.org/drawingml/2006/main">
              <a:ext uri="{FF2B5EF4-FFF2-40B4-BE49-F238E27FC236}">
                <a16:creationId xmlns:a16="http://schemas.microsoft.com/office/drawing/2014/main" id="{766CF535-C27B-4F6D-8F4A-D7D4A956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23837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범위 고정</a:t>
            </a:r>
          </a:p>
        </p:txBody>
      </p:sp>
      <p:sp>
        <p:nvSpPr>
          <p:cNvPr id="13" name="gate-body-1">
            <a:extLst xmlns:a="http://schemas.openxmlformats.org/drawingml/2006/main">
              <a:ext uri="{FF2B5EF4-FFF2-40B4-BE49-F238E27FC236}">
                <a16:creationId xmlns:a16="http://schemas.microsoft.com/office/drawing/2014/main" id="{EF0C9AD2-35DA-4C63-AE64-E7ADD496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90800"/>
            <a:ext cx="3028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CBD5E1"/>
                </a:solidFill>
              </a:defRPr>
            </a:pPr>
            <a:r>
              <a:rPr sz="1050">
                <a:solidFill>
                  <a:srgbClr val="CBD5E1"/>
                </a:solidFill>
              </a:rPr>
              <a:t>일본 서비스 범위와 콘텐츠 기준을 확정하고, 변경 요청은 영향도 검토 후 반영합니다.</a:t>
            </a:r>
          </a:p>
        </p:txBody>
      </p:sp>
      <p:sp>
        <p:nvSpPr>
          <p:cNvPr id="14" name="gate-card-2">
            <a:extLst xmlns:a="http://schemas.openxmlformats.org/drawingml/2006/main">
              <a:ext uri="{FF2B5EF4-FFF2-40B4-BE49-F238E27FC236}">
                <a16:creationId xmlns:a16="http://schemas.microsoft.com/office/drawing/2014/main" id="{3DE61C86-46EA-49A1-BE79-8C6EC96BD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37147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5" name="gate-bar-2">
            <a:extLst xmlns:a="http://schemas.openxmlformats.org/drawingml/2006/main">
              <a:ext uri="{FF2B5EF4-FFF2-40B4-BE49-F238E27FC236}">
                <a16:creationId xmlns:a16="http://schemas.microsoft.com/office/drawing/2014/main" id="{308BA253-CF53-40C9-B876-518D53FF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6667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6" name="gate-phase-2">
            <a:extLst xmlns:a="http://schemas.openxmlformats.org/drawingml/2006/main">
              <a:ext uri="{FF2B5EF4-FFF2-40B4-BE49-F238E27FC236}">
                <a16:creationId xmlns:a16="http://schemas.microsoft.com/office/drawing/2014/main" id="{CADFB0A6-10B6-4B08-9175-22D85E22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480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Gate 2</a:t>
            </a:r>
          </a:p>
        </p:txBody>
      </p:sp>
      <p:sp>
        <p:nvSpPr>
          <p:cNvPr id="17" name="gate-title-2">
            <a:extLst xmlns:a="http://schemas.openxmlformats.org/drawingml/2006/main">
              <a:ext uri="{FF2B5EF4-FFF2-40B4-BE49-F238E27FC236}">
                <a16:creationId xmlns:a16="http://schemas.microsoft.com/office/drawing/2014/main" id="{7227540E-5488-441E-8B8D-D2D4E3BD7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43852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검수 진입</a:t>
            </a:r>
          </a:p>
        </p:txBody>
      </p:sp>
      <p:sp>
        <p:nvSpPr>
          <p:cNvPr id="18" name="gate-body-2">
            <a:extLst xmlns:a="http://schemas.openxmlformats.org/drawingml/2006/main">
              <a:ext uri="{FF2B5EF4-FFF2-40B4-BE49-F238E27FC236}">
                <a16:creationId xmlns:a16="http://schemas.microsoft.com/office/drawing/2014/main" id="{4F9E845A-59D7-49F2-BEDB-FE5B7E20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90950"/>
            <a:ext cx="3028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CBD5E1"/>
                </a:solidFill>
              </a:defRPr>
            </a:pPr>
            <a:r>
              <a:rPr sz="1050">
                <a:solidFill>
                  <a:srgbClr val="CBD5E1"/>
                </a:solidFill>
              </a:rPr>
              <a:t>현지화 리소스와 주요 기능 반영 상태를 확인한 뒤 내부 QA와 퍼블리셔 검수에 진입합니다.</a:t>
            </a:r>
          </a:p>
        </p:txBody>
      </p:sp>
      <p:sp>
        <p:nvSpPr>
          <p:cNvPr id="19" name="gate-card-3">
            <a:extLst xmlns:a="http://schemas.openxmlformats.org/drawingml/2006/main">
              <a:ext uri="{FF2B5EF4-FFF2-40B4-BE49-F238E27FC236}">
                <a16:creationId xmlns:a16="http://schemas.microsoft.com/office/drawing/2014/main" id="{A5A89A7E-5FCA-41DC-9187-1D00D84E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95800"/>
            <a:ext cx="37147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0" name="gate-bar-3">
            <a:extLst xmlns:a="http://schemas.openxmlformats.org/drawingml/2006/main">
              <a:ext uri="{FF2B5EF4-FFF2-40B4-BE49-F238E27FC236}">
                <a16:creationId xmlns:a16="http://schemas.microsoft.com/office/drawing/2014/main" id="{E1475169-C584-4153-9783-4EB14A53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95800"/>
            <a:ext cx="6667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21" name="gate-phase-3">
            <a:extLst xmlns:a="http://schemas.openxmlformats.org/drawingml/2006/main">
              <a:ext uri="{FF2B5EF4-FFF2-40B4-BE49-F238E27FC236}">
                <a16:creationId xmlns:a16="http://schemas.microsoft.com/office/drawing/2014/main" id="{BBFD7033-5848-4B76-B68F-AB55B36F5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482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Gate 3</a:t>
            </a:r>
          </a:p>
        </p:txBody>
      </p:sp>
      <p:sp>
        <p:nvSpPr>
          <p:cNvPr id="22" name="gate-title-3">
            <a:extLst xmlns:a="http://schemas.openxmlformats.org/drawingml/2006/main">
              <a:ext uri="{FF2B5EF4-FFF2-40B4-BE49-F238E27FC236}">
                <a16:creationId xmlns:a16="http://schemas.microsoft.com/office/drawing/2014/main" id="{F6027F08-AAD3-4A8F-9909-9F83CA3EF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63867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런칭 후보</a:t>
            </a:r>
          </a:p>
        </p:txBody>
      </p:sp>
      <p:sp>
        <p:nvSpPr>
          <p:cNvPr id="23" name="gate-body-3">
            <a:extLst xmlns:a="http://schemas.openxmlformats.org/drawingml/2006/main">
              <a:ext uri="{FF2B5EF4-FFF2-40B4-BE49-F238E27FC236}">
                <a16:creationId xmlns:a16="http://schemas.microsoft.com/office/drawing/2014/main" id="{A7C0D76F-0114-47D7-8A81-9F83B6DE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91100"/>
            <a:ext cx="3028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CBD5E1"/>
                </a:solidFill>
              </a:defRPr>
            </a:pPr>
            <a:r>
              <a:rPr sz="1050">
                <a:solidFill>
                  <a:srgbClr val="CBD5E1"/>
                </a:solidFill>
              </a:rPr>
              <a:t>치명 이슈와 잔여 리스크를 분리하고, 배포 가능한 후보 빌드 기준을 고정합니다.</a:t>
            </a:r>
          </a:p>
        </p:txBody>
      </p:sp>
      <p:sp>
        <p:nvSpPr>
          <p:cNvPr id="24" name="decision-title">
            <a:extLst xmlns:a="http://schemas.openxmlformats.org/drawingml/2006/main">
              <a:ext uri="{FF2B5EF4-FFF2-40B4-BE49-F238E27FC236}">
                <a16:creationId xmlns:a16="http://schemas.microsoft.com/office/drawing/2014/main" id="{6D530ED2-89A2-475C-8FDB-9DB6A922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526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판정 체크리스트</a:t>
            </a:r>
          </a:p>
        </p:txBody>
      </p:sp>
      <p:sp>
        <p:nvSpPr>
          <p:cNvPr id="25" name="decision-note">
            <a:extLst xmlns:a="http://schemas.openxmlformats.org/drawingml/2006/main">
              <a:ext uri="{FF2B5EF4-FFF2-40B4-BE49-F238E27FC236}">
                <a16:creationId xmlns:a16="http://schemas.microsoft.com/office/drawing/2014/main" id="{39536B98-6D8E-4AE8-B165-087F2FB13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8097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94A3B8"/>
                </a:solidFill>
              </a:defRPr>
            </a:pPr>
            <a:r>
              <a:rPr sz="1050">
                <a:solidFill>
                  <a:srgbClr val="94A3B8"/>
                </a:solidFill>
              </a:rPr>
              <a:t>각 항목은 완료 여부보다 다음 단계 진입 가능성을 기준으로 판단합니다.</a:t>
            </a:r>
          </a:p>
        </p:txBody>
      </p:sp>
      <p:sp>
        <p:nvSpPr>
          <p:cNvPr id="26" name="decision-header">
            <a:extLst xmlns:a="http://schemas.openxmlformats.org/drawingml/2006/main">
              <a:ext uri="{FF2B5EF4-FFF2-40B4-BE49-F238E27FC236}">
                <a16:creationId xmlns:a16="http://schemas.microsoft.com/office/drawing/2014/main" id="{41D2B7DA-1D40-4D79-8371-8EAD20001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33600"/>
            <a:ext cx="670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27" name="decision-th-1">
            <a:extLst xmlns:a="http://schemas.openxmlformats.org/drawingml/2006/main">
              <a:ext uri="{FF2B5EF4-FFF2-40B4-BE49-F238E27FC236}">
                <a16:creationId xmlns:a16="http://schemas.microsoft.com/office/drawing/2014/main" id="{5CE88542-8D22-4C90-B2B6-4E7E14F4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20980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6111F"/>
                </a:solidFill>
              </a:defRPr>
            </a:pPr>
            <a:r>
              <a:rPr sz="1050" b="1">
                <a:solidFill>
                  <a:srgbClr val="06111F"/>
                </a:solidFill>
              </a:rPr>
              <a:t>항목</a:t>
            </a:r>
          </a:p>
        </p:txBody>
      </p:sp>
      <p:sp>
        <p:nvSpPr>
          <p:cNvPr id="28" name="decision-th-2">
            <a:extLst xmlns:a="http://schemas.openxmlformats.org/drawingml/2006/main">
              <a:ext uri="{FF2B5EF4-FFF2-40B4-BE49-F238E27FC236}">
                <a16:creationId xmlns:a16="http://schemas.microsoft.com/office/drawing/2014/main" id="{76B20F2D-CE05-4AFA-B6CD-C63C544C7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098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6111F"/>
                </a:solidFill>
              </a:defRPr>
            </a:pPr>
            <a:r>
              <a:rPr sz="1050" b="1">
                <a:solidFill>
                  <a:srgbClr val="06111F"/>
                </a:solidFill>
              </a:rPr>
              <a:t>통과 기준</a:t>
            </a:r>
          </a:p>
        </p:txBody>
      </p:sp>
      <p:sp>
        <p:nvSpPr>
          <p:cNvPr id="29" name="decision-th-3">
            <a:extLst xmlns:a="http://schemas.openxmlformats.org/drawingml/2006/main">
              <a:ext uri="{FF2B5EF4-FFF2-40B4-BE49-F238E27FC236}">
                <a16:creationId xmlns:a16="http://schemas.microsoft.com/office/drawing/2014/main" id="{C86BD559-5D48-4873-A243-398D5833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20980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6111F"/>
                </a:solidFill>
              </a:defRPr>
            </a:pPr>
            <a:r>
              <a:rPr sz="1050" b="1">
                <a:solidFill>
                  <a:srgbClr val="06111F"/>
                </a:solidFill>
              </a:rPr>
              <a:t>주관</a:t>
            </a:r>
          </a:p>
        </p:txBody>
      </p:sp>
      <p:sp>
        <p:nvSpPr>
          <p:cNvPr id="30" name="decision-row-1">
            <a:extLst xmlns:a="http://schemas.openxmlformats.org/drawingml/2006/main">
              <a:ext uri="{FF2B5EF4-FFF2-40B4-BE49-F238E27FC236}">
                <a16:creationId xmlns:a16="http://schemas.microsoft.com/office/drawing/2014/main" id="{F8AE3080-F1FF-4475-9C7D-CC596126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457450"/>
            <a:ext cx="6705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1" name="decision-item-1">
            <a:extLst xmlns:a="http://schemas.openxmlformats.org/drawingml/2006/main">
              <a:ext uri="{FF2B5EF4-FFF2-40B4-BE49-F238E27FC236}">
                <a16:creationId xmlns:a16="http://schemas.microsoft.com/office/drawing/2014/main" id="{93AF291A-E5D6-4568-B24F-32EE68EDC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61937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B8D9"/>
                </a:solidFill>
              </a:defRPr>
            </a:pPr>
            <a:r>
              <a:rPr sz="1125" b="1">
                <a:solidFill>
                  <a:srgbClr val="00B8D9"/>
                </a:solidFill>
              </a:rPr>
              <a:t>서비스 범위</a:t>
            </a:r>
          </a:p>
        </p:txBody>
      </p:sp>
      <p:sp>
        <p:nvSpPr>
          <p:cNvPr id="32" name="decision-gate-1">
            <a:extLst xmlns:a="http://schemas.openxmlformats.org/drawingml/2006/main">
              <a:ext uri="{FF2B5EF4-FFF2-40B4-BE49-F238E27FC236}">
                <a16:creationId xmlns:a16="http://schemas.microsoft.com/office/drawing/2014/main" id="{F0A265BB-77A5-4636-AE83-9CC6FF767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8127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런칭 포함·제외 콘텐츠와 변경 승인 기준 확정</a:t>
            </a:r>
          </a:p>
        </p:txBody>
      </p:sp>
      <p:sp>
        <p:nvSpPr>
          <p:cNvPr id="33" name="decision-owner-1">
            <a:extLst xmlns:a="http://schemas.openxmlformats.org/drawingml/2006/main">
              <a:ext uri="{FF2B5EF4-FFF2-40B4-BE49-F238E27FC236}">
                <a16:creationId xmlns:a16="http://schemas.microsoft.com/office/drawing/2014/main" id="{DB90D8E3-911E-42ED-B905-1D757A23A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619375"/>
            <a:ext cx="93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BD5E1"/>
                </a:solidFill>
              </a:defRPr>
            </a:pPr>
            <a:r>
              <a:rPr sz="1050" b="1">
                <a:solidFill>
                  <a:srgbClr val="CBD5E1"/>
                </a:solidFill>
              </a:rPr>
              <a:t>PM</a:t>
            </a:r>
          </a:p>
        </p:txBody>
      </p:sp>
      <p:sp>
        <p:nvSpPr>
          <p:cNvPr id="34" name="decision-row-2">
            <a:extLst xmlns:a="http://schemas.openxmlformats.org/drawingml/2006/main">
              <a:ext uri="{FF2B5EF4-FFF2-40B4-BE49-F238E27FC236}">
                <a16:creationId xmlns:a16="http://schemas.microsoft.com/office/drawing/2014/main" id="{DA00C44D-5B34-446A-B3AE-29F6B3F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009900"/>
            <a:ext cx="6705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5" name="decision-item-2">
            <a:extLst xmlns:a="http://schemas.openxmlformats.org/drawingml/2006/main">
              <a:ext uri="{FF2B5EF4-FFF2-40B4-BE49-F238E27FC236}">
                <a16:creationId xmlns:a16="http://schemas.microsoft.com/office/drawing/2014/main" id="{E3760915-D434-4E8B-AEAE-A1E1D56F9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1718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B35"/>
                </a:solidFill>
              </a:defRPr>
            </a:pPr>
            <a:r>
              <a:rPr sz="1125" b="1">
                <a:solidFill>
                  <a:srgbClr val="FF6B35"/>
                </a:solidFill>
              </a:rPr>
              <a:t>빌드 기준</a:t>
            </a:r>
          </a:p>
        </p:txBody>
      </p:sp>
      <p:sp>
        <p:nvSpPr>
          <p:cNvPr id="36" name="decision-gate-2">
            <a:extLst xmlns:a="http://schemas.openxmlformats.org/drawingml/2006/main">
              <a:ext uri="{FF2B5EF4-FFF2-40B4-BE49-F238E27FC236}">
                <a16:creationId xmlns:a16="http://schemas.microsoft.com/office/drawing/2014/main" id="{81E81F00-9AF0-43DB-9D93-F1215693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337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Perforce 브랜치와 후보 빌드 태그 운영 기준 합의</a:t>
            </a:r>
          </a:p>
        </p:txBody>
      </p:sp>
      <p:sp>
        <p:nvSpPr>
          <p:cNvPr id="37" name="decision-owner-2">
            <a:extLst xmlns:a="http://schemas.openxmlformats.org/drawingml/2006/main">
              <a:ext uri="{FF2B5EF4-FFF2-40B4-BE49-F238E27FC236}">
                <a16:creationId xmlns:a16="http://schemas.microsoft.com/office/drawing/2014/main" id="{DA9AC35A-733C-4589-8D2E-A846E6E6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171825"/>
            <a:ext cx="93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BD5E1"/>
                </a:solidFill>
              </a:defRPr>
            </a:pPr>
            <a:r>
              <a:rPr sz="1050" b="1">
                <a:solidFill>
                  <a:srgbClr val="CBD5E1"/>
                </a:solidFill>
              </a:rPr>
              <a:t>개발</a:t>
            </a:r>
          </a:p>
        </p:txBody>
      </p:sp>
      <p:sp>
        <p:nvSpPr>
          <p:cNvPr id="38" name="decision-row-3">
            <a:extLst xmlns:a="http://schemas.openxmlformats.org/drawingml/2006/main">
              <a:ext uri="{FF2B5EF4-FFF2-40B4-BE49-F238E27FC236}">
                <a16:creationId xmlns:a16="http://schemas.microsoft.com/office/drawing/2014/main" id="{5487862A-C0BE-4868-B70E-AFBCFC85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62350"/>
            <a:ext cx="6705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9" name="decision-item-3">
            <a:extLst xmlns:a="http://schemas.openxmlformats.org/drawingml/2006/main">
              <a:ext uri="{FF2B5EF4-FFF2-40B4-BE49-F238E27FC236}">
                <a16:creationId xmlns:a16="http://schemas.microsoft.com/office/drawing/2014/main" id="{FDFE9D2A-B567-4244-BC99-56FB30F5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72427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7C3AED"/>
                </a:solidFill>
              </a:defRPr>
            </a:pPr>
            <a:r>
              <a:rPr sz="1125" b="1">
                <a:solidFill>
                  <a:srgbClr val="7C3AED"/>
                </a:solidFill>
              </a:rPr>
              <a:t>QA 안정성</a:t>
            </a:r>
          </a:p>
        </p:txBody>
      </p:sp>
      <p:sp>
        <p:nvSpPr>
          <p:cNvPr id="40" name="decision-gate-3">
            <a:extLst xmlns:a="http://schemas.openxmlformats.org/drawingml/2006/main">
              <a:ext uri="{FF2B5EF4-FFF2-40B4-BE49-F238E27FC236}">
                <a16:creationId xmlns:a16="http://schemas.microsoft.com/office/drawing/2014/main" id="{C30CBF68-52F3-422D-8E49-F3D8A1CD4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8617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치명 이슈 0건, 주요 이슈 수정 계획과 잔여 리스크 공유</a:t>
            </a:r>
          </a:p>
        </p:txBody>
      </p:sp>
      <p:sp>
        <p:nvSpPr>
          <p:cNvPr id="41" name="decision-owner-3">
            <a:extLst xmlns:a="http://schemas.openxmlformats.org/drawingml/2006/main">
              <a:ext uri="{FF2B5EF4-FFF2-40B4-BE49-F238E27FC236}">
                <a16:creationId xmlns:a16="http://schemas.microsoft.com/office/drawing/2014/main" id="{CC23460F-80F8-4D1A-B797-3E178C412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724275"/>
            <a:ext cx="93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BD5E1"/>
                </a:solidFill>
              </a:defRPr>
            </a:pPr>
            <a:r>
              <a:rPr sz="1050" b="1">
                <a:solidFill>
                  <a:srgbClr val="CBD5E1"/>
                </a:solidFill>
              </a:rPr>
              <a:t>QA</a:t>
            </a:r>
          </a:p>
        </p:txBody>
      </p:sp>
      <p:sp>
        <p:nvSpPr>
          <p:cNvPr id="42" name="decision-row-4">
            <a:extLst xmlns:a="http://schemas.openxmlformats.org/drawingml/2006/main">
              <a:ext uri="{FF2B5EF4-FFF2-40B4-BE49-F238E27FC236}">
                <a16:creationId xmlns:a16="http://schemas.microsoft.com/office/drawing/2014/main" id="{8511F758-BA17-42B9-94C8-1A04FCC2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114800"/>
            <a:ext cx="6705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43" name="decision-item-4">
            <a:extLst xmlns:a="http://schemas.openxmlformats.org/drawingml/2006/main">
              <a:ext uri="{FF2B5EF4-FFF2-40B4-BE49-F238E27FC236}">
                <a16:creationId xmlns:a16="http://schemas.microsoft.com/office/drawing/2014/main" id="{F14DECFC-7F8D-45E6-B5EC-7ED25711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2767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BD9E8"/>
                </a:solidFill>
              </a:defRPr>
            </a:pPr>
            <a:r>
              <a:rPr sz="1125" b="1">
                <a:solidFill>
                  <a:srgbClr val="8BD9E8"/>
                </a:solidFill>
              </a:rPr>
              <a:t>퍼블리셔 검수</a:t>
            </a:r>
          </a:p>
        </p:txBody>
      </p:sp>
      <p:sp>
        <p:nvSpPr>
          <p:cNvPr id="44" name="decision-gate-4">
            <a:extLst xmlns:a="http://schemas.openxmlformats.org/drawingml/2006/main">
              <a:ext uri="{FF2B5EF4-FFF2-40B4-BE49-F238E27FC236}">
                <a16:creationId xmlns:a16="http://schemas.microsoft.com/office/drawing/2014/main" id="{D1E17F3F-64A1-4AA5-B441-DFCF0531A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386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검수 요청, 피드백, 재전달 일정이 추적 가능한 상태</a:t>
            </a:r>
          </a:p>
        </p:txBody>
      </p:sp>
      <p:sp>
        <p:nvSpPr>
          <p:cNvPr id="45" name="decision-owner-4">
            <a:extLst xmlns:a="http://schemas.openxmlformats.org/drawingml/2006/main">
              <a:ext uri="{FF2B5EF4-FFF2-40B4-BE49-F238E27FC236}">
                <a16:creationId xmlns:a16="http://schemas.microsoft.com/office/drawing/2014/main" id="{BB4C2B74-D2E3-47A1-8209-696E666A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276725"/>
            <a:ext cx="93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BD5E1"/>
                </a:solidFill>
              </a:defRPr>
            </a:pPr>
            <a:r>
              <a:rPr sz="1050" b="1">
                <a:solidFill>
                  <a:srgbClr val="CBD5E1"/>
                </a:solidFill>
              </a:rPr>
              <a:t>PM</a:t>
            </a:r>
          </a:p>
        </p:txBody>
      </p:sp>
      <p:sp>
        <p:nvSpPr>
          <p:cNvPr id="46" name="decision-row-5">
            <a:extLst xmlns:a="http://schemas.openxmlformats.org/drawingml/2006/main">
              <a:ext uri="{FF2B5EF4-FFF2-40B4-BE49-F238E27FC236}">
                <a16:creationId xmlns:a16="http://schemas.microsoft.com/office/drawing/2014/main" id="{1C8981E7-03FE-4E62-9343-8D1E3A17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667250"/>
            <a:ext cx="6705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47" name="decision-item-5">
            <a:extLst xmlns:a="http://schemas.openxmlformats.org/drawingml/2006/main">
              <a:ext uri="{FF2B5EF4-FFF2-40B4-BE49-F238E27FC236}">
                <a16:creationId xmlns:a16="http://schemas.microsoft.com/office/drawing/2014/main" id="{0AD55C7B-21E5-4802-A2AC-BE70FC58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82917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B35"/>
                </a:solidFill>
              </a:defRPr>
            </a:pPr>
            <a:r>
              <a:rPr sz="1125" b="1">
                <a:solidFill>
                  <a:srgbClr val="FF6B35"/>
                </a:solidFill>
              </a:rPr>
              <a:t>배포 준비</a:t>
            </a:r>
          </a:p>
        </p:txBody>
      </p:sp>
      <p:sp>
        <p:nvSpPr>
          <p:cNvPr id="48" name="decision-gate-5">
            <a:extLst xmlns:a="http://schemas.openxmlformats.org/drawingml/2006/main">
              <a:ext uri="{FF2B5EF4-FFF2-40B4-BE49-F238E27FC236}">
                <a16:creationId xmlns:a16="http://schemas.microsoft.com/office/drawing/2014/main" id="{B280930C-024D-4D89-8184-525E64679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79107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스토어·공지·장애 대응 플랜의 최종 담당자 확인</a:t>
            </a:r>
          </a:p>
        </p:txBody>
      </p:sp>
      <p:sp>
        <p:nvSpPr>
          <p:cNvPr id="49" name="decision-owner-5">
            <a:extLst xmlns:a="http://schemas.openxmlformats.org/drawingml/2006/main">
              <a:ext uri="{FF2B5EF4-FFF2-40B4-BE49-F238E27FC236}">
                <a16:creationId xmlns:a16="http://schemas.microsoft.com/office/drawing/2014/main" id="{C25E2986-0D1C-4E0E-B4A7-419E8D084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829175"/>
            <a:ext cx="93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BD5E1"/>
                </a:solidFill>
              </a:defRPr>
            </a:pPr>
            <a:r>
              <a:rPr sz="1050" b="1">
                <a:solidFill>
                  <a:srgbClr val="CBD5E1"/>
                </a:solidFill>
              </a:rPr>
              <a:t>운영</a:t>
            </a:r>
          </a:p>
        </p:txBody>
      </p:sp>
      <p:sp>
        <p:nvSpPr>
          <p:cNvPr id="50" name="principle-panel">
            <a:extLst xmlns:a="http://schemas.openxmlformats.org/drawingml/2006/main">
              <a:ext uri="{FF2B5EF4-FFF2-40B4-BE49-F238E27FC236}">
                <a16:creationId xmlns:a16="http://schemas.microsoft.com/office/drawing/2014/main" id="{21D4491B-93B1-4BE6-90D8-AFAC6F5B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91200"/>
            <a:ext cx="108775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192E"/>
          </a:solidFill>
          <a:ln xmlns:a="http://schemas.openxmlformats.org/drawingml/2006/main" w="9525">
            <a:solidFill>
              <a:srgbClr val="22304E"/>
            </a:solidFill>
            <a:prstDash val="solid"/>
          </a:ln>
        </p:spPr>
      </p:sp>
      <p:sp>
        <p:nvSpPr>
          <p:cNvPr id="51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9B217DDC-3F38-4CEF-A73A-AEEABAA14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운영 원칙</a:t>
            </a:r>
          </a:p>
        </p:txBody>
      </p:sp>
      <p:sp>
        <p:nvSpPr>
          <p:cNvPr id="52" name="principle-body">
            <a:extLst xmlns:a="http://schemas.openxmlformats.org/drawingml/2006/main">
              <a:ext uri="{FF2B5EF4-FFF2-40B4-BE49-F238E27FC236}">
                <a16:creationId xmlns:a16="http://schemas.microsoft.com/office/drawing/2014/main" id="{9F9B4364-8B18-44B3-A579-B65AC8A5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905500"/>
            <a:ext cx="809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게이트 미통과 항목은 일정 지연이 아니라 의사결정 이슈로 분리해, 영향도와 대안을 함께 보고합니다.</a:t>
            </a:r>
          </a:p>
        </p:txBody>
      </p:sp>
    </p:spTree>
    <p:extLst>
      <p:ext uri="{BB962C8B-B14F-4D97-AF65-F5344CB8AC3E}">
        <p14:creationId xmlns:p14="http://schemas.microsoft.com/office/powerpoint/2010/main" val="5351189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2026-07-13T09:38:17.9660000Z</dcterms:created>
  <dcterms:modified xsi:type="dcterms:W3CDTF">2026-07-13T09:38:17.9660000Z</dcterms:modified>
</coreProperties>
</file>