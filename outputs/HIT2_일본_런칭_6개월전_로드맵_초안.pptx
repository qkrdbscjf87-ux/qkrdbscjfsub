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f2a450b0e241fa" /><Relationship Type="http://schemas.openxmlformats.org/officeDocument/2006/relationships/extended-properties" Target="/docProps/app.xml" Id="R665ec27995ea41ae" /><Relationship Type="http://schemas.openxmlformats.org/officeDocument/2006/relationships/officeDocument" Target="/ppt/presentation.xml" Id="R99c003a8717045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4e2906c5564482"/>
  </p:sldMasterIdLst>
  <p:notesMasterIdLst>
    <p:notesMasterId xmlns:r="http://schemas.openxmlformats.org/officeDocument/2006/relationships" r:id="R018a978c719e42bc"/>
  </p:notesMasterIdLst>
  <p:sldIdLst>
    <p:sldId xmlns:r="http://schemas.openxmlformats.org/officeDocument/2006/relationships" id="256" r:id="R0b4de0f0eb014910"/>
    <p:sldId xmlns:r="http://schemas.openxmlformats.org/officeDocument/2006/relationships" id="257" r:id="R59024428d4db44eb"/>
    <p:sldId xmlns:r="http://schemas.openxmlformats.org/officeDocument/2006/relationships" id="258" r:id="Rd386ec5c90b04c2e"/>
    <p:sldId xmlns:r="http://schemas.openxmlformats.org/officeDocument/2006/relationships" id="259" r:id="Rdee226c7bc5f4471"/>
    <p:sldId xmlns:r="http://schemas.openxmlformats.org/officeDocument/2006/relationships" id="260" r:id="Rbaca3daf6c3f4a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d28045ab5d4161" /><Relationship Type="http://schemas.openxmlformats.org/officeDocument/2006/relationships/slideMaster" Target="/ppt/slideMasters/slideMaster1.xml" Id="R0f4e2906c5564482" /><Relationship Type="http://schemas.openxmlformats.org/officeDocument/2006/relationships/notesMaster" Target="/ppt/notesMasters/notesMaster1.xml" Id="R018a978c719e42bc" /><Relationship Type="http://schemas.openxmlformats.org/officeDocument/2006/relationships/presProps" Target="/ppt/presProps.xml" Id="Ra2265142534d4dca" /><Relationship Type="http://schemas.openxmlformats.org/officeDocument/2006/relationships/tableStyles" Target="/ppt/tableStyles.xml" Id="R4267e56a2a3c4ccb" /><Relationship Type="http://schemas.openxmlformats.org/officeDocument/2006/relationships/slide" Target="/ppt/slides/slide1.xml" Id="R0b4de0f0eb014910" /><Relationship Type="http://schemas.openxmlformats.org/officeDocument/2006/relationships/slide" Target="/ppt/slides/slide2.xml" Id="R59024428d4db44eb" /><Relationship Type="http://schemas.openxmlformats.org/officeDocument/2006/relationships/slide" Target="/ppt/slides/slide3.xml" Id="Rd386ec5c90b04c2e" /><Relationship Type="http://schemas.openxmlformats.org/officeDocument/2006/relationships/slide" Target="/ppt/slides/slide4.xml" Id="Rdee226c7bc5f4471" /><Relationship Type="http://schemas.openxmlformats.org/officeDocument/2006/relationships/slide" Target="/ppt/slides/slide5.xml" Id="Rbaca3daf6c3f4a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b090f9328b47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eecf8f7c9e49f4" /><Relationship Type="http://schemas.openxmlformats.org/officeDocument/2006/relationships/notesMaster" Target="/ppt/notesMasters/notesMaster1.xml" Id="Rc5ca73b5fe2544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270c9d79714da8" /><Relationship Type="http://schemas.openxmlformats.org/officeDocument/2006/relationships/notesMaster" Target="/ppt/notesMasters/notesMaster1.xml" Id="Rc615cde7b91f40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d6d2713bb0450f" /><Relationship Type="http://schemas.openxmlformats.org/officeDocument/2006/relationships/notesMaster" Target="/ppt/notesMasters/notesMaster1.xml" Id="R7e9397fb535544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af8e6af4ea4ba8" /><Relationship Type="http://schemas.openxmlformats.org/officeDocument/2006/relationships/notesMaster" Target="/ppt/notesMasters/notesMaster1.xml" Id="R7c4db85e1c754f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3905f6805c4e7a" /><Relationship Type="http://schemas.openxmlformats.org/officeDocument/2006/relationships/notesMaster" Target="/ppt/notesMasters/notesMaster1.xml" Id="R68050d63c2e94f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c23212b8041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74f55663b04862" /><Relationship Type="http://schemas.openxmlformats.org/officeDocument/2006/relationships/slideLayout" Target="/ppt/slideLayouts/slideLayout1.xml" Id="R2886663c659b4d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86663c659b4d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d9558282a4cc4" /><Relationship Type="http://schemas.openxmlformats.org/officeDocument/2006/relationships/notesSlide" Target="/ppt/notesSlides/notesSlide1.xml" Id="Rdafecb53a69641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3bd2447384eb1" /><Relationship Type="http://schemas.openxmlformats.org/officeDocument/2006/relationships/notesSlide" Target="/ppt/notesSlides/notesSlide2.xml" Id="R5580647c3ddc4a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03f6ad50745f3" /><Relationship Type="http://schemas.openxmlformats.org/officeDocument/2006/relationships/notesSlide" Target="/ppt/notesSlides/notesSlide3.xml" Id="Rb8d03659285c41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624aed9b4496c" /><Relationship Type="http://schemas.openxmlformats.org/officeDocument/2006/relationships/notesSlide" Target="/ppt/notesSlides/notesSlide4.xml" Id="Rc924ff49b1e446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74807ebd044d5" /><Relationship Type="http://schemas.openxmlformats.org/officeDocument/2006/relationships/notesSlide" Target="/ppt/notesSlides/notesSlide5.xml" Id="R781e77eb8a1d4d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D525A329-662B-4E1E-879A-47558BA4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C3736106-017C-465F-8141-4605B34D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0997F52B-B956-4F75-8395-E67F44EE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HIT2 JAPAN LAUNCH ROADMAP | PAGE 01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6402F021-522B-4B59-8F67-3216470F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E5CCAA25-2851-4E1E-9BD1-9AC23583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01</a:t>
            </a:r>
          </a:p>
        </p:txBody>
      </p:sp>
      <p:sp>
        <p:nvSpPr>
          <p:cNvPr id="6" name="hero-panel">
            <a:extLst xmlns:a="http://schemas.openxmlformats.org/drawingml/2006/main">
              <a:ext uri="{FF2B5EF4-FFF2-40B4-BE49-F238E27FC236}">
                <a16:creationId xmlns:a16="http://schemas.microsoft.com/office/drawing/2014/main" id="{A1DF9B5C-4AB8-410D-A72E-781621CE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125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7" name="hero-kicker">
            <a:extLst xmlns:a="http://schemas.openxmlformats.org/drawingml/2006/main">
              <a:ext uri="{FF2B5EF4-FFF2-40B4-BE49-F238E27FC236}">
                <a16:creationId xmlns:a16="http://schemas.microsoft.com/office/drawing/2014/main" id="{C7D75EF8-8865-483C-8B2D-065E94DA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191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BD9E8"/>
                </a:solidFill>
              </a:defRPr>
            </a:pPr>
            <a:r>
              <a:rPr sz="1500" b="1">
                <a:solidFill>
                  <a:srgbClr val="8BD9E8"/>
                </a:solidFill>
              </a:rPr>
              <a:t>개발 PM 관점의 글로벌 런칭 준비안</a:t>
            </a:r>
          </a:p>
        </p:txBody>
      </p:sp>
      <p:sp>
        <p:nvSpPr>
          <p:cNvPr id="8" name="hero-title">
            <a:extLst xmlns:a="http://schemas.openxmlformats.org/drawingml/2006/main">
              <a:ext uri="{FF2B5EF4-FFF2-40B4-BE49-F238E27FC236}">
                <a16:creationId xmlns:a16="http://schemas.microsoft.com/office/drawing/2014/main" id="{2069AD49-0885-4AFC-ACAF-1FFE2229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HIT2 일본 런칭 6개월 전 로드맵</a:t>
            </a:r>
          </a:p>
        </p:txBody>
      </p:sp>
      <p:sp>
        <p:nvSpPr>
          <p:cNvPr id="9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D7D1E961-57F8-4862-820D-D0D41A6B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CBD5E1"/>
                </a:solidFill>
              </a:rPr>
              <a:t>마일스톤, 빌드·버전, QA, 퍼블리셔 커뮤니케이션을 하나의 출시 준비 흐름으로 정리합니다.</a:t>
            </a:r>
          </a:p>
        </p:txBody>
      </p:sp>
      <p:sp>
        <p:nvSpPr>
          <p:cNvPr id="10" name="tag-1">
            <a:extLst xmlns:a="http://schemas.openxmlformats.org/drawingml/2006/main">
              <a:ext uri="{FF2B5EF4-FFF2-40B4-BE49-F238E27FC236}">
                <a16:creationId xmlns:a16="http://schemas.microsoft.com/office/drawing/2014/main" id="{7271F69F-6372-4D92-938C-012638DF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001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런칭 D-6M</a:t>
            </a:r>
          </a:p>
        </p:txBody>
      </p:sp>
      <p:sp>
        <p:nvSpPr>
          <p:cNvPr id="11" name="tag-2">
            <a:extLst xmlns:a="http://schemas.openxmlformats.org/drawingml/2006/main">
              <a:ext uri="{FF2B5EF4-FFF2-40B4-BE49-F238E27FC236}">
                <a16:creationId xmlns:a16="http://schemas.microsoft.com/office/drawing/2014/main" id="{13006991-AB93-4AFF-AD33-51054B86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573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일본 서비스</a:t>
            </a:r>
          </a:p>
        </p:txBody>
      </p:sp>
      <p:sp>
        <p:nvSpPr>
          <p:cNvPr id="12" name="tag-3">
            <a:extLst xmlns:a="http://schemas.openxmlformats.org/drawingml/2006/main">
              <a:ext uri="{FF2B5EF4-FFF2-40B4-BE49-F238E27FC236}">
                <a16:creationId xmlns:a16="http://schemas.microsoft.com/office/drawing/2014/main" id="{5D81AF81-23E5-403A-86BD-3DC97EB1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 PM</a:t>
            </a:r>
          </a:p>
        </p:txBody>
      </p:sp>
      <p:sp>
        <p:nvSpPr>
          <p:cNvPr id="13" name="scope-title">
            <a:extLst xmlns:a="http://schemas.openxmlformats.org/drawingml/2006/main">
              <a:ext uri="{FF2B5EF4-FFF2-40B4-BE49-F238E27FC236}">
                <a16:creationId xmlns:a16="http://schemas.microsoft.com/office/drawing/2014/main" id="{6E54867F-4036-471B-B990-F9FE1598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작성 범위</a:t>
            </a:r>
          </a:p>
        </p:txBody>
      </p:sp>
      <p:sp>
        <p:nvSpPr>
          <p:cNvPr id="14" name="scope-note">
            <a:extLst xmlns:a="http://schemas.openxmlformats.org/drawingml/2006/main">
              <a:ext uri="{FF2B5EF4-FFF2-40B4-BE49-F238E27FC236}">
                <a16:creationId xmlns:a16="http://schemas.microsoft.com/office/drawing/2014/main" id="{E2D34601-1E73-4F19-8786-DF5D1D6A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813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실제 경력 서술을 바탕으로 한 임의 로드맵 초안</a:t>
            </a:r>
          </a:p>
        </p:txBody>
      </p:sp>
      <p:sp>
        <p:nvSpPr>
          <p:cNvPr id="15" name="scope-row-1">
            <a:extLst xmlns:a="http://schemas.openxmlformats.org/drawingml/2006/main">
              <a:ext uri="{FF2B5EF4-FFF2-40B4-BE49-F238E27FC236}">
                <a16:creationId xmlns:a16="http://schemas.microsoft.com/office/drawing/2014/main" id="{D901AC89-D41E-4707-96A9-09350985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6" name="scope-label-1">
            <a:extLst xmlns:a="http://schemas.openxmlformats.org/drawingml/2006/main">
              <a:ext uri="{FF2B5EF4-FFF2-40B4-BE49-F238E27FC236}">
                <a16:creationId xmlns:a16="http://schemas.microsoft.com/office/drawing/2014/main" id="{20E3B0BB-46D1-4EFB-8251-6CE6F500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목표</a:t>
            </a:r>
          </a:p>
        </p:txBody>
      </p:sp>
      <p:sp>
        <p:nvSpPr>
          <p:cNvPr id="17" name="scope-value-1">
            <a:extLst xmlns:a="http://schemas.openxmlformats.org/drawingml/2006/main">
              <a:ext uri="{FF2B5EF4-FFF2-40B4-BE49-F238E27FC236}">
                <a16:creationId xmlns:a16="http://schemas.microsoft.com/office/drawing/2014/main" id="{7DCE4F36-59BA-4B61-B892-32722182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052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일본 런칭 전 6개월간의 준비 과업과 의사결정 흐름 제시</a:t>
            </a:r>
          </a:p>
        </p:txBody>
      </p:sp>
      <p:sp>
        <p:nvSpPr>
          <p:cNvPr id="18" name="scope-row-2">
            <a:extLst xmlns:a="http://schemas.openxmlformats.org/drawingml/2006/main">
              <a:ext uri="{FF2B5EF4-FFF2-40B4-BE49-F238E27FC236}">
                <a16:creationId xmlns:a16="http://schemas.microsoft.com/office/drawing/2014/main" id="{E1C394BD-43EC-437D-8F0C-92DB4DDB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9" name="scope-label-2">
            <a:extLst xmlns:a="http://schemas.openxmlformats.org/drawingml/2006/main">
              <a:ext uri="{FF2B5EF4-FFF2-40B4-BE49-F238E27FC236}">
                <a16:creationId xmlns:a16="http://schemas.microsoft.com/office/drawing/2014/main" id="{63A94C3C-9B5D-42BB-9BDB-9C3E5EDD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핵심 축</a:t>
            </a:r>
          </a:p>
        </p:txBody>
      </p:sp>
      <p:sp>
        <p:nvSpPr>
          <p:cNvPr id="20" name="scope-value-2">
            <a:extLst xmlns:a="http://schemas.openxmlformats.org/drawingml/2006/main">
              <a:ext uri="{FF2B5EF4-FFF2-40B4-BE49-F238E27FC236}">
                <a16:creationId xmlns:a16="http://schemas.microsoft.com/office/drawing/2014/main" id="{8A8C55C6-C1E1-4B2B-BAE3-AB2BF93C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2195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마일스톤 관리, 빌드·버전 통제, QA 안정화, 퍼블리셔 대응</a:t>
            </a:r>
          </a:p>
        </p:txBody>
      </p:sp>
      <p:sp>
        <p:nvSpPr>
          <p:cNvPr id="21" name="scope-row-3">
            <a:extLst xmlns:a="http://schemas.openxmlformats.org/drawingml/2006/main">
              <a:ext uri="{FF2B5EF4-FFF2-40B4-BE49-F238E27FC236}">
                <a16:creationId xmlns:a16="http://schemas.microsoft.com/office/drawing/2014/main" id="{645D2397-DC14-4A9E-AA68-00AB2338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scope-label-3">
            <a:extLst xmlns:a="http://schemas.openxmlformats.org/drawingml/2006/main">
              <a:ext uri="{FF2B5EF4-FFF2-40B4-BE49-F238E27FC236}">
                <a16:creationId xmlns:a16="http://schemas.microsoft.com/office/drawing/2014/main" id="{3ED07AB6-ADDE-4E94-B3E4-B82B3C36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산출물</a:t>
            </a:r>
          </a:p>
        </p:txBody>
      </p:sp>
      <p:sp>
        <p:nvSpPr>
          <p:cNvPr id="23" name="scope-value-3">
            <a:extLst xmlns:a="http://schemas.openxmlformats.org/drawingml/2006/main">
              <a:ext uri="{FF2B5EF4-FFF2-40B4-BE49-F238E27FC236}">
                <a16:creationId xmlns:a16="http://schemas.microsoft.com/office/drawing/2014/main" id="{EAFE7E26-A785-4A0B-BA21-BA4EB41C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339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월별 로드맵, 게이트 기준, 리스크·커뮤니케이션 관리안</a:t>
            </a:r>
          </a:p>
        </p:txBody>
      </p:sp>
      <p:sp>
        <p:nvSpPr>
          <p:cNvPr id="24" name="scope-row-4">
            <a:extLst xmlns:a="http://schemas.openxmlformats.org/drawingml/2006/main">
              <a:ext uri="{FF2B5EF4-FFF2-40B4-BE49-F238E27FC236}">
                <a16:creationId xmlns:a16="http://schemas.microsoft.com/office/drawing/2014/main" id="{3D93DF95-1C3C-47D9-9031-D0C2ADB9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5" name="scope-label-4">
            <a:extLst xmlns:a="http://schemas.openxmlformats.org/drawingml/2006/main">
              <a:ext uri="{FF2B5EF4-FFF2-40B4-BE49-F238E27FC236}">
                <a16:creationId xmlns:a16="http://schemas.microsoft.com/office/drawing/2014/main" id="{730C58EB-F327-4F62-97DC-5F29DD03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전제</a:t>
            </a:r>
          </a:p>
        </p:txBody>
      </p:sp>
      <p:sp>
        <p:nvSpPr>
          <p:cNvPr id="26" name="scope-value-4">
            <a:extLst xmlns:a="http://schemas.openxmlformats.org/drawingml/2006/main">
              <a:ext uri="{FF2B5EF4-FFF2-40B4-BE49-F238E27FC236}">
                <a16:creationId xmlns:a16="http://schemas.microsoft.com/office/drawing/2014/main" id="{04DE913E-8DBC-43D2-B930-E089A1A2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482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상세 일정과 지표는 과제 목적에 맞춘 가정값으로 구성</a:t>
            </a:r>
          </a:p>
        </p:txBody>
      </p:sp>
      <p:sp>
        <p:nvSpPr>
          <p:cNvPr id="27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0F559203-26D9-40E6-B522-173F94C7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경력 근거</a:t>
            </a:r>
          </a:p>
        </p:txBody>
      </p:sp>
      <p:sp>
        <p:nvSpPr>
          <p:cNvPr id="28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9EBEBA66-4D73-4B27-9377-0D59A5B0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9" name="evidence-bar-1">
            <a:extLst xmlns:a="http://schemas.openxmlformats.org/drawingml/2006/main">
              <a:ext uri="{FF2B5EF4-FFF2-40B4-BE49-F238E27FC236}">
                <a16:creationId xmlns:a16="http://schemas.microsoft.com/office/drawing/2014/main" id="{037484AB-83E7-489B-8045-8A964E78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0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73A19240-579C-468D-8B72-CB8853DF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HIT2 일본 서비스 개발 PM</a:t>
            </a:r>
          </a:p>
        </p:txBody>
      </p:sp>
      <p:sp>
        <p:nvSpPr>
          <p:cNvPr id="31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E1AA3CAB-41CD-4244-9DEB-204D7731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런칭 운영을 담당 PM 관점에서 통합 관리</a:t>
            </a:r>
          </a:p>
        </p:txBody>
      </p:sp>
      <p:sp>
        <p:nvSpPr>
          <p:cNvPr id="32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184F8552-8CB7-4D79-9B5C-9C9FDA38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3" name="evidence-bar-2">
            <a:extLst xmlns:a="http://schemas.openxmlformats.org/drawingml/2006/main">
              <a:ext uri="{FF2B5EF4-FFF2-40B4-BE49-F238E27FC236}">
                <a16:creationId xmlns:a16="http://schemas.microsoft.com/office/drawing/2014/main" id="{193B2708-8307-40D1-AADD-F6D1E291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4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EDFB530F-DBA5-4C89-8CDC-FC831453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마일스톤 및 배포 일정 총괄</a:t>
            </a:r>
          </a:p>
        </p:txBody>
      </p:sp>
      <p:sp>
        <p:nvSpPr>
          <p:cNvPr id="35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4F83195D-5DDC-4DB0-BA4D-32F93DCC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19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일정·범위·릴리즈 기준을 연결해 관리</a:t>
            </a:r>
          </a:p>
        </p:txBody>
      </p:sp>
      <p:sp>
        <p:nvSpPr>
          <p:cNvPr id="36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2AEE5DA7-235C-4D0F-B071-D543CD29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7" name="evidence-bar-3">
            <a:extLst xmlns:a="http://schemas.openxmlformats.org/drawingml/2006/main">
              <a:ext uri="{FF2B5EF4-FFF2-40B4-BE49-F238E27FC236}">
                <a16:creationId xmlns:a16="http://schemas.microsoft.com/office/drawing/2014/main" id="{95DC26A0-75AE-4942-A3BB-C4033B3A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8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A20F3B48-C6D1-4D48-A1B2-9E3CBC9C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Perforce 기반 빌드·버전 관리</a:t>
            </a:r>
          </a:p>
        </p:txBody>
      </p:sp>
      <p:sp>
        <p:nvSpPr>
          <p:cNvPr id="39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178CF731-7961-4A2E-9838-8C0D12F5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업데이트 안정성을 확보하는 릴리즈 체계 경험</a:t>
            </a:r>
          </a:p>
        </p:txBody>
      </p:sp>
    </p:spTree>
    <p:extLst>
      <p:ext uri="{BB962C8B-B14F-4D97-AF65-F5344CB8AC3E}">
        <p14:creationId xmlns:p14="http://schemas.microsoft.com/office/powerpoint/2010/main" val="3115286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D008C26C-49E7-4593-9F48-D58CAF30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B5C8DC5C-93FD-4042-A2B0-3961D117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1F275C3-74A7-4AF5-8139-95F8F613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SIX-MONTH LAUNCH ROADMAP | PAGE 02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0549C1F4-758F-4951-8282-F7BFCEEA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FD7992B9-0433-4F62-8728-ED33BD94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02</a:t>
            </a:r>
          </a:p>
        </p:txBody>
      </p:sp>
      <p:sp>
        <p:nvSpPr>
          <p:cNvPr id="6" name="title-02">
            <a:extLst xmlns:a="http://schemas.openxmlformats.org/drawingml/2006/main">
              <a:ext uri="{FF2B5EF4-FFF2-40B4-BE49-F238E27FC236}">
                <a16:creationId xmlns:a16="http://schemas.microsoft.com/office/drawing/2014/main" id="{9760BE5F-8F71-4A80-8F1D-3E9F4220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6개월 런칭 준비는 마일스톤과 릴리즈 기준을 함께 맞춥니다</a:t>
            </a:r>
          </a:p>
        </p:txBody>
      </p:sp>
      <p:sp>
        <p:nvSpPr>
          <p:cNvPr id="7" name="subtitle-02">
            <a:extLst xmlns:a="http://schemas.openxmlformats.org/drawingml/2006/main">
              <a:ext uri="{FF2B5EF4-FFF2-40B4-BE49-F238E27FC236}">
                <a16:creationId xmlns:a16="http://schemas.microsoft.com/office/drawing/2014/main" id="{A789E998-CEA2-4A01-B99C-D0F28577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PM 관점에서는 일정·범위 통제, 빌드·버전 관리, QA, 퍼블리셔 대응을 같은 흐름으로 관리해야 합니다.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6A73C8FB-F0C9-400A-B403-24BC255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0425"/>
            <a:ext cx="996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3B55"/>
          </a:solidFill>
          <a:ln xmlns:a="http://schemas.openxmlformats.org/drawingml/2006/main" w="0">
            <a:solidFill>
              <a:srgbClr val="2F3B55"/>
            </a:solidFill>
            <a:prstDash val="solid"/>
          </a:ln>
        </p:spPr>
      </p:sp>
      <p:sp>
        <p:nvSpPr>
          <p:cNvPr id="9" name="timeline-card-1">
            <a:extLst xmlns:a="http://schemas.openxmlformats.org/drawingml/2006/main">
              <a:ext uri="{FF2B5EF4-FFF2-40B4-BE49-F238E27FC236}">
                <a16:creationId xmlns:a16="http://schemas.microsoft.com/office/drawing/2014/main" id="{50AD8E23-E918-49D5-9ABC-9EB42BA3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timeline-bar-1">
            <a:extLst xmlns:a="http://schemas.openxmlformats.org/drawingml/2006/main">
              <a:ext uri="{FF2B5EF4-FFF2-40B4-BE49-F238E27FC236}">
                <a16:creationId xmlns:a16="http://schemas.microsoft.com/office/drawing/2014/main" id="{21205AC0-C031-4FC5-AD4D-DDA92725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timeline-month-1">
            <a:extLst xmlns:a="http://schemas.openxmlformats.org/drawingml/2006/main">
              <a:ext uri="{FF2B5EF4-FFF2-40B4-BE49-F238E27FC236}">
                <a16:creationId xmlns:a16="http://schemas.microsoft.com/office/drawing/2014/main" id="{93E7E5F9-A5C5-428C-ABCB-BA7684FB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8D9"/>
                </a:solidFill>
              </a:defRPr>
            </a:pPr>
            <a:r>
              <a:rPr sz="1275" b="1">
                <a:solidFill>
                  <a:srgbClr val="00B8D9"/>
                </a:solidFill>
              </a:rPr>
              <a:t>D-6M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2DC829D3-0EF0-424C-AE94-E148AC32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범위·일정 확정</a:t>
            </a:r>
          </a:p>
        </p:txBody>
      </p:sp>
      <p:sp>
        <p:nvSpPr>
          <p:cNvPr id="13" name="timeline-dot-1-1">
            <a:extLst xmlns:a="http://schemas.openxmlformats.org/drawingml/2006/main">
              <a:ext uri="{FF2B5EF4-FFF2-40B4-BE49-F238E27FC236}">
                <a16:creationId xmlns:a16="http://schemas.microsoft.com/office/drawing/2014/main" id="{FE9A58D4-DE9F-4678-A1CA-A3A2ACE7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4" name="timeline-item-1-1">
            <a:extLst xmlns:a="http://schemas.openxmlformats.org/drawingml/2006/main">
              <a:ext uri="{FF2B5EF4-FFF2-40B4-BE49-F238E27FC236}">
                <a16:creationId xmlns:a16="http://schemas.microsoft.com/office/drawing/2014/main" id="{378E6B1D-0092-40FB-90B8-F5C2DF3E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 서비스 범위</a:t>
            </a:r>
          </a:p>
        </p:txBody>
      </p:sp>
      <p:sp>
        <p:nvSpPr>
          <p:cNvPr id="15" name="timeline-dot-1-2">
            <a:extLst xmlns:a="http://schemas.openxmlformats.org/drawingml/2006/main">
              <a:ext uri="{FF2B5EF4-FFF2-40B4-BE49-F238E27FC236}">
                <a16:creationId xmlns:a16="http://schemas.microsoft.com/office/drawing/2014/main" id="{CE34D2C6-F879-427F-A0A6-C46C3E7C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6" name="timeline-item-1-2">
            <a:extLst xmlns:a="http://schemas.openxmlformats.org/drawingml/2006/main">
              <a:ext uri="{FF2B5EF4-FFF2-40B4-BE49-F238E27FC236}">
                <a16:creationId xmlns:a16="http://schemas.microsoft.com/office/drawing/2014/main" id="{AC38438E-16D0-4F94-B936-47835CF3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마일스톤 기준</a:t>
            </a:r>
          </a:p>
        </p:txBody>
      </p:sp>
      <p:sp>
        <p:nvSpPr>
          <p:cNvPr id="17" name="timeline-dot-1-3">
            <a:extLst xmlns:a="http://schemas.openxmlformats.org/drawingml/2006/main">
              <a:ext uri="{FF2B5EF4-FFF2-40B4-BE49-F238E27FC236}">
                <a16:creationId xmlns:a16="http://schemas.microsoft.com/office/drawing/2014/main" id="{34AEFCB3-8161-4D94-BB2C-1334C47B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8" name="timeline-item-1-3">
            <a:extLst xmlns:a="http://schemas.openxmlformats.org/drawingml/2006/main">
              <a:ext uri="{FF2B5EF4-FFF2-40B4-BE49-F238E27FC236}">
                <a16:creationId xmlns:a16="http://schemas.microsoft.com/office/drawing/2014/main" id="{8C831A34-4CD0-4746-BAC6-1CBF51F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브랜치 운영 원칙</a:t>
            </a:r>
          </a:p>
        </p:txBody>
      </p:sp>
      <p:sp>
        <p:nvSpPr>
          <p:cNvPr id="19" name="timeline-card-2">
            <a:extLst xmlns:a="http://schemas.openxmlformats.org/drawingml/2006/main">
              <a:ext uri="{FF2B5EF4-FFF2-40B4-BE49-F238E27FC236}">
                <a16:creationId xmlns:a16="http://schemas.microsoft.com/office/drawing/2014/main" id="{443459AC-8B53-44D6-A78B-B270067A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timeline-bar-2">
            <a:extLst xmlns:a="http://schemas.openxmlformats.org/drawingml/2006/main">
              <a:ext uri="{FF2B5EF4-FFF2-40B4-BE49-F238E27FC236}">
                <a16:creationId xmlns:a16="http://schemas.microsoft.com/office/drawing/2014/main" id="{ED1A2207-CE81-44E9-88DD-68F732E3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timeline-month-2">
            <a:extLst xmlns:a="http://schemas.openxmlformats.org/drawingml/2006/main">
              <a:ext uri="{FF2B5EF4-FFF2-40B4-BE49-F238E27FC236}">
                <a16:creationId xmlns:a16="http://schemas.microsoft.com/office/drawing/2014/main" id="{D340F70A-D544-4D48-AD9B-D815581C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D-5M</a:t>
            </a:r>
          </a:p>
        </p:txBody>
      </p:sp>
      <p:sp>
        <p:nvSpPr>
          <p:cNvPr id="22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A8713D08-1DD6-4DE5-9B22-7AE2A5B8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개발·현지화 반영</a:t>
            </a:r>
          </a:p>
        </p:txBody>
      </p:sp>
      <p:sp>
        <p:nvSpPr>
          <p:cNvPr id="23" name="timeline-dot-2-1">
            <a:extLst xmlns:a="http://schemas.openxmlformats.org/drawingml/2006/main">
              <a:ext uri="{FF2B5EF4-FFF2-40B4-BE49-F238E27FC236}">
                <a16:creationId xmlns:a16="http://schemas.microsoft.com/office/drawing/2014/main" id="{BBB1DBA0-9B84-4D8A-8078-99349BFE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4" name="timeline-item-2-1">
            <a:extLst xmlns:a="http://schemas.openxmlformats.org/drawingml/2006/main">
              <a:ext uri="{FF2B5EF4-FFF2-40B4-BE49-F238E27FC236}">
                <a16:creationId xmlns:a16="http://schemas.microsoft.com/office/drawing/2014/main" id="{9F81B927-1AEF-41A8-BBBE-2CFE255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번역 리소스 반영</a:t>
            </a:r>
          </a:p>
        </p:txBody>
      </p:sp>
      <p:sp>
        <p:nvSpPr>
          <p:cNvPr id="25" name="timeline-dot-2-2">
            <a:extLst xmlns:a="http://schemas.openxmlformats.org/drawingml/2006/main">
              <a:ext uri="{FF2B5EF4-FFF2-40B4-BE49-F238E27FC236}">
                <a16:creationId xmlns:a16="http://schemas.microsoft.com/office/drawing/2014/main" id="{BD9D03A1-701A-41F1-9703-E4F55031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6" name="timeline-item-2-2">
            <a:extLst xmlns:a="http://schemas.openxmlformats.org/drawingml/2006/main">
              <a:ext uri="{FF2B5EF4-FFF2-40B4-BE49-F238E27FC236}">
                <a16:creationId xmlns:a16="http://schemas.microsoft.com/office/drawing/2014/main" id="{623B4C2F-4B5C-493F-AD32-BE2A99B2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요청 정리</a:t>
            </a:r>
          </a:p>
        </p:txBody>
      </p:sp>
      <p:sp>
        <p:nvSpPr>
          <p:cNvPr id="27" name="timeline-dot-2-3">
            <a:extLst xmlns:a="http://schemas.openxmlformats.org/drawingml/2006/main">
              <a:ext uri="{FF2B5EF4-FFF2-40B4-BE49-F238E27FC236}">
                <a16:creationId xmlns:a16="http://schemas.microsoft.com/office/drawing/2014/main" id="{9667D6D9-BF9B-49E4-86DD-16425A1B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8" name="timeline-item-2-3">
            <a:extLst xmlns:a="http://schemas.openxmlformats.org/drawingml/2006/main">
              <a:ext uri="{FF2B5EF4-FFF2-40B4-BE49-F238E27FC236}">
                <a16:creationId xmlns:a16="http://schemas.microsoft.com/office/drawing/2014/main" id="{52B431F4-B0F5-460B-AAB7-A065E6D5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개발 마감 기준</a:t>
            </a:r>
          </a:p>
        </p:txBody>
      </p:sp>
      <p:sp>
        <p:nvSpPr>
          <p:cNvPr id="29" name="timeline-card-3">
            <a:extLst xmlns:a="http://schemas.openxmlformats.org/drawingml/2006/main">
              <a:ext uri="{FF2B5EF4-FFF2-40B4-BE49-F238E27FC236}">
                <a16:creationId xmlns:a16="http://schemas.microsoft.com/office/drawing/2014/main" id="{9C2870AC-46E6-4B04-B6E2-72ABFB60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0" name="timeline-bar-3">
            <a:extLst xmlns:a="http://schemas.openxmlformats.org/drawingml/2006/main">
              <a:ext uri="{FF2B5EF4-FFF2-40B4-BE49-F238E27FC236}">
                <a16:creationId xmlns:a16="http://schemas.microsoft.com/office/drawing/2014/main" id="{898122BB-EAFF-4625-A0DC-241F4A42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1" name="timeline-month-3">
            <a:extLst xmlns:a="http://schemas.openxmlformats.org/drawingml/2006/main">
              <a:ext uri="{FF2B5EF4-FFF2-40B4-BE49-F238E27FC236}">
                <a16:creationId xmlns:a16="http://schemas.microsoft.com/office/drawing/2014/main" id="{3F917B4B-531F-4EE4-9CE2-5DEEBF49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D-4M</a:t>
            </a:r>
          </a:p>
        </p:txBody>
      </p:sp>
      <p:sp>
        <p:nvSpPr>
          <p:cNvPr id="32" name="timeline-title-3">
            <a:extLst xmlns:a="http://schemas.openxmlformats.org/drawingml/2006/main">
              <a:ext uri="{FF2B5EF4-FFF2-40B4-BE49-F238E27FC236}">
                <a16:creationId xmlns:a16="http://schemas.microsoft.com/office/drawing/2014/main" id="{916539F5-C754-4A2C-A49F-C15E8CC8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QA 진입</a:t>
            </a:r>
          </a:p>
        </p:txBody>
      </p:sp>
      <p:sp>
        <p:nvSpPr>
          <p:cNvPr id="33" name="timeline-dot-3-1">
            <a:extLst xmlns:a="http://schemas.openxmlformats.org/drawingml/2006/main">
              <a:ext uri="{FF2B5EF4-FFF2-40B4-BE49-F238E27FC236}">
                <a16:creationId xmlns:a16="http://schemas.microsoft.com/office/drawing/2014/main" id="{D8EF4228-09EB-405A-8BAA-11ACDEA9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4" name="timeline-item-3-1">
            <a:extLst xmlns:a="http://schemas.openxmlformats.org/drawingml/2006/main">
              <a:ext uri="{FF2B5EF4-FFF2-40B4-BE49-F238E27FC236}">
                <a16:creationId xmlns:a16="http://schemas.microsoft.com/office/drawing/2014/main" id="{D693FF3B-3B2A-43D6-A388-A6B67494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일본향 빌드 점검</a:t>
            </a:r>
          </a:p>
        </p:txBody>
      </p:sp>
      <p:sp>
        <p:nvSpPr>
          <p:cNvPr id="35" name="timeline-dot-3-2">
            <a:extLst xmlns:a="http://schemas.openxmlformats.org/drawingml/2006/main">
              <a:ext uri="{FF2B5EF4-FFF2-40B4-BE49-F238E27FC236}">
                <a16:creationId xmlns:a16="http://schemas.microsoft.com/office/drawing/2014/main" id="{8B3E188F-AC56-4563-91F0-4A1F430E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6" name="timeline-item-3-2">
            <a:extLst xmlns:a="http://schemas.openxmlformats.org/drawingml/2006/main">
              <a:ext uri="{FF2B5EF4-FFF2-40B4-BE49-F238E27FC236}">
                <a16:creationId xmlns:a16="http://schemas.microsoft.com/office/drawing/2014/main" id="{63BB9DFC-9A19-4BE3-9453-5E5ABA76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이슈 등급 분류</a:t>
            </a:r>
          </a:p>
        </p:txBody>
      </p:sp>
      <p:sp>
        <p:nvSpPr>
          <p:cNvPr id="37" name="timeline-dot-3-3">
            <a:extLst xmlns:a="http://schemas.openxmlformats.org/drawingml/2006/main">
              <a:ext uri="{FF2B5EF4-FFF2-40B4-BE49-F238E27FC236}">
                <a16:creationId xmlns:a16="http://schemas.microsoft.com/office/drawing/2014/main" id="{A1236104-CDC5-42DB-9FE5-CCA7F259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8" name="timeline-item-3-3">
            <a:extLst xmlns:a="http://schemas.openxmlformats.org/drawingml/2006/main">
              <a:ext uri="{FF2B5EF4-FFF2-40B4-BE49-F238E27FC236}">
                <a16:creationId xmlns:a16="http://schemas.microsoft.com/office/drawing/2014/main" id="{D39C3BC7-ACFA-4841-9022-82C3A1BA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수정 우선순위</a:t>
            </a:r>
          </a:p>
        </p:txBody>
      </p:sp>
      <p:sp>
        <p:nvSpPr>
          <p:cNvPr id="39" name="timeline-card-4">
            <a:extLst xmlns:a="http://schemas.openxmlformats.org/drawingml/2006/main">
              <a:ext uri="{FF2B5EF4-FFF2-40B4-BE49-F238E27FC236}">
                <a16:creationId xmlns:a16="http://schemas.microsoft.com/office/drawing/2014/main" id="{B4D14956-6D5C-4C90-966C-6E7BB78F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0" name="timeline-bar-4">
            <a:extLst xmlns:a="http://schemas.openxmlformats.org/drawingml/2006/main">
              <a:ext uri="{FF2B5EF4-FFF2-40B4-BE49-F238E27FC236}">
                <a16:creationId xmlns:a16="http://schemas.microsoft.com/office/drawing/2014/main" id="{296E9C69-E527-4D83-A2C7-9336D93E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41" name="timeline-month-4">
            <a:extLst xmlns:a="http://schemas.openxmlformats.org/drawingml/2006/main">
              <a:ext uri="{FF2B5EF4-FFF2-40B4-BE49-F238E27FC236}">
                <a16:creationId xmlns:a16="http://schemas.microsoft.com/office/drawing/2014/main" id="{0F448554-0161-4E25-A3BF-8975EFC9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BD9E8"/>
                </a:solidFill>
              </a:defRPr>
            </a:pPr>
            <a:r>
              <a:rPr sz="1275" b="1">
                <a:solidFill>
                  <a:srgbClr val="8BD9E8"/>
                </a:solidFill>
              </a:rPr>
              <a:t>D-3M</a:t>
            </a:r>
          </a:p>
        </p:txBody>
      </p:sp>
      <p:sp>
        <p:nvSpPr>
          <p:cNvPr id="42" name="timeline-title-4">
            <a:extLst xmlns:a="http://schemas.openxmlformats.org/drawingml/2006/main">
              <a:ext uri="{FF2B5EF4-FFF2-40B4-BE49-F238E27FC236}">
                <a16:creationId xmlns:a16="http://schemas.microsoft.com/office/drawing/2014/main" id="{DA72E42F-20E8-4C6C-8EED-DCD0E918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검수·CBT 준비</a:t>
            </a:r>
          </a:p>
        </p:txBody>
      </p:sp>
      <p:sp>
        <p:nvSpPr>
          <p:cNvPr id="43" name="timeline-dot-4-1">
            <a:extLst xmlns:a="http://schemas.openxmlformats.org/drawingml/2006/main">
              <a:ext uri="{FF2B5EF4-FFF2-40B4-BE49-F238E27FC236}">
                <a16:creationId xmlns:a16="http://schemas.microsoft.com/office/drawing/2014/main" id="{C14ACAC3-5DFA-4021-B923-30C87124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4" name="timeline-item-4-1">
            <a:extLst xmlns:a="http://schemas.openxmlformats.org/drawingml/2006/main">
              <a:ext uri="{FF2B5EF4-FFF2-40B4-BE49-F238E27FC236}">
                <a16:creationId xmlns:a16="http://schemas.microsoft.com/office/drawing/2014/main" id="{570D08F0-AF79-430C-B45F-20E58625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검수 대응</a:t>
            </a:r>
          </a:p>
        </p:txBody>
      </p:sp>
      <p:sp>
        <p:nvSpPr>
          <p:cNvPr id="45" name="timeline-dot-4-2">
            <a:extLst xmlns:a="http://schemas.openxmlformats.org/drawingml/2006/main">
              <a:ext uri="{FF2B5EF4-FFF2-40B4-BE49-F238E27FC236}">
                <a16:creationId xmlns:a16="http://schemas.microsoft.com/office/drawing/2014/main" id="{72A4BF9D-26D5-4376-82C3-B42C0228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6" name="timeline-item-4-2">
            <a:extLst xmlns:a="http://schemas.openxmlformats.org/drawingml/2006/main">
              <a:ext uri="{FF2B5EF4-FFF2-40B4-BE49-F238E27FC236}">
                <a16:creationId xmlns:a16="http://schemas.microsoft.com/office/drawing/2014/main" id="{AD0F8898-BBD7-4BCE-BE84-2C826B2E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CBT 빌드 기준</a:t>
            </a:r>
          </a:p>
        </p:txBody>
      </p:sp>
      <p:sp>
        <p:nvSpPr>
          <p:cNvPr id="47" name="timeline-dot-4-3">
            <a:extLst xmlns:a="http://schemas.openxmlformats.org/drawingml/2006/main">
              <a:ext uri="{FF2B5EF4-FFF2-40B4-BE49-F238E27FC236}">
                <a16:creationId xmlns:a16="http://schemas.microsoft.com/office/drawing/2014/main" id="{E32EF289-7BED-4765-A1B0-278093DE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8" name="timeline-item-4-3">
            <a:extLst xmlns:a="http://schemas.openxmlformats.org/drawingml/2006/main">
              <a:ext uri="{FF2B5EF4-FFF2-40B4-BE49-F238E27FC236}">
                <a16:creationId xmlns:a16="http://schemas.microsoft.com/office/drawing/2014/main" id="{E2677658-2AD6-4000-AE32-15169054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운영 시나리오</a:t>
            </a:r>
          </a:p>
        </p:txBody>
      </p:sp>
      <p:sp>
        <p:nvSpPr>
          <p:cNvPr id="49" name="timeline-card-5">
            <a:extLst xmlns:a="http://schemas.openxmlformats.org/drawingml/2006/main">
              <a:ext uri="{FF2B5EF4-FFF2-40B4-BE49-F238E27FC236}">
                <a16:creationId xmlns:a16="http://schemas.microsoft.com/office/drawing/2014/main" id="{A9D66DAB-0362-4878-832A-9ED3FE64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0" name="timeline-bar-5">
            <a:extLst xmlns:a="http://schemas.openxmlformats.org/drawingml/2006/main">
              <a:ext uri="{FF2B5EF4-FFF2-40B4-BE49-F238E27FC236}">
                <a16:creationId xmlns:a16="http://schemas.microsoft.com/office/drawing/2014/main" id="{4A3F7C06-32FD-4CF0-8FA4-C7497142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1" name="timeline-month-5">
            <a:extLst xmlns:a="http://schemas.openxmlformats.org/drawingml/2006/main">
              <a:ext uri="{FF2B5EF4-FFF2-40B4-BE49-F238E27FC236}">
                <a16:creationId xmlns:a16="http://schemas.microsoft.com/office/drawing/2014/main" id="{4E16BD14-9B21-418B-83DD-A902C56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D-2M</a:t>
            </a:r>
          </a:p>
        </p:txBody>
      </p:sp>
      <p:sp>
        <p:nvSpPr>
          <p:cNvPr id="52" name="timeline-title-5">
            <a:extLst xmlns:a="http://schemas.openxmlformats.org/drawingml/2006/main">
              <a:ext uri="{FF2B5EF4-FFF2-40B4-BE49-F238E27FC236}">
                <a16:creationId xmlns:a16="http://schemas.microsoft.com/office/drawing/2014/main" id="{D003105F-21BC-4943-938C-9D9DCCD3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후보 빌드 안정화</a:t>
            </a:r>
          </a:p>
        </p:txBody>
      </p:sp>
      <p:sp>
        <p:nvSpPr>
          <p:cNvPr id="53" name="timeline-dot-5-1">
            <a:extLst xmlns:a="http://schemas.openxmlformats.org/drawingml/2006/main">
              <a:ext uri="{FF2B5EF4-FFF2-40B4-BE49-F238E27FC236}">
                <a16:creationId xmlns:a16="http://schemas.microsoft.com/office/drawing/2014/main" id="{A3328863-8ABF-46B4-BC08-5D536D33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4" name="timeline-item-5-1">
            <a:extLst xmlns:a="http://schemas.openxmlformats.org/drawingml/2006/main">
              <a:ext uri="{FF2B5EF4-FFF2-40B4-BE49-F238E27FC236}">
                <a16:creationId xmlns:a16="http://schemas.microsoft.com/office/drawing/2014/main" id="{C73D93CB-2EC1-4850-82BB-19F9CE5B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릴리즈 후보 관리</a:t>
            </a:r>
          </a:p>
        </p:txBody>
      </p:sp>
      <p:sp>
        <p:nvSpPr>
          <p:cNvPr id="55" name="timeline-dot-5-2">
            <a:extLst xmlns:a="http://schemas.openxmlformats.org/drawingml/2006/main">
              <a:ext uri="{FF2B5EF4-FFF2-40B4-BE49-F238E27FC236}">
                <a16:creationId xmlns:a16="http://schemas.microsoft.com/office/drawing/2014/main" id="{C302F47F-BB9F-4379-97B6-FF83396D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6" name="timeline-item-5-2">
            <a:extLst xmlns:a="http://schemas.openxmlformats.org/drawingml/2006/main">
              <a:ext uri="{FF2B5EF4-FFF2-40B4-BE49-F238E27FC236}">
                <a16:creationId xmlns:a16="http://schemas.microsoft.com/office/drawing/2014/main" id="{F7E1DD83-02DD-4C95-A7A8-8A2F5B93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잔여 이슈 추적</a:t>
            </a:r>
          </a:p>
        </p:txBody>
      </p:sp>
      <p:sp>
        <p:nvSpPr>
          <p:cNvPr id="57" name="timeline-dot-5-3">
            <a:extLst xmlns:a="http://schemas.openxmlformats.org/drawingml/2006/main">
              <a:ext uri="{FF2B5EF4-FFF2-40B4-BE49-F238E27FC236}">
                <a16:creationId xmlns:a16="http://schemas.microsoft.com/office/drawing/2014/main" id="{F1D56A04-667B-40AE-BFA1-55825E2D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8" name="timeline-item-5-3">
            <a:extLst xmlns:a="http://schemas.openxmlformats.org/drawingml/2006/main">
              <a:ext uri="{FF2B5EF4-FFF2-40B4-BE49-F238E27FC236}">
                <a16:creationId xmlns:a16="http://schemas.microsoft.com/office/drawing/2014/main" id="{60770133-819C-4AA1-B205-B5A8A961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심의·스토어 체크</a:t>
            </a:r>
          </a:p>
        </p:txBody>
      </p:sp>
      <p:sp>
        <p:nvSpPr>
          <p:cNvPr id="59" name="timeline-card-6">
            <a:extLst xmlns:a="http://schemas.openxmlformats.org/drawingml/2006/main">
              <a:ext uri="{FF2B5EF4-FFF2-40B4-BE49-F238E27FC236}">
                <a16:creationId xmlns:a16="http://schemas.microsoft.com/office/drawing/2014/main" id="{15290961-8E24-4462-A65D-2F028CEE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60" name="timeline-bar-6">
            <a:extLst xmlns:a="http://schemas.openxmlformats.org/drawingml/2006/main">
              <a:ext uri="{FF2B5EF4-FFF2-40B4-BE49-F238E27FC236}">
                <a16:creationId xmlns:a16="http://schemas.microsoft.com/office/drawing/2014/main" id="{38EB7C6D-BC0C-4179-ADF7-15EBF4A8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1" name="timeline-month-6">
            <a:extLst xmlns:a="http://schemas.openxmlformats.org/drawingml/2006/main">
              <a:ext uri="{FF2B5EF4-FFF2-40B4-BE49-F238E27FC236}">
                <a16:creationId xmlns:a16="http://schemas.microsoft.com/office/drawing/2014/main" id="{3406176A-40B7-4A4F-8DA0-29A711F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D-1M</a:t>
            </a:r>
          </a:p>
        </p:txBody>
      </p:sp>
      <p:sp>
        <p:nvSpPr>
          <p:cNvPr id="62" name="timeline-title-6">
            <a:extLst xmlns:a="http://schemas.openxmlformats.org/drawingml/2006/main">
              <a:ext uri="{FF2B5EF4-FFF2-40B4-BE49-F238E27FC236}">
                <a16:creationId xmlns:a16="http://schemas.microsoft.com/office/drawing/2014/main" id="{F8B50DD9-E9C0-404B-AB7A-A60BA1C8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Live 릴리즈 준비</a:t>
            </a:r>
          </a:p>
        </p:txBody>
      </p:sp>
      <p:sp>
        <p:nvSpPr>
          <p:cNvPr id="63" name="timeline-dot-6-1">
            <a:extLst xmlns:a="http://schemas.openxmlformats.org/drawingml/2006/main">
              <a:ext uri="{FF2B5EF4-FFF2-40B4-BE49-F238E27FC236}">
                <a16:creationId xmlns:a16="http://schemas.microsoft.com/office/drawing/2014/main" id="{83F7F17E-DFF5-4602-A433-7EC80410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4" name="timeline-item-6-1">
            <a:extLst xmlns:a="http://schemas.openxmlformats.org/drawingml/2006/main">
              <a:ext uri="{FF2B5EF4-FFF2-40B4-BE49-F238E27FC236}">
                <a16:creationId xmlns:a16="http://schemas.microsoft.com/office/drawing/2014/main" id="{CF434223-636B-4CFF-BBF6-B4A450BF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배포 리허설</a:t>
            </a:r>
          </a:p>
        </p:txBody>
      </p:sp>
      <p:sp>
        <p:nvSpPr>
          <p:cNvPr id="65" name="timeline-dot-6-2">
            <a:extLst xmlns:a="http://schemas.openxmlformats.org/drawingml/2006/main">
              <a:ext uri="{FF2B5EF4-FFF2-40B4-BE49-F238E27FC236}">
                <a16:creationId xmlns:a16="http://schemas.microsoft.com/office/drawing/2014/main" id="{E5F42866-D2C3-4A9C-909E-4CD3FFA4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6" name="timeline-item-6-2">
            <a:extLst xmlns:a="http://schemas.openxmlformats.org/drawingml/2006/main">
              <a:ext uri="{FF2B5EF4-FFF2-40B4-BE49-F238E27FC236}">
                <a16:creationId xmlns:a16="http://schemas.microsoft.com/office/drawing/2014/main" id="{444BF3D4-9B1D-486F-BF7E-3ACDE7EE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장애 대응 플랜</a:t>
            </a:r>
          </a:p>
        </p:txBody>
      </p:sp>
      <p:sp>
        <p:nvSpPr>
          <p:cNvPr id="67" name="timeline-dot-6-3">
            <a:extLst xmlns:a="http://schemas.openxmlformats.org/drawingml/2006/main">
              <a:ext uri="{FF2B5EF4-FFF2-40B4-BE49-F238E27FC236}">
                <a16:creationId xmlns:a16="http://schemas.microsoft.com/office/drawing/2014/main" id="{49B73551-D3AD-469F-837F-9F061FB7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8" name="timeline-item-6-3">
            <a:extLst xmlns:a="http://schemas.openxmlformats.org/drawingml/2006/main">
              <a:ext uri="{FF2B5EF4-FFF2-40B4-BE49-F238E27FC236}">
                <a16:creationId xmlns:a16="http://schemas.microsoft.com/office/drawing/2014/main" id="{01D074BC-7C5F-4480-8E3B-478348A8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런칭 당일 체계</a:t>
            </a:r>
          </a:p>
        </p:txBody>
      </p:sp>
      <p:sp>
        <p:nvSpPr>
          <p:cNvPr id="69" name="management-title">
            <a:extLst xmlns:a="http://schemas.openxmlformats.org/drawingml/2006/main">
              <a:ext uri="{FF2B5EF4-FFF2-40B4-BE49-F238E27FC236}">
                <a16:creationId xmlns:a16="http://schemas.microsoft.com/office/drawing/2014/main" id="{81FD49B8-6E8B-4979-A9A3-BBDB8F8F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PM 관리 포인트</a:t>
            </a:r>
          </a:p>
        </p:txBody>
      </p:sp>
      <p:sp>
        <p:nvSpPr>
          <p:cNvPr id="70" name="management-note">
            <a:extLst xmlns:a="http://schemas.openxmlformats.org/drawingml/2006/main">
              <a:ext uri="{FF2B5EF4-FFF2-40B4-BE49-F238E27FC236}">
                <a16:creationId xmlns:a16="http://schemas.microsoft.com/office/drawing/2014/main" id="{F2BF0368-45DB-4324-810D-9BB18072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67275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마일스톤별 완료 기준을 두고, 빌드·버전·QA·퍼블리셔 대응을 함께 추적합니다.</a:t>
            </a:r>
          </a:p>
        </p:txBody>
      </p:sp>
      <p:sp>
        <p:nvSpPr>
          <p:cNvPr id="71" name="mgmt-card-1">
            <a:extLst xmlns:a="http://schemas.openxmlformats.org/drawingml/2006/main">
              <a:ext uri="{FF2B5EF4-FFF2-40B4-BE49-F238E27FC236}">
                <a16:creationId xmlns:a16="http://schemas.microsoft.com/office/drawing/2014/main" id="{214330EA-8D20-4A58-BF4D-9198743E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2" name="mgmt-bar-1">
            <a:extLst xmlns:a="http://schemas.openxmlformats.org/drawingml/2006/main">
              <a:ext uri="{FF2B5EF4-FFF2-40B4-BE49-F238E27FC236}">
                <a16:creationId xmlns:a16="http://schemas.microsoft.com/office/drawing/2014/main" id="{5B12E241-16BC-4C4F-8FE8-A9FDEF30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73" name="mgmt-label-1">
            <a:extLst xmlns:a="http://schemas.openxmlformats.org/drawingml/2006/main">
              <a:ext uri="{FF2B5EF4-FFF2-40B4-BE49-F238E27FC236}">
                <a16:creationId xmlns:a16="http://schemas.microsoft.com/office/drawing/2014/main" id="{F42E2ECB-244E-40D9-BF5D-EFDD728C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마일스톤</a:t>
            </a:r>
          </a:p>
        </p:txBody>
      </p:sp>
      <p:sp>
        <p:nvSpPr>
          <p:cNvPr id="74" name="mgmt-body-1">
            <a:extLst xmlns:a="http://schemas.openxmlformats.org/drawingml/2006/main">
              <a:ext uri="{FF2B5EF4-FFF2-40B4-BE49-F238E27FC236}">
                <a16:creationId xmlns:a16="http://schemas.microsoft.com/office/drawing/2014/main" id="{52794ABA-1CCD-4D6F-A11C-58F1F7B3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 통제 기준 관리</a:t>
            </a:r>
          </a:p>
        </p:txBody>
      </p:sp>
      <p:sp>
        <p:nvSpPr>
          <p:cNvPr id="75" name="mgmt-card-2">
            <a:extLst xmlns:a="http://schemas.openxmlformats.org/drawingml/2006/main">
              <a:ext uri="{FF2B5EF4-FFF2-40B4-BE49-F238E27FC236}">
                <a16:creationId xmlns:a16="http://schemas.microsoft.com/office/drawing/2014/main" id="{DA3EF0D6-CFA6-4C8F-8D14-652F84BF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6" name="mgmt-bar-2">
            <a:extLst xmlns:a="http://schemas.openxmlformats.org/drawingml/2006/main">
              <a:ext uri="{FF2B5EF4-FFF2-40B4-BE49-F238E27FC236}">
                <a16:creationId xmlns:a16="http://schemas.microsoft.com/office/drawing/2014/main" id="{ECCCCFB0-304F-4563-9A03-0FA192DA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7" name="mgmt-label-2">
            <a:extLst xmlns:a="http://schemas.openxmlformats.org/drawingml/2006/main">
              <a:ext uri="{FF2B5EF4-FFF2-40B4-BE49-F238E27FC236}">
                <a16:creationId xmlns:a16="http://schemas.microsoft.com/office/drawing/2014/main" id="{9380BBCB-6962-42AD-A88A-19303B09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빌드·버전</a:t>
            </a:r>
          </a:p>
        </p:txBody>
      </p:sp>
      <p:sp>
        <p:nvSpPr>
          <p:cNvPr id="78" name="mgmt-body-2">
            <a:extLst xmlns:a="http://schemas.openxmlformats.org/drawingml/2006/main">
              <a:ext uri="{FF2B5EF4-FFF2-40B4-BE49-F238E27FC236}">
                <a16:creationId xmlns:a16="http://schemas.microsoft.com/office/drawing/2014/main" id="{8D40C479-AE52-4CD2-BDFE-E9B3F5B8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Perforce 기반 릴리즈 관리</a:t>
            </a:r>
          </a:p>
        </p:txBody>
      </p:sp>
      <p:sp>
        <p:nvSpPr>
          <p:cNvPr id="79" name="mgmt-card-3">
            <a:extLst xmlns:a="http://schemas.openxmlformats.org/drawingml/2006/main">
              <a:ext uri="{FF2B5EF4-FFF2-40B4-BE49-F238E27FC236}">
                <a16:creationId xmlns:a16="http://schemas.microsoft.com/office/drawing/2014/main" id="{40D50289-9EB1-4105-BE93-AA937C0A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0" name="mgmt-bar-3">
            <a:extLst xmlns:a="http://schemas.openxmlformats.org/drawingml/2006/main">
              <a:ext uri="{FF2B5EF4-FFF2-40B4-BE49-F238E27FC236}">
                <a16:creationId xmlns:a16="http://schemas.microsoft.com/office/drawing/2014/main" id="{2C605BFE-34C6-4383-87B8-F42DD2B3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81" name="mgmt-label-3">
            <a:extLst xmlns:a="http://schemas.openxmlformats.org/drawingml/2006/main">
              <a:ext uri="{FF2B5EF4-FFF2-40B4-BE49-F238E27FC236}">
                <a16:creationId xmlns:a16="http://schemas.microsoft.com/office/drawing/2014/main" id="{08476F31-B075-4AE3-B056-2214BF85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82" name="mgmt-body-3">
            <a:extLst xmlns:a="http://schemas.openxmlformats.org/drawingml/2006/main">
              <a:ext uri="{FF2B5EF4-FFF2-40B4-BE49-F238E27FC236}">
                <a16:creationId xmlns:a16="http://schemas.microsoft.com/office/drawing/2014/main" id="{FDB9E9C8-7650-4EE3-B203-C8A44ADA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이슈 대응과 수정 반영 추적</a:t>
            </a:r>
          </a:p>
        </p:txBody>
      </p:sp>
      <p:sp>
        <p:nvSpPr>
          <p:cNvPr id="83" name="mgmt-card-4">
            <a:extLst xmlns:a="http://schemas.openxmlformats.org/drawingml/2006/main">
              <a:ext uri="{FF2B5EF4-FFF2-40B4-BE49-F238E27FC236}">
                <a16:creationId xmlns:a16="http://schemas.microsoft.com/office/drawing/2014/main" id="{FC84B524-684F-4CBF-9CB6-68EBC400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4" name="mgmt-bar-4">
            <a:extLst xmlns:a="http://schemas.openxmlformats.org/drawingml/2006/main">
              <a:ext uri="{FF2B5EF4-FFF2-40B4-BE49-F238E27FC236}">
                <a16:creationId xmlns:a16="http://schemas.microsoft.com/office/drawing/2014/main" id="{2D9CF502-AB23-4BDB-95A2-7D528CB7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85" name="mgmt-label-4">
            <a:extLst xmlns:a="http://schemas.openxmlformats.org/drawingml/2006/main">
              <a:ext uri="{FF2B5EF4-FFF2-40B4-BE49-F238E27FC236}">
                <a16:creationId xmlns:a16="http://schemas.microsoft.com/office/drawing/2014/main" id="{0121B710-2DF0-4BFD-9537-D7CBB0CB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퍼블리셔 대응</a:t>
            </a:r>
          </a:p>
        </p:txBody>
      </p:sp>
      <p:sp>
        <p:nvSpPr>
          <p:cNvPr id="86" name="mgmt-body-4">
            <a:extLst xmlns:a="http://schemas.openxmlformats.org/drawingml/2006/main">
              <a:ext uri="{FF2B5EF4-FFF2-40B4-BE49-F238E27FC236}">
                <a16:creationId xmlns:a16="http://schemas.microsoft.com/office/drawing/2014/main" id="{202840B4-DCA8-4FBD-B5BD-1E29AE97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협업 이슈와 의사결정 정리</a:t>
            </a:r>
          </a:p>
        </p:txBody>
      </p:sp>
    </p:spTree>
    <p:extLst>
      <p:ext uri="{BB962C8B-B14F-4D97-AF65-F5344CB8AC3E}">
        <p14:creationId xmlns:p14="http://schemas.microsoft.com/office/powerpoint/2010/main" val="2607257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3EB7BB60-A81A-4221-BFAA-856A7B58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857E7642-8C6F-4856-9A76-EDB1D510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8C239429-1459-4355-A120-9AC58018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LAUNCH GATE CRITERIA | PAGE 03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87AAE41-6BE4-4EAD-B114-B0363D01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0192D806-A68B-450E-AF46-A519864A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03</a:t>
            </a:r>
          </a:p>
        </p:txBody>
      </p:sp>
      <p:sp>
        <p:nvSpPr>
          <p:cNvPr id="6" name="title-03">
            <a:extLst xmlns:a="http://schemas.openxmlformats.org/drawingml/2006/main">
              <a:ext uri="{FF2B5EF4-FFF2-40B4-BE49-F238E27FC236}">
                <a16:creationId xmlns:a16="http://schemas.microsoft.com/office/drawing/2014/main" id="{400FF3BB-E8B4-4B4B-917D-E56A14F4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마일스톤은 일정이 아니라 통과 기준으로 관리합니다</a:t>
            </a:r>
          </a:p>
        </p:txBody>
      </p:sp>
      <p:sp>
        <p:nvSpPr>
          <p:cNvPr id="7" name="subtitle-03">
            <a:extLst xmlns:a="http://schemas.openxmlformats.org/drawingml/2006/main">
              <a:ext uri="{FF2B5EF4-FFF2-40B4-BE49-F238E27FC236}">
                <a16:creationId xmlns:a16="http://schemas.microsoft.com/office/drawing/2014/main" id="{FFCF6FD9-A654-471F-8086-0D62B033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월별 일정표만으로는 리스크가 숨기 쉽기 때문에, 범위·빌드·버전·QA·퍼블리셔 기준을 함께 판정합니다.</a:t>
            </a:r>
          </a:p>
        </p:txBody>
      </p:sp>
      <p:sp>
        <p:nvSpPr>
          <p:cNvPr id="8" name="gate-section-title">
            <a:extLst xmlns:a="http://schemas.openxmlformats.org/drawingml/2006/main">
              <a:ext uri="{FF2B5EF4-FFF2-40B4-BE49-F238E27FC236}">
                <a16:creationId xmlns:a16="http://schemas.microsoft.com/office/drawing/2014/main" id="{25C9F0AE-3359-4748-A3D9-B5E334B1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핵심 게이트</a:t>
            </a:r>
          </a:p>
        </p:txBody>
      </p:sp>
      <p:sp>
        <p:nvSpPr>
          <p:cNvPr id="9" name="gate-card-1">
            <a:extLst xmlns:a="http://schemas.openxmlformats.org/drawingml/2006/main">
              <a:ext uri="{FF2B5EF4-FFF2-40B4-BE49-F238E27FC236}">
                <a16:creationId xmlns:a16="http://schemas.microsoft.com/office/drawing/2014/main" id="{777B3A21-3CB8-4DC1-91DD-DC22CED5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gate-bar-1">
            <a:extLst xmlns:a="http://schemas.openxmlformats.org/drawingml/2006/main">
              <a:ext uri="{FF2B5EF4-FFF2-40B4-BE49-F238E27FC236}">
                <a16:creationId xmlns:a16="http://schemas.microsoft.com/office/drawing/2014/main" id="{4E207772-F4D0-4C99-87CD-3516997E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gate-phase-1">
            <a:extLst xmlns:a="http://schemas.openxmlformats.org/drawingml/2006/main">
              <a:ext uri="{FF2B5EF4-FFF2-40B4-BE49-F238E27FC236}">
                <a16:creationId xmlns:a16="http://schemas.microsoft.com/office/drawing/2014/main" id="{3EC8A907-0B52-4D17-841D-AB36FEDE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B8D9"/>
                </a:solidFill>
              </a:defRPr>
            </a:pPr>
            <a:r>
              <a:rPr sz="1200" b="1">
                <a:solidFill>
                  <a:srgbClr val="00B8D9"/>
                </a:solidFill>
              </a:rPr>
              <a:t>Gate 1</a:t>
            </a:r>
          </a:p>
        </p:txBody>
      </p:sp>
      <p:sp>
        <p:nvSpPr>
          <p:cNvPr id="12" name="gate-title-1">
            <a:extLst xmlns:a="http://schemas.openxmlformats.org/drawingml/2006/main">
              <a:ext uri="{FF2B5EF4-FFF2-40B4-BE49-F238E27FC236}">
                <a16:creationId xmlns:a16="http://schemas.microsoft.com/office/drawing/2014/main" id="{F42D4286-B71C-449F-B843-1C6AB38A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383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범위 고정</a:t>
            </a:r>
          </a:p>
        </p:txBody>
      </p:sp>
      <p:sp>
        <p:nvSpPr>
          <p:cNvPr id="13" name="gate-body-1">
            <a:extLst xmlns:a="http://schemas.openxmlformats.org/drawingml/2006/main">
              <a:ext uri="{FF2B5EF4-FFF2-40B4-BE49-F238E27FC236}">
                <a16:creationId xmlns:a16="http://schemas.microsoft.com/office/drawing/2014/main" id="{D26BF611-48EB-4465-850B-46149BAB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일본 서비스 범위와 마일스톤 기준을 확정하고, 변경 요청은 영향도 검토 후 반영합니다.</a:t>
            </a:r>
          </a:p>
        </p:txBody>
      </p:sp>
      <p:sp>
        <p:nvSpPr>
          <p:cNvPr id="14" name="gate-card-2">
            <a:extLst xmlns:a="http://schemas.openxmlformats.org/drawingml/2006/main">
              <a:ext uri="{FF2B5EF4-FFF2-40B4-BE49-F238E27FC236}">
                <a16:creationId xmlns:a16="http://schemas.microsoft.com/office/drawing/2014/main" id="{AE9E34CF-3C33-4346-86F5-F484F381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5" name="gate-bar-2">
            <a:extLst xmlns:a="http://schemas.openxmlformats.org/drawingml/2006/main">
              <a:ext uri="{FF2B5EF4-FFF2-40B4-BE49-F238E27FC236}">
                <a16:creationId xmlns:a16="http://schemas.microsoft.com/office/drawing/2014/main" id="{63D4C70D-0ADE-482A-B033-B79C4BB6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6" name="gate-phase-2">
            <a:extLst xmlns:a="http://schemas.openxmlformats.org/drawingml/2006/main">
              <a:ext uri="{FF2B5EF4-FFF2-40B4-BE49-F238E27FC236}">
                <a16:creationId xmlns:a16="http://schemas.microsoft.com/office/drawing/2014/main" id="{B62AB49F-1D11-4D70-92BF-2B061CF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Gate 2</a:t>
            </a:r>
          </a:p>
        </p:txBody>
      </p:sp>
      <p:sp>
        <p:nvSpPr>
          <p:cNvPr id="17" name="gate-title-2">
            <a:extLst xmlns:a="http://schemas.openxmlformats.org/drawingml/2006/main">
              <a:ext uri="{FF2B5EF4-FFF2-40B4-BE49-F238E27FC236}">
                <a16:creationId xmlns:a16="http://schemas.microsoft.com/office/drawing/2014/main" id="{0A57A3EF-2428-4F6F-BC17-41687363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385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QA·검수 진입</a:t>
            </a:r>
          </a:p>
        </p:txBody>
      </p:sp>
      <p:sp>
        <p:nvSpPr>
          <p:cNvPr id="18" name="gate-body-2">
            <a:extLst xmlns:a="http://schemas.openxmlformats.org/drawingml/2006/main">
              <a:ext uri="{FF2B5EF4-FFF2-40B4-BE49-F238E27FC236}">
                <a16:creationId xmlns:a16="http://schemas.microsoft.com/office/drawing/2014/main" id="{7E89D2E4-89B8-45AD-94F2-22D33DF6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9095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현지화 리소스와 빌드 반영 상태를 확인한 뒤 QA와 퍼블리셔 검수에 진입합니다.</a:t>
            </a:r>
          </a:p>
        </p:txBody>
      </p:sp>
      <p:sp>
        <p:nvSpPr>
          <p:cNvPr id="19" name="gate-card-3">
            <a:extLst xmlns:a="http://schemas.openxmlformats.org/drawingml/2006/main">
              <a:ext uri="{FF2B5EF4-FFF2-40B4-BE49-F238E27FC236}">
                <a16:creationId xmlns:a16="http://schemas.microsoft.com/office/drawing/2014/main" id="{1A6B040D-2F1D-48C0-8F8A-D747FF0B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gate-bar-3">
            <a:extLst xmlns:a="http://schemas.openxmlformats.org/drawingml/2006/main">
              <a:ext uri="{FF2B5EF4-FFF2-40B4-BE49-F238E27FC236}">
                <a16:creationId xmlns:a16="http://schemas.microsoft.com/office/drawing/2014/main" id="{C26EB7B0-6A96-44C6-B725-5F95E5E8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1" name="gate-phase-3">
            <a:extLst xmlns:a="http://schemas.openxmlformats.org/drawingml/2006/main">
              <a:ext uri="{FF2B5EF4-FFF2-40B4-BE49-F238E27FC236}">
                <a16:creationId xmlns:a16="http://schemas.microsoft.com/office/drawing/2014/main" id="{581CC93B-D294-4E54-A343-5A62810E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Gate 3</a:t>
            </a:r>
          </a:p>
        </p:txBody>
      </p:sp>
      <p:sp>
        <p:nvSpPr>
          <p:cNvPr id="22" name="gate-title-3">
            <a:extLst xmlns:a="http://schemas.openxmlformats.org/drawingml/2006/main">
              <a:ext uri="{FF2B5EF4-FFF2-40B4-BE49-F238E27FC236}">
                <a16:creationId xmlns:a16="http://schemas.microsoft.com/office/drawing/2014/main" id="{FC4C5FEA-83E8-4A41-A89C-0A6AF976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386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릴리즈 후보</a:t>
            </a:r>
          </a:p>
        </p:txBody>
      </p:sp>
      <p:sp>
        <p:nvSpPr>
          <p:cNvPr id="23" name="gate-body-3">
            <a:extLst xmlns:a="http://schemas.openxmlformats.org/drawingml/2006/main">
              <a:ext uri="{FF2B5EF4-FFF2-40B4-BE49-F238E27FC236}">
                <a16:creationId xmlns:a16="http://schemas.microsoft.com/office/drawing/2014/main" id="{BDD61952-2842-4629-A9A9-9BB996A7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주요 이슈와 잔여 리스크를 분리하고, 배포 가능한 후보 빌드 기준을 고정합니다.</a:t>
            </a:r>
          </a:p>
        </p:txBody>
      </p:sp>
      <p:sp>
        <p:nvSpPr>
          <p:cNvPr id="24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6EFC0A1C-F1B5-443B-81ED-F3E7A621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판정 체크리스트</a:t>
            </a:r>
          </a:p>
        </p:txBody>
      </p:sp>
      <p:sp>
        <p:nvSpPr>
          <p:cNvPr id="25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8E7E10EE-8412-4C41-9548-5028061E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097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각 항목은 다음 단계 진입 가능성을 기준으로 판단합니다.</a:t>
            </a:r>
          </a:p>
        </p:txBody>
      </p:sp>
      <p:sp>
        <p:nvSpPr>
          <p:cNvPr id="26" name="decision-header">
            <a:extLst xmlns:a="http://schemas.openxmlformats.org/drawingml/2006/main">
              <a:ext uri="{FF2B5EF4-FFF2-40B4-BE49-F238E27FC236}">
                <a16:creationId xmlns:a16="http://schemas.microsoft.com/office/drawing/2014/main" id="{5A9DEEFA-748D-4FB6-A755-3DE04EC5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33600"/>
            <a:ext cx="670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7" name="decision-th-1">
            <a:extLst xmlns:a="http://schemas.openxmlformats.org/drawingml/2006/main">
              <a:ext uri="{FF2B5EF4-FFF2-40B4-BE49-F238E27FC236}">
                <a16:creationId xmlns:a16="http://schemas.microsoft.com/office/drawing/2014/main" id="{A505AA36-0942-4E43-A8F8-F469B3E6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098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항목</a:t>
            </a:r>
          </a:p>
        </p:txBody>
      </p:sp>
      <p:sp>
        <p:nvSpPr>
          <p:cNvPr id="28" name="decision-th-2">
            <a:extLst xmlns:a="http://schemas.openxmlformats.org/drawingml/2006/main">
              <a:ext uri="{FF2B5EF4-FFF2-40B4-BE49-F238E27FC236}">
                <a16:creationId xmlns:a16="http://schemas.microsoft.com/office/drawing/2014/main" id="{4637E029-5CFD-4253-B3A8-7FD1A37B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98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통과 기준</a:t>
            </a:r>
          </a:p>
        </p:txBody>
      </p:sp>
      <p:sp>
        <p:nvSpPr>
          <p:cNvPr id="29" name="decision-th-3">
            <a:extLst xmlns:a="http://schemas.openxmlformats.org/drawingml/2006/main">
              <a:ext uri="{FF2B5EF4-FFF2-40B4-BE49-F238E27FC236}">
                <a16:creationId xmlns:a16="http://schemas.microsoft.com/office/drawing/2014/main" id="{70E682DF-3770-401C-B16E-191F1724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098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주관</a:t>
            </a:r>
          </a:p>
        </p:txBody>
      </p:sp>
      <p:sp>
        <p:nvSpPr>
          <p:cNvPr id="30" name="decision-row-1">
            <a:extLst xmlns:a="http://schemas.openxmlformats.org/drawingml/2006/main">
              <a:ext uri="{FF2B5EF4-FFF2-40B4-BE49-F238E27FC236}">
                <a16:creationId xmlns:a16="http://schemas.microsoft.com/office/drawing/2014/main" id="{5DCDC5A9-612F-4C52-B3C0-87B20D2A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574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1" name="decision-item-1">
            <a:extLst xmlns:a="http://schemas.openxmlformats.org/drawingml/2006/main">
              <a:ext uri="{FF2B5EF4-FFF2-40B4-BE49-F238E27FC236}">
                <a16:creationId xmlns:a16="http://schemas.microsoft.com/office/drawing/2014/main" id="{6783431C-648C-43B2-8080-806C043E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193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서비스 범위</a:t>
            </a:r>
          </a:p>
        </p:txBody>
      </p:sp>
      <p:sp>
        <p:nvSpPr>
          <p:cNvPr id="32" name="decision-gate-1">
            <a:extLst xmlns:a="http://schemas.openxmlformats.org/drawingml/2006/main">
              <a:ext uri="{FF2B5EF4-FFF2-40B4-BE49-F238E27FC236}">
                <a16:creationId xmlns:a16="http://schemas.microsoft.com/office/drawing/2014/main" id="{0578B333-7423-4D96-8DD6-4CB412EC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71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런칭 포함·제외 범위와 변경 승인 기준 확정</a:t>
            </a:r>
          </a:p>
        </p:txBody>
      </p:sp>
      <p:sp>
        <p:nvSpPr>
          <p:cNvPr id="33" name="decision-owner-1">
            <a:extLst xmlns:a="http://schemas.openxmlformats.org/drawingml/2006/main">
              <a:ext uri="{FF2B5EF4-FFF2-40B4-BE49-F238E27FC236}">
                <a16:creationId xmlns:a16="http://schemas.microsoft.com/office/drawing/2014/main" id="{338EF0B4-274D-4D1D-B4DC-2DE25FCA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193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PM</a:t>
            </a:r>
          </a:p>
        </p:txBody>
      </p:sp>
      <p:sp>
        <p:nvSpPr>
          <p:cNvPr id="34" name="decision-row-2">
            <a:extLst xmlns:a="http://schemas.openxmlformats.org/drawingml/2006/main">
              <a:ext uri="{FF2B5EF4-FFF2-40B4-BE49-F238E27FC236}">
                <a16:creationId xmlns:a16="http://schemas.microsoft.com/office/drawing/2014/main" id="{C8E36A90-677B-44C3-AA97-06A01AC7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0990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5" name="decision-item-2">
            <a:extLst xmlns:a="http://schemas.openxmlformats.org/drawingml/2006/main">
              <a:ext uri="{FF2B5EF4-FFF2-40B4-BE49-F238E27FC236}">
                <a16:creationId xmlns:a16="http://schemas.microsoft.com/office/drawing/2014/main" id="{276669F5-8BB1-4538-A815-95960E7A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71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빌드·버전</a:t>
            </a:r>
          </a:p>
        </p:txBody>
      </p:sp>
      <p:sp>
        <p:nvSpPr>
          <p:cNvPr id="36" name="decision-gate-2">
            <a:extLst xmlns:a="http://schemas.openxmlformats.org/drawingml/2006/main">
              <a:ext uri="{FF2B5EF4-FFF2-40B4-BE49-F238E27FC236}">
                <a16:creationId xmlns:a16="http://schemas.microsoft.com/office/drawing/2014/main" id="{30CF9AFA-FA2E-4CDD-8FED-932CC196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24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Perforce 브랜치와 후보 빌드 태그 기준 합의</a:t>
            </a:r>
          </a:p>
        </p:txBody>
      </p:sp>
      <p:sp>
        <p:nvSpPr>
          <p:cNvPr id="37" name="decision-owner-2">
            <a:extLst xmlns:a="http://schemas.openxmlformats.org/drawingml/2006/main">
              <a:ext uri="{FF2B5EF4-FFF2-40B4-BE49-F238E27FC236}">
                <a16:creationId xmlns:a16="http://schemas.microsoft.com/office/drawing/2014/main" id="{6DAC7832-FB6C-4174-8953-41C19985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7182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개발</a:t>
            </a:r>
          </a:p>
        </p:txBody>
      </p:sp>
      <p:sp>
        <p:nvSpPr>
          <p:cNvPr id="38" name="decision-row-3">
            <a:extLst xmlns:a="http://schemas.openxmlformats.org/drawingml/2006/main">
              <a:ext uri="{FF2B5EF4-FFF2-40B4-BE49-F238E27FC236}">
                <a16:creationId xmlns:a16="http://schemas.microsoft.com/office/drawing/2014/main" id="{248F2F7F-3B06-417E-BC69-AD30E745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623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9" name="decision-item-3">
            <a:extLst xmlns:a="http://schemas.openxmlformats.org/drawingml/2006/main">
              <a:ext uri="{FF2B5EF4-FFF2-40B4-BE49-F238E27FC236}">
                <a16:creationId xmlns:a16="http://schemas.microsoft.com/office/drawing/2014/main" id="{530EA9C0-16E5-48C4-8F67-16E0E0EE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242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QA 안정성</a:t>
            </a:r>
          </a:p>
        </p:txBody>
      </p:sp>
      <p:sp>
        <p:nvSpPr>
          <p:cNvPr id="40" name="decision-gate-3">
            <a:extLst xmlns:a="http://schemas.openxmlformats.org/drawingml/2006/main">
              <a:ext uri="{FF2B5EF4-FFF2-40B4-BE49-F238E27FC236}">
                <a16:creationId xmlns:a16="http://schemas.microsoft.com/office/drawing/2014/main" id="{A1CF1751-1721-45C0-9C15-CA908309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주요 이슈 수정 계획과 잔여 리스크 공유</a:t>
            </a:r>
          </a:p>
        </p:txBody>
      </p:sp>
      <p:sp>
        <p:nvSpPr>
          <p:cNvPr id="41" name="decision-owner-3">
            <a:extLst xmlns:a="http://schemas.openxmlformats.org/drawingml/2006/main">
              <a:ext uri="{FF2B5EF4-FFF2-40B4-BE49-F238E27FC236}">
                <a16:creationId xmlns:a16="http://schemas.microsoft.com/office/drawing/2014/main" id="{37626D71-7F82-45E2-9449-6423B51B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7242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QA</a:t>
            </a:r>
          </a:p>
        </p:txBody>
      </p:sp>
      <p:sp>
        <p:nvSpPr>
          <p:cNvPr id="42" name="decision-row-4">
            <a:extLst xmlns:a="http://schemas.openxmlformats.org/drawingml/2006/main">
              <a:ext uri="{FF2B5EF4-FFF2-40B4-BE49-F238E27FC236}">
                <a16:creationId xmlns:a16="http://schemas.microsoft.com/office/drawing/2014/main" id="{194EA436-81B0-46C4-AB60-A222572D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3" name="decision-item-4">
            <a:extLst xmlns:a="http://schemas.openxmlformats.org/drawingml/2006/main">
              <a:ext uri="{FF2B5EF4-FFF2-40B4-BE49-F238E27FC236}">
                <a16:creationId xmlns:a16="http://schemas.microsoft.com/office/drawing/2014/main" id="{1CCE1734-81CB-4B4F-AE20-F153661D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767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퍼블리셔 대응</a:t>
            </a:r>
          </a:p>
        </p:txBody>
      </p:sp>
      <p:sp>
        <p:nvSpPr>
          <p:cNvPr id="44" name="decision-gate-4">
            <a:extLst xmlns:a="http://schemas.openxmlformats.org/drawingml/2006/main">
              <a:ext uri="{FF2B5EF4-FFF2-40B4-BE49-F238E27FC236}">
                <a16:creationId xmlns:a16="http://schemas.microsoft.com/office/drawing/2014/main" id="{76575866-2F77-4717-B3F0-62D65A10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2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검수 요청, 피드백, 재전달 일정 추적</a:t>
            </a:r>
          </a:p>
        </p:txBody>
      </p:sp>
      <p:sp>
        <p:nvSpPr>
          <p:cNvPr id="45" name="decision-owner-4">
            <a:extLst xmlns:a="http://schemas.openxmlformats.org/drawingml/2006/main">
              <a:ext uri="{FF2B5EF4-FFF2-40B4-BE49-F238E27FC236}">
                <a16:creationId xmlns:a16="http://schemas.microsoft.com/office/drawing/2014/main" id="{B15E2F0D-A642-4366-A5A3-3EB73FB9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27672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PM</a:t>
            </a:r>
          </a:p>
        </p:txBody>
      </p:sp>
      <p:sp>
        <p:nvSpPr>
          <p:cNvPr id="46" name="decision-row-5">
            <a:extLst xmlns:a="http://schemas.openxmlformats.org/drawingml/2006/main">
              <a:ext uri="{FF2B5EF4-FFF2-40B4-BE49-F238E27FC236}">
                <a16:creationId xmlns:a16="http://schemas.microsoft.com/office/drawing/2014/main" id="{32ABCF23-BBC8-4B04-9EEE-D3536755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672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7" name="decision-item-5">
            <a:extLst xmlns:a="http://schemas.openxmlformats.org/drawingml/2006/main">
              <a:ext uri="{FF2B5EF4-FFF2-40B4-BE49-F238E27FC236}">
                <a16:creationId xmlns:a16="http://schemas.microsoft.com/office/drawing/2014/main" id="{3F752D59-5BA9-4112-96F2-0F397754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291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Live 릴리즈</a:t>
            </a:r>
          </a:p>
        </p:txBody>
      </p:sp>
      <p:sp>
        <p:nvSpPr>
          <p:cNvPr id="48" name="decision-gate-5">
            <a:extLst xmlns:a="http://schemas.openxmlformats.org/drawingml/2006/main">
              <a:ext uri="{FF2B5EF4-FFF2-40B4-BE49-F238E27FC236}">
                <a16:creationId xmlns:a16="http://schemas.microsoft.com/office/drawing/2014/main" id="{6374686F-E9DF-430D-B14B-373357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배포·공지·장애 대응 담당자 확인</a:t>
            </a:r>
          </a:p>
        </p:txBody>
      </p:sp>
      <p:sp>
        <p:nvSpPr>
          <p:cNvPr id="49" name="decision-owner-5">
            <a:extLst xmlns:a="http://schemas.openxmlformats.org/drawingml/2006/main">
              <a:ext uri="{FF2B5EF4-FFF2-40B4-BE49-F238E27FC236}">
                <a16:creationId xmlns:a16="http://schemas.microsoft.com/office/drawing/2014/main" id="{03AD10AD-F592-491E-B9B9-A1DBDAC8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291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운영</a:t>
            </a:r>
          </a:p>
        </p:txBody>
      </p:sp>
      <p:sp>
        <p:nvSpPr>
          <p:cNvPr id="50" name="principle-panel">
            <a:extLst xmlns:a="http://schemas.openxmlformats.org/drawingml/2006/main">
              <a:ext uri="{FF2B5EF4-FFF2-40B4-BE49-F238E27FC236}">
                <a16:creationId xmlns:a16="http://schemas.microsoft.com/office/drawing/2014/main" id="{B7A51F87-951F-4FF3-AC21-FFE2B5CD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08775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5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B302CAEE-D70A-4378-B701-1D40B8A6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운영 원칙</a:t>
            </a:r>
          </a:p>
        </p:txBody>
      </p:sp>
      <p:sp>
        <p:nvSpPr>
          <p:cNvPr id="52" name="principle-body">
            <a:extLst xmlns:a="http://schemas.openxmlformats.org/drawingml/2006/main">
              <a:ext uri="{FF2B5EF4-FFF2-40B4-BE49-F238E27FC236}">
                <a16:creationId xmlns:a16="http://schemas.microsoft.com/office/drawing/2014/main" id="{4685F22A-EBB4-4F9E-A088-EFC1DC77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05500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미통과 항목은 일정 지연이 아니라 의사결정 이슈로 분리해, 영향도와 대안을 함께 보고합니다.</a:t>
            </a:r>
          </a:p>
        </p:txBody>
      </p:sp>
    </p:spTree>
    <p:extLst>
      <p:ext uri="{BB962C8B-B14F-4D97-AF65-F5344CB8AC3E}">
        <p14:creationId xmlns:p14="http://schemas.microsoft.com/office/powerpoint/2010/main" val="1058277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3D1DD3BA-E824-49B7-9465-28FB8ED5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E3202ACC-02D2-4488-98EE-045BC9D2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0CA4231-3117-48E9-BDD2-6B2B27A4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RISK RESPONSE SYSTEM | PAGE 04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14C1E5B-42EC-4E69-8992-D005965A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7E654D18-5FF2-43F7-A11B-8411472A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04</a:t>
            </a:r>
          </a:p>
        </p:txBody>
      </p:sp>
      <p:sp>
        <p:nvSpPr>
          <p:cNvPr id="6" name="title-04">
            <a:extLst xmlns:a="http://schemas.openxmlformats.org/drawingml/2006/main">
              <a:ext uri="{FF2B5EF4-FFF2-40B4-BE49-F238E27FC236}">
                <a16:creationId xmlns:a16="http://schemas.microsoft.com/office/drawing/2014/main" id="{4F10B533-1D00-4F38-ABFD-15EF38AC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런칭 리스크는 조기 분리와 이슈 대응으로 관리합니다</a:t>
            </a:r>
          </a:p>
        </p:txBody>
      </p:sp>
      <p:sp>
        <p:nvSpPr>
          <p:cNvPr id="7" name="subtitle-04">
            <a:extLst xmlns:a="http://schemas.openxmlformats.org/drawingml/2006/main">
              <a:ext uri="{FF2B5EF4-FFF2-40B4-BE49-F238E27FC236}">
                <a16:creationId xmlns:a16="http://schemas.microsoft.com/office/drawing/2014/main" id="{AD5E2A23-461D-4F26-A113-BF32CFF4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일정·범위·빌드·버전·QA에 미치는 영향을 먼저 보이게 만들어야 의사결정이 빨라집니다.</a:t>
            </a:r>
          </a:p>
        </p:txBody>
      </p:sp>
      <p:sp>
        <p:nvSpPr>
          <p:cNvPr id="8" name="risk-title">
            <a:extLst xmlns:a="http://schemas.openxmlformats.org/drawingml/2006/main">
              <a:ext uri="{FF2B5EF4-FFF2-40B4-BE49-F238E27FC236}">
                <a16:creationId xmlns:a16="http://schemas.microsoft.com/office/drawing/2014/main" id="{92E71329-C5A1-4AC5-BFC2-73387B1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주요 리스크</a:t>
            </a:r>
          </a:p>
        </p:txBody>
      </p:sp>
      <p:sp>
        <p:nvSpPr>
          <p:cNvPr id="9" name="risk-header">
            <a:extLst xmlns:a="http://schemas.openxmlformats.org/drawingml/2006/main">
              <a:ext uri="{FF2B5EF4-FFF2-40B4-BE49-F238E27FC236}">
                <a16:creationId xmlns:a16="http://schemas.microsoft.com/office/drawing/2014/main" id="{A1D3FE82-5D24-488A-A8B2-386E5ABF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657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0" name="risk-th-1">
            <a:extLst xmlns:a="http://schemas.openxmlformats.org/drawingml/2006/main">
              <a:ext uri="{FF2B5EF4-FFF2-40B4-BE49-F238E27FC236}">
                <a16:creationId xmlns:a16="http://schemas.microsoft.com/office/drawing/2014/main" id="{BB462AE6-EDCE-4369-B244-33CFE27B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0502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6111F"/>
                </a:solidFill>
              </a:defRPr>
            </a:pPr>
            <a:r>
              <a:rPr sz="975" b="1">
                <a:solidFill>
                  <a:srgbClr val="06111F"/>
                </a:solidFill>
              </a:rPr>
              <a:t>리스크</a:t>
            </a:r>
          </a:p>
        </p:txBody>
      </p:sp>
      <p:sp>
        <p:nvSpPr>
          <p:cNvPr id="11" name="risk-th-2">
            <a:extLst xmlns:a="http://schemas.openxmlformats.org/drawingml/2006/main">
              <a:ext uri="{FF2B5EF4-FFF2-40B4-BE49-F238E27FC236}">
                <a16:creationId xmlns:a16="http://schemas.microsoft.com/office/drawing/2014/main" id="{7F8C72E4-DD69-40AE-B072-3269BB3B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1050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6111F"/>
                </a:solidFill>
              </a:defRPr>
            </a:pPr>
            <a:r>
              <a:rPr sz="975" b="1">
                <a:solidFill>
                  <a:srgbClr val="06111F"/>
                </a:solidFill>
              </a:rPr>
              <a:t>영향</a:t>
            </a:r>
          </a:p>
        </p:txBody>
      </p:sp>
      <p:sp>
        <p:nvSpPr>
          <p:cNvPr id="12" name="risk-th-3">
            <a:extLst xmlns:a="http://schemas.openxmlformats.org/drawingml/2006/main">
              <a:ext uri="{FF2B5EF4-FFF2-40B4-BE49-F238E27FC236}">
                <a16:creationId xmlns:a16="http://schemas.microsoft.com/office/drawing/2014/main" id="{BF826932-1720-45B4-8EF1-80A44057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6111F"/>
                </a:solidFill>
              </a:defRPr>
            </a:pPr>
            <a:r>
              <a:rPr sz="975" b="1">
                <a:solidFill>
                  <a:srgbClr val="06111F"/>
                </a:solidFill>
              </a:rPr>
              <a:t>대응</a:t>
            </a:r>
          </a:p>
        </p:txBody>
      </p:sp>
      <p:sp>
        <p:nvSpPr>
          <p:cNvPr id="13" name="risk-row-1">
            <a:extLst xmlns:a="http://schemas.openxmlformats.org/drawingml/2006/main">
              <a:ext uri="{FF2B5EF4-FFF2-40B4-BE49-F238E27FC236}">
                <a16:creationId xmlns:a16="http://schemas.microsoft.com/office/drawing/2014/main" id="{19A36367-2373-4506-B7D5-7C500B57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4" name="risk-name-1">
            <a:extLst xmlns:a="http://schemas.openxmlformats.org/drawingml/2006/main">
              <a:ext uri="{FF2B5EF4-FFF2-40B4-BE49-F238E27FC236}">
                <a16:creationId xmlns:a16="http://schemas.microsoft.com/office/drawing/2014/main" id="{30B24D23-58B8-4217-8AD6-B8BB7DF5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현지화 지연</a:t>
            </a:r>
          </a:p>
        </p:txBody>
      </p:sp>
      <p:sp>
        <p:nvSpPr>
          <p:cNvPr id="15" name="risk-impact-1">
            <a:extLst xmlns:a="http://schemas.openxmlformats.org/drawingml/2006/main">
              <a:ext uri="{FF2B5EF4-FFF2-40B4-BE49-F238E27FC236}">
                <a16:creationId xmlns:a16="http://schemas.microsoft.com/office/drawing/2014/main" id="{D7545920-CB75-4C45-8BCA-57D8AE3D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4288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번역·리소스 반영 지연으로 검수 일정 압박</a:t>
            </a:r>
          </a:p>
        </p:txBody>
      </p:sp>
      <p:sp>
        <p:nvSpPr>
          <p:cNvPr id="16" name="risk-response-1">
            <a:extLst xmlns:a="http://schemas.openxmlformats.org/drawingml/2006/main">
              <a:ext uri="{FF2B5EF4-FFF2-40B4-BE49-F238E27FC236}">
                <a16:creationId xmlns:a16="http://schemas.microsoft.com/office/drawing/2014/main" id="{B223A67A-C558-43FE-A7FE-92FB9816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반영 범위와 우선순위 재정렬</a:t>
            </a:r>
          </a:p>
        </p:txBody>
      </p:sp>
      <p:sp>
        <p:nvSpPr>
          <p:cNvPr id="17" name="risk-row-2">
            <a:extLst xmlns:a="http://schemas.openxmlformats.org/drawingml/2006/main">
              <a:ext uri="{FF2B5EF4-FFF2-40B4-BE49-F238E27FC236}">
                <a16:creationId xmlns:a16="http://schemas.microsoft.com/office/drawing/2014/main" id="{B8F07442-B041-43EE-ACE4-BF96F558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3370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8" name="risk-name-2">
            <a:extLst xmlns:a="http://schemas.openxmlformats.org/drawingml/2006/main">
              <a:ext uri="{FF2B5EF4-FFF2-40B4-BE49-F238E27FC236}">
                <a16:creationId xmlns:a16="http://schemas.microsoft.com/office/drawing/2014/main" id="{6BC3FC08-1AA5-42AC-B8E3-850CE04C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빌드 불안정</a:t>
            </a:r>
          </a:p>
        </p:txBody>
      </p:sp>
      <p:sp>
        <p:nvSpPr>
          <p:cNvPr id="19" name="risk-impact-2">
            <a:extLst xmlns:a="http://schemas.openxmlformats.org/drawingml/2006/main">
              <a:ext uri="{FF2B5EF4-FFF2-40B4-BE49-F238E27FC236}">
                <a16:creationId xmlns:a16="http://schemas.microsoft.com/office/drawing/2014/main" id="{C256356F-F8A9-46D1-BF25-30995E9E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057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후보 빌드 기준 미고정과 긴급 수정 누적</a:t>
            </a:r>
          </a:p>
        </p:txBody>
      </p:sp>
      <p:sp>
        <p:nvSpPr>
          <p:cNvPr id="20" name="risk-response-2">
            <a:extLst xmlns:a="http://schemas.openxmlformats.org/drawingml/2006/main">
              <a:ext uri="{FF2B5EF4-FFF2-40B4-BE49-F238E27FC236}">
                <a16:creationId xmlns:a16="http://schemas.microsoft.com/office/drawing/2014/main" id="{212CA89D-0EE7-466B-B4FC-44FB17C7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5752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브랜치·태그 기준 고정</a:t>
            </a:r>
          </a:p>
        </p:txBody>
      </p:sp>
      <p:sp>
        <p:nvSpPr>
          <p:cNvPr id="21" name="risk-row-3">
            <a:extLst xmlns:a="http://schemas.openxmlformats.org/drawingml/2006/main">
              <a:ext uri="{FF2B5EF4-FFF2-40B4-BE49-F238E27FC236}">
                <a16:creationId xmlns:a16="http://schemas.microsoft.com/office/drawing/2014/main" id="{36DE9415-A7FF-4112-9801-404B2948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risk-name-3">
            <a:extLst xmlns:a="http://schemas.openxmlformats.org/drawingml/2006/main">
              <a:ext uri="{FF2B5EF4-FFF2-40B4-BE49-F238E27FC236}">
                <a16:creationId xmlns:a16="http://schemas.microsoft.com/office/drawing/2014/main" id="{97427AFE-B221-4FEE-9279-6EB47143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QA 병목</a:t>
            </a:r>
          </a:p>
        </p:txBody>
      </p:sp>
      <p:sp>
        <p:nvSpPr>
          <p:cNvPr id="23" name="risk-impact-3">
            <a:extLst xmlns:a="http://schemas.openxmlformats.org/drawingml/2006/main">
              <a:ext uri="{FF2B5EF4-FFF2-40B4-BE49-F238E27FC236}">
                <a16:creationId xmlns:a16="http://schemas.microsoft.com/office/drawing/2014/main" id="{C8F9A1FD-6D07-4FE5-AD3A-A8F9D883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6861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이슈 분류 지연과 수정 검증 대기 증가</a:t>
            </a:r>
          </a:p>
        </p:txBody>
      </p:sp>
      <p:sp>
        <p:nvSpPr>
          <p:cNvPr id="24" name="risk-response-3">
            <a:extLst xmlns:a="http://schemas.openxmlformats.org/drawingml/2006/main">
              <a:ext uri="{FF2B5EF4-FFF2-40B4-BE49-F238E27FC236}">
                <a16:creationId xmlns:a16="http://schemas.microsoft.com/office/drawing/2014/main" id="{4E81B17D-F124-4A04-995C-AC4ED1AF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861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재현 정보와 수정 일정 추적</a:t>
            </a:r>
          </a:p>
        </p:txBody>
      </p:sp>
      <p:sp>
        <p:nvSpPr>
          <p:cNvPr id="25" name="risk-row-4">
            <a:extLst xmlns:a="http://schemas.openxmlformats.org/drawingml/2006/main">
              <a:ext uri="{FF2B5EF4-FFF2-40B4-BE49-F238E27FC236}">
                <a16:creationId xmlns:a16="http://schemas.microsoft.com/office/drawing/2014/main" id="{02B2386E-E4D1-4C4F-9EF7-FE688D83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6" name="risk-name-4">
            <a:extLst xmlns:a="http://schemas.openxmlformats.org/drawingml/2006/main">
              <a:ext uri="{FF2B5EF4-FFF2-40B4-BE49-F238E27FC236}">
                <a16:creationId xmlns:a16="http://schemas.microsoft.com/office/drawing/2014/main" id="{02EEAAA6-98C8-42EF-8748-FA6DF9DC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피드백 지연</a:t>
            </a:r>
          </a:p>
        </p:txBody>
      </p:sp>
      <p:sp>
        <p:nvSpPr>
          <p:cNvPr id="27" name="risk-impact-4">
            <a:extLst xmlns:a="http://schemas.openxmlformats.org/drawingml/2006/main">
              <a:ext uri="{FF2B5EF4-FFF2-40B4-BE49-F238E27FC236}">
                <a16:creationId xmlns:a16="http://schemas.microsoft.com/office/drawing/2014/main" id="{60A0EC7B-F0C2-4445-A96D-5D5FB1CB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3148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퍼블리셔 검수 의견 회신과 재전달 일정 불명확</a:t>
            </a:r>
          </a:p>
        </p:txBody>
      </p:sp>
      <p:sp>
        <p:nvSpPr>
          <p:cNvPr id="28" name="risk-response-4">
            <a:extLst xmlns:a="http://schemas.openxmlformats.org/drawingml/2006/main">
              <a:ext uri="{FF2B5EF4-FFF2-40B4-BE49-F238E27FC236}">
                <a16:creationId xmlns:a16="http://schemas.microsoft.com/office/drawing/2014/main" id="{81488550-F3B0-4662-B1F0-C95F55F6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1482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요청·회신·재전달 상태 관리</a:t>
            </a:r>
          </a:p>
        </p:txBody>
      </p:sp>
      <p:sp>
        <p:nvSpPr>
          <p:cNvPr id="29" name="risk-row-5">
            <a:extLst xmlns:a="http://schemas.openxmlformats.org/drawingml/2006/main">
              <a:ext uri="{FF2B5EF4-FFF2-40B4-BE49-F238E27FC236}">
                <a16:creationId xmlns:a16="http://schemas.microsoft.com/office/drawing/2014/main" id="{4BB9C0CF-A96E-401D-82A6-3947352F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0" name="risk-name-5">
            <a:extLst xmlns:a="http://schemas.openxmlformats.org/drawingml/2006/main">
              <a:ext uri="{FF2B5EF4-FFF2-40B4-BE49-F238E27FC236}">
                <a16:creationId xmlns:a16="http://schemas.microsoft.com/office/drawing/2014/main" id="{12242980-0AE6-4E7D-AC63-44E17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직전 변경</a:t>
            </a:r>
          </a:p>
        </p:txBody>
      </p:sp>
      <p:sp>
        <p:nvSpPr>
          <p:cNvPr id="31" name="risk-impact-5">
            <a:extLst xmlns:a="http://schemas.openxmlformats.org/drawingml/2006/main">
              <a:ext uri="{FF2B5EF4-FFF2-40B4-BE49-F238E27FC236}">
                <a16:creationId xmlns:a16="http://schemas.microsoft.com/office/drawing/2014/main" id="{73A3FADF-EBBA-4AF0-B062-43D6AF06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434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서비스 범위와 운영 정책 변경으로 품질 흔들림</a:t>
            </a:r>
          </a:p>
        </p:txBody>
      </p:sp>
      <p:sp>
        <p:nvSpPr>
          <p:cNvPr id="32" name="risk-response-5">
            <a:extLst xmlns:a="http://schemas.openxmlformats.org/drawingml/2006/main">
              <a:ext uri="{FF2B5EF4-FFF2-40B4-BE49-F238E27FC236}">
                <a16:creationId xmlns:a16="http://schemas.microsoft.com/office/drawing/2014/main" id="{FD422774-2EA4-4B65-94EB-30A95E8B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43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영향도 검토 후 반영·보류 결정</a:t>
            </a:r>
          </a:p>
        </p:txBody>
      </p:sp>
      <p:sp>
        <p:nvSpPr>
          <p:cNvPr id="33" name="process-title">
            <a:extLst xmlns:a="http://schemas.openxmlformats.org/drawingml/2006/main">
              <a:ext uri="{FF2B5EF4-FFF2-40B4-BE49-F238E27FC236}">
                <a16:creationId xmlns:a16="http://schemas.microsoft.com/office/drawing/2014/main" id="{1E27B84F-80CC-4742-BCFB-BB1A7254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대응 프로세스</a:t>
            </a:r>
          </a:p>
        </p:txBody>
      </p:sp>
      <p:sp>
        <p:nvSpPr>
          <p:cNvPr id="34" name="process-note">
            <a:extLst xmlns:a="http://schemas.openxmlformats.org/drawingml/2006/main">
              <a:ext uri="{FF2B5EF4-FFF2-40B4-BE49-F238E27FC236}">
                <a16:creationId xmlns:a16="http://schemas.microsoft.com/office/drawing/2014/main" id="{4809E51F-C8E9-4951-BF2C-C3ED53CC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94A3B8"/>
                </a:solidFill>
              </a:defRPr>
            </a:pPr>
            <a:r>
              <a:rPr sz="975">
                <a:solidFill>
                  <a:srgbClr val="94A3B8"/>
                </a:solidFill>
              </a:rPr>
              <a:t>먼저 분류·담당을 잡습니다.</a:t>
            </a:r>
          </a:p>
        </p:txBody>
      </p:sp>
      <p:sp>
        <p:nvSpPr>
          <p:cNvPr id="35" name="process-step-1">
            <a:extLst xmlns:a="http://schemas.openxmlformats.org/drawingml/2006/main">
              <a:ext uri="{FF2B5EF4-FFF2-40B4-BE49-F238E27FC236}">
                <a16:creationId xmlns:a16="http://schemas.microsoft.com/office/drawing/2014/main" id="{7736445A-6FAB-4DB4-BCBF-755DB9B3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4790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6" name="process-step-bar-1">
            <a:extLst xmlns:a="http://schemas.openxmlformats.org/drawingml/2006/main">
              <a:ext uri="{FF2B5EF4-FFF2-40B4-BE49-F238E27FC236}">
                <a16:creationId xmlns:a16="http://schemas.microsoft.com/office/drawing/2014/main" id="{6AD7E1BB-9884-4A5D-95F9-47F4E296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479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7" name="process-step-no-1">
            <a:extLst xmlns:a="http://schemas.openxmlformats.org/drawingml/2006/main">
              <a:ext uri="{FF2B5EF4-FFF2-40B4-BE49-F238E27FC236}">
                <a16:creationId xmlns:a16="http://schemas.microsoft.com/office/drawing/2014/main" id="{8AC36751-3C7F-41B0-AEBC-018D0FE2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1935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01</a:t>
            </a:r>
          </a:p>
        </p:txBody>
      </p:sp>
      <p:sp>
        <p:nvSpPr>
          <p:cNvPr id="38" name="process-step-title-1">
            <a:extLst xmlns:a="http://schemas.openxmlformats.org/drawingml/2006/main">
              <a:ext uri="{FF2B5EF4-FFF2-40B4-BE49-F238E27FC236}">
                <a16:creationId xmlns:a16="http://schemas.microsoft.com/office/drawing/2014/main" id="{92C67C38-D8B8-4427-8F2E-A546AEE5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622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이슈 등록</a:t>
            </a:r>
          </a:p>
        </p:txBody>
      </p:sp>
      <p:sp>
        <p:nvSpPr>
          <p:cNvPr id="39" name="process-step-body-1">
            <a:extLst xmlns:a="http://schemas.openxmlformats.org/drawingml/2006/main">
              <a:ext uri="{FF2B5EF4-FFF2-40B4-BE49-F238E27FC236}">
                <a16:creationId xmlns:a16="http://schemas.microsoft.com/office/drawing/2014/main" id="{79414D4D-EAF6-453F-B78E-A0CD3C75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193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일정·빌드·QA·퍼블리셔 항목 분류</a:t>
            </a:r>
          </a:p>
        </p:txBody>
      </p:sp>
      <p:sp>
        <p:nvSpPr>
          <p:cNvPr id="40" name="process-step-2">
            <a:extLst xmlns:a="http://schemas.openxmlformats.org/drawingml/2006/main">
              <a:ext uri="{FF2B5EF4-FFF2-40B4-BE49-F238E27FC236}">
                <a16:creationId xmlns:a16="http://schemas.microsoft.com/office/drawing/2014/main" id="{FB065011-CA28-49C8-A031-0C726CBB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1" name="process-step-bar-2">
            <a:extLst xmlns:a="http://schemas.openxmlformats.org/drawingml/2006/main">
              <a:ext uri="{FF2B5EF4-FFF2-40B4-BE49-F238E27FC236}">
                <a16:creationId xmlns:a16="http://schemas.microsoft.com/office/drawing/2014/main" id="{663DF561-0F16-4EE6-AF25-C37AED96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42" name="process-step-no-2">
            <a:extLst xmlns:a="http://schemas.openxmlformats.org/drawingml/2006/main">
              <a:ext uri="{FF2B5EF4-FFF2-40B4-BE49-F238E27FC236}">
                <a16:creationId xmlns:a16="http://schemas.microsoft.com/office/drawing/2014/main" id="{79BA2F2B-69C8-41B4-B543-4E0426E0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3850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3" name="process-step-title-2">
            <a:extLst xmlns:a="http://schemas.openxmlformats.org/drawingml/2006/main">
              <a:ext uri="{FF2B5EF4-FFF2-40B4-BE49-F238E27FC236}">
                <a16:creationId xmlns:a16="http://schemas.microsoft.com/office/drawing/2014/main" id="{50C64D57-9222-4D60-9877-84F2A2E8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81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영향도 판단</a:t>
            </a:r>
          </a:p>
        </p:txBody>
      </p:sp>
      <p:sp>
        <p:nvSpPr>
          <p:cNvPr id="44" name="process-step-body-2">
            <a:extLst xmlns:a="http://schemas.openxmlformats.org/drawingml/2006/main">
              <a:ext uri="{FF2B5EF4-FFF2-40B4-BE49-F238E27FC236}">
                <a16:creationId xmlns:a16="http://schemas.microsoft.com/office/drawing/2014/main" id="{DAE552A3-EBC4-4C91-A5CD-E6E24DD7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385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일정·범위·품질 영향도 확인</a:t>
            </a:r>
          </a:p>
        </p:txBody>
      </p:sp>
      <p:sp>
        <p:nvSpPr>
          <p:cNvPr id="45" name="process-step-3">
            <a:extLst xmlns:a="http://schemas.openxmlformats.org/drawingml/2006/main">
              <a:ext uri="{FF2B5EF4-FFF2-40B4-BE49-F238E27FC236}">
                <a16:creationId xmlns:a16="http://schemas.microsoft.com/office/drawing/2014/main" id="{18BF9AE5-FB78-472B-91C0-FA8C32AF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8620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6" name="process-step-bar-3">
            <a:extLst xmlns:a="http://schemas.openxmlformats.org/drawingml/2006/main">
              <a:ext uri="{FF2B5EF4-FFF2-40B4-BE49-F238E27FC236}">
                <a16:creationId xmlns:a16="http://schemas.microsoft.com/office/drawing/2014/main" id="{58BF1799-ECBD-4CB4-9169-04C5EDA2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862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47" name="process-step-no-3">
            <a:extLst xmlns:a="http://schemas.openxmlformats.org/drawingml/2006/main">
              <a:ext uri="{FF2B5EF4-FFF2-40B4-BE49-F238E27FC236}">
                <a16:creationId xmlns:a16="http://schemas.microsoft.com/office/drawing/2014/main" id="{4E505C1B-BD74-4588-AEA7-C7560563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8" name="process-step-title-3">
            <a:extLst xmlns:a="http://schemas.openxmlformats.org/drawingml/2006/main">
              <a:ext uri="{FF2B5EF4-FFF2-40B4-BE49-F238E27FC236}">
                <a16:creationId xmlns:a16="http://schemas.microsoft.com/office/drawing/2014/main" id="{B56F5445-0464-4F8B-A162-1937B61E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담당·기한 지정</a:t>
            </a:r>
          </a:p>
        </p:txBody>
      </p:sp>
      <p:sp>
        <p:nvSpPr>
          <p:cNvPr id="49" name="process-step-body-3">
            <a:extLst xmlns:a="http://schemas.openxmlformats.org/drawingml/2006/main">
              <a:ext uri="{FF2B5EF4-FFF2-40B4-BE49-F238E27FC236}">
                <a16:creationId xmlns:a16="http://schemas.microsoft.com/office/drawing/2014/main" id="{3EDB0870-B370-4C94-B25C-4AD93AE0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57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개발·QA·퍼블리셔 담당 확정</a:t>
            </a:r>
          </a:p>
        </p:txBody>
      </p:sp>
      <p:sp>
        <p:nvSpPr>
          <p:cNvPr id="50" name="process-step-4">
            <a:extLst xmlns:a="http://schemas.openxmlformats.org/drawingml/2006/main">
              <a:ext uri="{FF2B5EF4-FFF2-40B4-BE49-F238E27FC236}">
                <a16:creationId xmlns:a16="http://schemas.microsoft.com/office/drawing/2014/main" id="{8C2F8CA5-FF73-4D00-8FFF-F247C024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0535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1" name="process-step-bar-4">
            <a:extLst xmlns:a="http://schemas.openxmlformats.org/drawingml/2006/main">
              <a:ext uri="{FF2B5EF4-FFF2-40B4-BE49-F238E27FC236}">
                <a16:creationId xmlns:a16="http://schemas.microsoft.com/office/drawing/2014/main" id="{E8C9B1E4-8378-4E07-A3D2-93FA55C2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053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52" name="process-step-no-4">
            <a:extLst xmlns:a="http://schemas.openxmlformats.org/drawingml/2006/main">
              <a:ext uri="{FF2B5EF4-FFF2-40B4-BE49-F238E27FC236}">
                <a16:creationId xmlns:a16="http://schemas.microsoft.com/office/drawing/2014/main" id="{E38F3C81-37A1-45E1-BB89-61B2F514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8BD9E8"/>
          </a:solidFill>
          <a:ln xmlns:a="http://schemas.openxmlformats.org/drawingml/2006/main" w="9525">
            <a:solidFill>
              <a:srgbClr val="8BD9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3" name="process-step-title-4">
            <a:extLst xmlns:a="http://schemas.openxmlformats.org/drawingml/2006/main">
              <a:ext uri="{FF2B5EF4-FFF2-40B4-BE49-F238E27FC236}">
                <a16:creationId xmlns:a16="http://schemas.microsoft.com/office/drawing/2014/main" id="{5D9FA32D-6361-4205-BC4E-9820CFC6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19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마일스톤 재판정</a:t>
            </a:r>
          </a:p>
        </p:txBody>
      </p:sp>
      <p:sp>
        <p:nvSpPr>
          <p:cNvPr id="54" name="process-step-body-4">
            <a:extLst xmlns:a="http://schemas.openxmlformats.org/drawingml/2006/main">
              <a:ext uri="{FF2B5EF4-FFF2-40B4-BE49-F238E27FC236}">
                <a16:creationId xmlns:a16="http://schemas.microsoft.com/office/drawing/2014/main" id="{5886BB72-0198-4A26-B851-B955D23A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768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해결·보류·제외 기준 정리</a:t>
            </a:r>
          </a:p>
        </p:txBody>
      </p:sp>
      <p:sp>
        <p:nvSpPr>
          <p:cNvPr id="55" name="risk-principle-panel">
            <a:extLst xmlns:a="http://schemas.openxmlformats.org/drawingml/2006/main">
              <a:ext uri="{FF2B5EF4-FFF2-40B4-BE49-F238E27FC236}">
                <a16:creationId xmlns:a16="http://schemas.microsoft.com/office/drawing/2014/main" id="{C8761D44-51E3-4537-8D53-2819790D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08775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56" name="risk-principle-label">
            <a:extLst xmlns:a="http://schemas.openxmlformats.org/drawingml/2006/main">
              <a:ext uri="{FF2B5EF4-FFF2-40B4-BE49-F238E27FC236}">
                <a16:creationId xmlns:a16="http://schemas.microsoft.com/office/drawing/2014/main" id="{B44F54F3-792E-4033-9F26-F26C531AB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PM 역할</a:t>
            </a:r>
          </a:p>
        </p:txBody>
      </p:sp>
      <p:sp>
        <p:nvSpPr>
          <p:cNvPr id="57" name="risk-principle-body">
            <a:extLst xmlns:a="http://schemas.openxmlformats.org/drawingml/2006/main">
              <a:ext uri="{FF2B5EF4-FFF2-40B4-BE49-F238E27FC236}">
                <a16:creationId xmlns:a16="http://schemas.microsoft.com/office/drawing/2014/main" id="{E48AE211-E007-4DFD-B7F5-2A08CD0E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05500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리스크를 직접 해결하기보다, 일정·버전·이슈를 의사결정 가능한 상태로 정리하는 것이 핵심입니다.</a:t>
            </a:r>
          </a:p>
        </p:txBody>
      </p:sp>
    </p:spTree>
    <p:extLst>
      <p:ext uri="{BB962C8B-B14F-4D97-AF65-F5344CB8AC3E}">
        <p14:creationId xmlns:p14="http://schemas.microsoft.com/office/powerpoint/2010/main" val="19805208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529DA18F-8C7F-4B66-90D5-0941BAEC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18D5079A-051D-474F-A480-28DBA45F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341EA56-D0C6-4884-B5F1-BA5DB9E0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PUBLISHER COMMUNICATION | PAGE 05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E840AE0-561E-40FC-AE5C-B42DB9C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61D03185-FBC9-4C65-9885-93E63560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05</a:t>
            </a:r>
          </a:p>
        </p:txBody>
      </p:sp>
      <p:sp>
        <p:nvSpPr>
          <p:cNvPr id="6" name="title-05">
            <a:extLst xmlns:a="http://schemas.openxmlformats.org/drawingml/2006/main">
              <a:ext uri="{FF2B5EF4-FFF2-40B4-BE49-F238E27FC236}">
                <a16:creationId xmlns:a16="http://schemas.microsoft.com/office/drawing/2014/main" id="{541B6587-00A1-47F4-A3BE-11A3F1D9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퍼블리셔 대응은 일정·버전·이슈 기준을 하나로 맞춰 운영합니다</a:t>
            </a:r>
          </a:p>
        </p:txBody>
      </p:sp>
      <p:sp>
        <p:nvSpPr>
          <p:cNvPr id="7" name="subtitle-05">
            <a:extLst xmlns:a="http://schemas.openxmlformats.org/drawingml/2006/main">
              <a:ext uri="{FF2B5EF4-FFF2-40B4-BE49-F238E27FC236}">
                <a16:creationId xmlns:a16="http://schemas.microsoft.com/office/drawing/2014/main" id="{E009D2CA-0B0D-4591-840C-CE89AC43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한·일 협업 구간에서는 요청과 피드백을 분리하지 않고, 마일스톤 판단에 필요한 상태값으로 정리해야 합니다.</a:t>
            </a:r>
          </a:p>
        </p:txBody>
      </p:sp>
      <p:sp>
        <p:nvSpPr>
          <p:cNvPr id="8" name="stakeholder-title">
            <a:extLst xmlns:a="http://schemas.openxmlformats.org/drawingml/2006/main">
              <a:ext uri="{FF2B5EF4-FFF2-40B4-BE49-F238E27FC236}">
                <a16:creationId xmlns:a16="http://schemas.microsoft.com/office/drawing/2014/main" id="{D0C1F87A-C0BE-4195-8E76-76C2992E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협업 대상</a:t>
            </a:r>
          </a:p>
        </p:txBody>
      </p:sp>
      <p:sp>
        <p:nvSpPr>
          <p:cNvPr id="9" name="stakeholder-note">
            <a:extLst xmlns:a="http://schemas.openxmlformats.org/drawingml/2006/main">
              <a:ext uri="{FF2B5EF4-FFF2-40B4-BE49-F238E27FC236}">
                <a16:creationId xmlns:a16="http://schemas.microsoft.com/office/drawing/2014/main" id="{99359DB5-8F38-4FA6-A7EB-714BBC40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8097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94A3B8"/>
                </a:solidFill>
              </a:defRPr>
            </a:pPr>
            <a:r>
              <a:rPr sz="975">
                <a:solidFill>
                  <a:srgbClr val="94A3B8"/>
                </a:solidFill>
              </a:rPr>
              <a:t>역할별 확인 기준을 고정해 커뮤니케이션 누락을 줄입니다.</a:t>
            </a:r>
          </a:p>
        </p:txBody>
      </p:sp>
      <p:sp>
        <p:nvSpPr>
          <p:cNvPr id="10" name="stakeholder-card-1">
            <a:extLst xmlns:a="http://schemas.openxmlformats.org/drawingml/2006/main">
              <a:ext uri="{FF2B5EF4-FFF2-40B4-BE49-F238E27FC236}">
                <a16:creationId xmlns:a16="http://schemas.microsoft.com/office/drawing/2014/main" id="{FD4BF2B2-32E6-4EB9-B2A2-DE36FD22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1238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1" name="stakeholder-bar-1">
            <a:extLst xmlns:a="http://schemas.openxmlformats.org/drawingml/2006/main">
              <a:ext uri="{FF2B5EF4-FFF2-40B4-BE49-F238E27FC236}">
                <a16:creationId xmlns:a16="http://schemas.microsoft.com/office/drawing/2014/main" id="{0E65F953-366C-48C4-943A-EB237E89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123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2" name="stakeholder-role-1">
            <a:extLst xmlns:a="http://schemas.openxmlformats.org/drawingml/2006/main">
              <a:ext uri="{FF2B5EF4-FFF2-40B4-BE49-F238E27FC236}">
                <a16:creationId xmlns:a16="http://schemas.microsoft.com/office/drawing/2014/main" id="{8EAFB506-5AF5-4BCD-8512-699C6650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 PM</a:t>
            </a:r>
          </a:p>
        </p:txBody>
      </p:sp>
      <p:sp>
        <p:nvSpPr>
          <p:cNvPr id="13" name="stakeholder-focus-1">
            <a:extLst xmlns:a="http://schemas.openxmlformats.org/drawingml/2006/main">
              <a:ext uri="{FF2B5EF4-FFF2-40B4-BE49-F238E27FC236}">
                <a16:creationId xmlns:a16="http://schemas.microsoft.com/office/drawing/2014/main" id="{3EE6BCD1-912E-4893-A4B6-9F5F3770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00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일정·범위 통제</a:t>
            </a:r>
          </a:p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이슈 우선순위</a:t>
            </a:r>
          </a:p>
        </p:txBody>
      </p:sp>
      <p:sp>
        <p:nvSpPr>
          <p:cNvPr id="14" name="stakeholder-card-2">
            <a:extLst xmlns:a="http://schemas.openxmlformats.org/drawingml/2006/main">
              <a:ext uri="{FF2B5EF4-FFF2-40B4-BE49-F238E27FC236}">
                <a16:creationId xmlns:a16="http://schemas.microsoft.com/office/drawing/2014/main" id="{62892338-EB02-4DD2-A3C9-D46B7663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238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5" name="stakeholder-bar-2">
            <a:extLst xmlns:a="http://schemas.openxmlformats.org/drawingml/2006/main">
              <a:ext uri="{FF2B5EF4-FFF2-40B4-BE49-F238E27FC236}">
                <a16:creationId xmlns:a16="http://schemas.microsoft.com/office/drawing/2014/main" id="{D8600CF9-F901-437B-A7FD-4CCFE199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23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6" name="stakeholder-role-2">
            <a:extLst xmlns:a="http://schemas.openxmlformats.org/drawingml/2006/main">
              <a:ext uri="{FF2B5EF4-FFF2-40B4-BE49-F238E27FC236}">
                <a16:creationId xmlns:a16="http://schemas.microsoft.com/office/drawing/2014/main" id="{B1AF91D6-F98B-4379-A515-F767BC1B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3812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</a:t>
            </a:r>
          </a:p>
        </p:txBody>
      </p:sp>
      <p:sp>
        <p:nvSpPr>
          <p:cNvPr id="17" name="stakeholder-focus-2">
            <a:extLst xmlns:a="http://schemas.openxmlformats.org/drawingml/2006/main">
              <a:ext uri="{FF2B5EF4-FFF2-40B4-BE49-F238E27FC236}">
                <a16:creationId xmlns:a16="http://schemas.microsoft.com/office/drawing/2014/main" id="{A7FEF5DC-50AA-4E37-B615-A5DEE7C2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05100"/>
            <a:ext cx="100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빌드 반영</a:t>
            </a:r>
          </a:p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버전 기준 관리</a:t>
            </a:r>
          </a:p>
        </p:txBody>
      </p:sp>
      <p:sp>
        <p:nvSpPr>
          <p:cNvPr id="18" name="stakeholder-card-3">
            <a:extLst xmlns:a="http://schemas.openxmlformats.org/drawingml/2006/main">
              <a:ext uri="{FF2B5EF4-FFF2-40B4-BE49-F238E27FC236}">
                <a16:creationId xmlns:a16="http://schemas.microsoft.com/office/drawing/2014/main" id="{4B416683-299F-4FB4-BD66-34C42B83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52650"/>
            <a:ext cx="1238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9" name="stakeholder-bar-3">
            <a:extLst xmlns:a="http://schemas.openxmlformats.org/drawingml/2006/main">
              <a:ext uri="{FF2B5EF4-FFF2-40B4-BE49-F238E27FC236}">
                <a16:creationId xmlns:a16="http://schemas.microsoft.com/office/drawing/2014/main" id="{D9A779D5-4871-4DE1-92B6-62857D02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52650"/>
            <a:ext cx="123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0" name="stakeholder-role-3">
            <a:extLst xmlns:a="http://schemas.openxmlformats.org/drawingml/2006/main">
              <a:ext uri="{FF2B5EF4-FFF2-40B4-BE49-F238E27FC236}">
                <a16:creationId xmlns:a16="http://schemas.microsoft.com/office/drawing/2014/main" id="{BEF8E61E-1B97-48E8-97D1-281DCD06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812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21" name="stakeholder-focus-3">
            <a:extLst xmlns:a="http://schemas.openxmlformats.org/drawingml/2006/main">
              <a:ext uri="{FF2B5EF4-FFF2-40B4-BE49-F238E27FC236}">
                <a16:creationId xmlns:a16="http://schemas.microsoft.com/office/drawing/2014/main" id="{318C3653-E1D8-439D-82F9-02D6CC44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100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검수 결과</a:t>
            </a:r>
          </a:p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수정 반영 추적</a:t>
            </a:r>
          </a:p>
        </p:txBody>
      </p:sp>
      <p:sp>
        <p:nvSpPr>
          <p:cNvPr id="22" name="stakeholder-card-4">
            <a:extLst xmlns:a="http://schemas.openxmlformats.org/drawingml/2006/main">
              <a:ext uri="{FF2B5EF4-FFF2-40B4-BE49-F238E27FC236}">
                <a16:creationId xmlns:a16="http://schemas.microsoft.com/office/drawing/2014/main" id="{EEC2A7B4-0CC1-432C-A378-8E1DF5EC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1238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3" name="stakeholder-bar-4">
            <a:extLst xmlns:a="http://schemas.openxmlformats.org/drawingml/2006/main">
              <a:ext uri="{FF2B5EF4-FFF2-40B4-BE49-F238E27FC236}">
                <a16:creationId xmlns:a16="http://schemas.microsoft.com/office/drawing/2014/main" id="{4BAF6961-98A7-4956-BD19-85037E26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152650"/>
            <a:ext cx="123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24" name="stakeholder-role-4">
            <a:extLst xmlns:a="http://schemas.openxmlformats.org/drawingml/2006/main">
              <a:ext uri="{FF2B5EF4-FFF2-40B4-BE49-F238E27FC236}">
                <a16:creationId xmlns:a16="http://schemas.microsoft.com/office/drawing/2014/main" id="{4603777A-F2AA-497B-8878-01388CC8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812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운영</a:t>
            </a:r>
          </a:p>
        </p:txBody>
      </p:sp>
      <p:sp>
        <p:nvSpPr>
          <p:cNvPr id="25" name="stakeholder-focus-4">
            <a:extLst xmlns:a="http://schemas.openxmlformats.org/drawingml/2006/main">
              <a:ext uri="{FF2B5EF4-FFF2-40B4-BE49-F238E27FC236}">
                <a16:creationId xmlns:a16="http://schemas.microsoft.com/office/drawing/2014/main" id="{D1A393FD-F335-4C8A-9828-E507A6D0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05100"/>
            <a:ext cx="100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공지·이벤트</a:t>
            </a:r>
          </a:p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Live 준비</a:t>
            </a:r>
          </a:p>
        </p:txBody>
      </p:sp>
      <p:sp>
        <p:nvSpPr>
          <p:cNvPr id="26" name="stakeholder-card-5">
            <a:extLst xmlns:a="http://schemas.openxmlformats.org/drawingml/2006/main">
              <a:ext uri="{FF2B5EF4-FFF2-40B4-BE49-F238E27FC236}">
                <a16:creationId xmlns:a16="http://schemas.microsoft.com/office/drawing/2014/main" id="{5B20F428-89F6-43A2-9AA0-27C85EB1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1238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7" name="stakeholder-bar-5">
            <a:extLst xmlns:a="http://schemas.openxmlformats.org/drawingml/2006/main">
              <a:ext uri="{FF2B5EF4-FFF2-40B4-BE49-F238E27FC236}">
                <a16:creationId xmlns:a16="http://schemas.microsoft.com/office/drawing/2014/main" id="{B0AC7B9D-8064-4CD5-B91D-728D54B6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123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8" name="stakeholder-role-5">
            <a:extLst xmlns:a="http://schemas.openxmlformats.org/drawingml/2006/main">
              <a:ext uri="{FF2B5EF4-FFF2-40B4-BE49-F238E27FC236}">
                <a16:creationId xmlns:a16="http://schemas.microsoft.com/office/drawing/2014/main" id="{0A807E03-FE0C-459B-99DA-A3E3D0C7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일본 퍼블리셔</a:t>
            </a:r>
          </a:p>
        </p:txBody>
      </p:sp>
      <p:sp>
        <p:nvSpPr>
          <p:cNvPr id="29" name="stakeholder-focus-5">
            <a:extLst xmlns:a="http://schemas.openxmlformats.org/drawingml/2006/main">
              <a:ext uri="{FF2B5EF4-FFF2-40B4-BE49-F238E27FC236}">
                <a16:creationId xmlns:a16="http://schemas.microsoft.com/office/drawing/2014/main" id="{F9984B3B-88DE-4566-94C8-8DAA1B8A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05100"/>
            <a:ext cx="100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검수 피드백</a:t>
            </a:r>
          </a:p>
          <a:p xmlns:a="http://schemas.openxmlformats.org/drawingml/2006/main">
            <a:pPr algn="ctr">
              <a:defRPr sz="863">
                <a:solidFill>
                  <a:srgbClr val="CBD5E1"/>
                </a:solidFill>
              </a:defRPr>
            </a:pPr>
            <a:r>
              <a:rPr sz="863">
                <a:solidFill>
                  <a:srgbClr val="CBD5E1"/>
                </a:solidFill>
              </a:rPr>
              <a:t>사업 요청사항</a:t>
            </a:r>
          </a:p>
        </p:txBody>
      </p:sp>
      <p:sp>
        <p:nvSpPr>
          <p:cNvPr id="30" name="flow-title">
            <a:extLst xmlns:a="http://schemas.openxmlformats.org/drawingml/2006/main">
              <a:ext uri="{FF2B5EF4-FFF2-40B4-BE49-F238E27FC236}">
                <a16:creationId xmlns:a16="http://schemas.microsoft.com/office/drawing/2014/main" id="{7F4C8C27-CCE1-4C82-9AC1-7DF26349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주간 커뮤니케이션 흐름</a:t>
            </a:r>
          </a:p>
        </p:txBody>
      </p:sp>
      <p:sp>
        <p:nvSpPr>
          <p:cNvPr id="31" name="flow-note">
            <a:extLst xmlns:a="http://schemas.openxmlformats.org/drawingml/2006/main">
              <a:ext uri="{FF2B5EF4-FFF2-40B4-BE49-F238E27FC236}">
                <a16:creationId xmlns:a16="http://schemas.microsoft.com/office/drawing/2014/main" id="{89F1AE71-AE6F-4E06-8711-ED455E58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6957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94A3B8"/>
                </a:solidFill>
              </a:defRPr>
            </a:pPr>
            <a:r>
              <a:rPr sz="975">
                <a:solidFill>
                  <a:srgbClr val="94A3B8"/>
                </a:solidFill>
              </a:rPr>
              <a:t>공유 목적은 보고가 아니라 다음 마일스톤 진입 가능 여부 판단입니다.</a:t>
            </a:r>
          </a:p>
        </p:txBody>
      </p:sp>
      <p:sp>
        <p:nvSpPr>
          <p:cNvPr id="32" name="collab-flow-step-1">
            <a:extLst xmlns:a="http://schemas.openxmlformats.org/drawingml/2006/main">
              <a:ext uri="{FF2B5EF4-FFF2-40B4-BE49-F238E27FC236}">
                <a16:creationId xmlns:a16="http://schemas.microsoft.com/office/drawing/2014/main" id="{897EE40C-2F42-4441-BA01-3966B0EA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19550"/>
            <a:ext cx="11620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3" name="collab-flow-no-1">
            <a:extLst xmlns:a="http://schemas.openxmlformats.org/drawingml/2006/main">
              <a:ext uri="{FF2B5EF4-FFF2-40B4-BE49-F238E27FC236}">
                <a16:creationId xmlns:a16="http://schemas.microsoft.com/office/drawing/2014/main" id="{26928740-74FA-4E3C-AD21-00494667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133850"/>
            <a:ext cx="495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01</a:t>
            </a:r>
          </a:p>
        </p:txBody>
      </p:sp>
      <p:sp>
        <p:nvSpPr>
          <p:cNvPr id="34" name="collab-flow-title-1">
            <a:extLst xmlns:a="http://schemas.openxmlformats.org/drawingml/2006/main">
              <a:ext uri="{FF2B5EF4-FFF2-40B4-BE49-F238E27FC236}">
                <a16:creationId xmlns:a16="http://schemas.microsoft.com/office/drawing/2014/main" id="{905782E4-E867-4516-B181-82D9E7B6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4817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점검</a:t>
            </a:r>
          </a:p>
        </p:txBody>
      </p:sp>
      <p:sp>
        <p:nvSpPr>
          <p:cNvPr id="35" name="collab-flow-body-1">
            <a:extLst xmlns:a="http://schemas.openxmlformats.org/drawingml/2006/main">
              <a:ext uri="{FF2B5EF4-FFF2-40B4-BE49-F238E27FC236}">
                <a16:creationId xmlns:a16="http://schemas.microsoft.com/office/drawing/2014/main" id="{E401C370-B6F7-4265-9181-EB443CAC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마일스톤 진행률</a:t>
            </a:r>
          </a:p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및 지연 항목 확인</a:t>
            </a:r>
          </a:p>
        </p:txBody>
      </p:sp>
      <p:sp>
        <p:nvSpPr>
          <p:cNvPr id="36" name="collab-flow-arrow-1">
            <a:extLst xmlns:a="http://schemas.openxmlformats.org/drawingml/2006/main">
              <a:ext uri="{FF2B5EF4-FFF2-40B4-BE49-F238E27FC236}">
                <a16:creationId xmlns:a16="http://schemas.microsoft.com/office/drawing/2014/main" id="{B9EF05F0-8FAA-4A1C-9918-1C3F8756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815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</a:defRPr>
            </a:pPr>
            <a:r>
              <a:rPr sz="1350" b="1">
                <a:solidFill>
                  <a:srgbClr val="94A3B8"/>
                </a:solidFill>
              </a:rPr>
              <a:t>&gt;</a:t>
            </a:r>
          </a:p>
        </p:txBody>
      </p:sp>
      <p:sp>
        <p:nvSpPr>
          <p:cNvPr id="37" name="collab-flow-step-2">
            <a:extLst xmlns:a="http://schemas.openxmlformats.org/drawingml/2006/main">
              <a:ext uri="{FF2B5EF4-FFF2-40B4-BE49-F238E27FC236}">
                <a16:creationId xmlns:a16="http://schemas.microsoft.com/office/drawing/2014/main" id="{5BCCC36C-0FA8-47C9-9082-EE8BD275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019550"/>
            <a:ext cx="11620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8" name="collab-flow-no-2">
            <a:extLst xmlns:a="http://schemas.openxmlformats.org/drawingml/2006/main">
              <a:ext uri="{FF2B5EF4-FFF2-40B4-BE49-F238E27FC236}">
                <a16:creationId xmlns:a16="http://schemas.microsoft.com/office/drawing/2014/main" id="{CDA0A251-0EF5-4410-8656-256F45EC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133850"/>
            <a:ext cx="495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39" name="collab-flow-title-2">
            <a:extLst xmlns:a="http://schemas.openxmlformats.org/drawingml/2006/main">
              <a:ext uri="{FF2B5EF4-FFF2-40B4-BE49-F238E27FC236}">
                <a16:creationId xmlns:a16="http://schemas.microsoft.com/office/drawing/2014/main" id="{0B8C23B3-41E4-4968-9A0A-0346A54E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4817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전달</a:t>
            </a:r>
          </a:p>
        </p:txBody>
      </p:sp>
      <p:sp>
        <p:nvSpPr>
          <p:cNvPr id="40" name="collab-flow-body-2">
            <a:extLst xmlns:a="http://schemas.openxmlformats.org/drawingml/2006/main">
              <a:ext uri="{FF2B5EF4-FFF2-40B4-BE49-F238E27FC236}">
                <a16:creationId xmlns:a16="http://schemas.microsoft.com/office/drawing/2014/main" id="{EA884AD4-1EB7-4FBC-97F3-F8CC2D79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672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Perforce 기준</a:t>
            </a:r>
          </a:p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빌드·버전 공유</a:t>
            </a:r>
          </a:p>
        </p:txBody>
      </p:sp>
      <p:sp>
        <p:nvSpPr>
          <p:cNvPr id="41" name="collab-flow-arrow-2">
            <a:extLst xmlns:a="http://schemas.openxmlformats.org/drawingml/2006/main">
              <a:ext uri="{FF2B5EF4-FFF2-40B4-BE49-F238E27FC236}">
                <a16:creationId xmlns:a16="http://schemas.microsoft.com/office/drawing/2014/main" id="{6A820557-6D18-46DC-B4D1-F9636B5F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3815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</a:defRPr>
            </a:pPr>
            <a:r>
              <a:rPr sz="1350" b="1">
                <a:solidFill>
                  <a:srgbClr val="94A3B8"/>
                </a:solidFill>
              </a:rPr>
              <a:t>&gt;</a:t>
            </a:r>
          </a:p>
        </p:txBody>
      </p:sp>
      <p:sp>
        <p:nvSpPr>
          <p:cNvPr id="42" name="collab-flow-step-3">
            <a:extLst xmlns:a="http://schemas.openxmlformats.org/drawingml/2006/main">
              <a:ext uri="{FF2B5EF4-FFF2-40B4-BE49-F238E27FC236}">
                <a16:creationId xmlns:a16="http://schemas.microsoft.com/office/drawing/2014/main" id="{C05FFA4B-42D4-445B-861B-23375C9D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19550"/>
            <a:ext cx="11620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3" name="collab-flow-no-3">
            <a:extLst xmlns:a="http://schemas.openxmlformats.org/drawingml/2006/main">
              <a:ext uri="{FF2B5EF4-FFF2-40B4-BE49-F238E27FC236}">
                <a16:creationId xmlns:a16="http://schemas.microsoft.com/office/drawing/2014/main" id="{4157E4E7-97FF-4A3D-8D70-67202DF8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133850"/>
            <a:ext cx="495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4" name="collab-flow-title-3">
            <a:extLst xmlns:a="http://schemas.openxmlformats.org/drawingml/2006/main">
              <a:ext uri="{FF2B5EF4-FFF2-40B4-BE49-F238E27FC236}">
                <a16:creationId xmlns:a16="http://schemas.microsoft.com/office/drawing/2014/main" id="{29326225-BB6F-44B3-BC37-58667F28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4817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수집</a:t>
            </a:r>
          </a:p>
        </p:txBody>
      </p:sp>
      <p:sp>
        <p:nvSpPr>
          <p:cNvPr id="45" name="collab-flow-body-3">
            <a:extLst xmlns:a="http://schemas.openxmlformats.org/drawingml/2006/main">
              <a:ext uri="{FF2B5EF4-FFF2-40B4-BE49-F238E27FC236}">
                <a16:creationId xmlns:a16="http://schemas.microsoft.com/office/drawing/2014/main" id="{95ACBAEE-6644-48A1-ABF6-34F6BBBD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6672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퍼블리셔 검수</a:t>
            </a:r>
          </a:p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피드백 정리</a:t>
            </a:r>
          </a:p>
        </p:txBody>
      </p:sp>
      <p:sp>
        <p:nvSpPr>
          <p:cNvPr id="46" name="collab-flow-arrow-3">
            <a:extLst xmlns:a="http://schemas.openxmlformats.org/drawingml/2006/main">
              <a:ext uri="{FF2B5EF4-FFF2-40B4-BE49-F238E27FC236}">
                <a16:creationId xmlns:a16="http://schemas.microsoft.com/office/drawing/2014/main" id="{EA8C0D94-690B-4DCC-9E2A-8A00C55E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815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</a:defRPr>
            </a:pPr>
            <a:r>
              <a:rPr sz="1350" b="1">
                <a:solidFill>
                  <a:srgbClr val="94A3B8"/>
                </a:solidFill>
              </a:rPr>
              <a:t>&gt;</a:t>
            </a:r>
          </a:p>
        </p:txBody>
      </p:sp>
      <p:sp>
        <p:nvSpPr>
          <p:cNvPr id="47" name="collab-flow-step-4">
            <a:extLst xmlns:a="http://schemas.openxmlformats.org/drawingml/2006/main">
              <a:ext uri="{FF2B5EF4-FFF2-40B4-BE49-F238E27FC236}">
                <a16:creationId xmlns:a16="http://schemas.microsoft.com/office/drawing/2014/main" id="{E0820FD3-4CDB-47D5-BE3A-4F8B2756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19550"/>
            <a:ext cx="11620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8" name="collab-flow-no-4">
            <a:extLst xmlns:a="http://schemas.openxmlformats.org/drawingml/2006/main">
              <a:ext uri="{FF2B5EF4-FFF2-40B4-BE49-F238E27FC236}">
                <a16:creationId xmlns:a16="http://schemas.microsoft.com/office/drawing/2014/main" id="{E2C78C33-8F73-45E3-95CC-52612C83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4133850"/>
            <a:ext cx="495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8BD9E8"/>
          </a:solidFill>
          <a:ln xmlns:a="http://schemas.openxmlformats.org/drawingml/2006/main" w="9525">
            <a:solidFill>
              <a:srgbClr val="8BD9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49" name="collab-flow-title-4">
            <a:extLst xmlns:a="http://schemas.openxmlformats.org/drawingml/2006/main">
              <a:ext uri="{FF2B5EF4-FFF2-40B4-BE49-F238E27FC236}">
                <a16:creationId xmlns:a16="http://schemas.microsoft.com/office/drawing/2014/main" id="{D1E6299F-07BC-405C-B8EC-A925C698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44817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조정</a:t>
            </a:r>
          </a:p>
        </p:txBody>
      </p:sp>
      <p:sp>
        <p:nvSpPr>
          <p:cNvPr id="50" name="collab-flow-body-4">
            <a:extLst xmlns:a="http://schemas.openxmlformats.org/drawingml/2006/main">
              <a:ext uri="{FF2B5EF4-FFF2-40B4-BE49-F238E27FC236}">
                <a16:creationId xmlns:a16="http://schemas.microsoft.com/office/drawing/2014/main" id="{83F38D6A-4CB6-4AAA-BC21-D1DE780A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6672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일정·범위 영향도</a:t>
            </a:r>
          </a:p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우선순위 판단</a:t>
            </a:r>
          </a:p>
        </p:txBody>
      </p:sp>
      <p:sp>
        <p:nvSpPr>
          <p:cNvPr id="51" name="collab-flow-arrow-4">
            <a:extLst xmlns:a="http://schemas.openxmlformats.org/drawingml/2006/main">
              <a:ext uri="{FF2B5EF4-FFF2-40B4-BE49-F238E27FC236}">
                <a16:creationId xmlns:a16="http://schemas.microsoft.com/office/drawing/2014/main" id="{80109B93-AD6B-4359-845A-1AAB1A6D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815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94A3B8"/>
                </a:solidFill>
              </a:defRPr>
            </a:pPr>
            <a:r>
              <a:rPr sz="1350" b="1">
                <a:solidFill>
                  <a:srgbClr val="94A3B8"/>
                </a:solidFill>
              </a:rPr>
              <a:t>&gt;</a:t>
            </a:r>
          </a:p>
        </p:txBody>
      </p:sp>
      <p:sp>
        <p:nvSpPr>
          <p:cNvPr id="52" name="collab-flow-step-5">
            <a:extLst xmlns:a="http://schemas.openxmlformats.org/drawingml/2006/main">
              <a:ext uri="{FF2B5EF4-FFF2-40B4-BE49-F238E27FC236}">
                <a16:creationId xmlns:a16="http://schemas.microsoft.com/office/drawing/2014/main" id="{62BF5EBD-371C-4634-9F02-C6D02228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1620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3" name="collab-flow-no-5">
            <a:extLst xmlns:a="http://schemas.openxmlformats.org/drawingml/2006/main">
              <a:ext uri="{FF2B5EF4-FFF2-40B4-BE49-F238E27FC236}">
                <a16:creationId xmlns:a16="http://schemas.microsoft.com/office/drawing/2014/main" id="{380E6CB0-BCC4-423F-B77A-33733EDC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33850"/>
            <a:ext cx="495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54" name="collab-flow-title-5">
            <a:extLst xmlns:a="http://schemas.openxmlformats.org/drawingml/2006/main">
              <a:ext uri="{FF2B5EF4-FFF2-40B4-BE49-F238E27FC236}">
                <a16:creationId xmlns:a16="http://schemas.microsoft.com/office/drawing/2014/main" id="{254893B7-B1DE-4527-AB3A-A9B63039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48175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판단</a:t>
            </a:r>
          </a:p>
        </p:txBody>
      </p:sp>
      <p:sp>
        <p:nvSpPr>
          <p:cNvPr id="55" name="collab-flow-body-5">
            <a:extLst xmlns:a="http://schemas.openxmlformats.org/drawingml/2006/main">
              <a:ext uri="{FF2B5EF4-FFF2-40B4-BE49-F238E27FC236}">
                <a16:creationId xmlns:a16="http://schemas.microsoft.com/office/drawing/2014/main" id="{53DE79D3-535D-4B10-93E8-C1E16DDE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672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릴리즈 후보</a:t>
            </a:r>
          </a:p>
          <a:p xmlns:a="http://schemas.openxmlformats.org/drawingml/2006/main">
            <a:pPr algn="ctr">
              <a:defRPr sz="675">
                <a:solidFill>
                  <a:srgbClr val="CBD5E1"/>
                </a:solidFill>
              </a:defRPr>
            </a:pPr>
            <a:r>
              <a:rPr sz="675">
                <a:solidFill>
                  <a:srgbClr val="CBD5E1"/>
                </a:solidFill>
              </a:rPr>
              <a:t>진입 여부 확정</a:t>
            </a:r>
          </a:p>
        </p:txBody>
      </p:sp>
      <p:sp>
        <p:nvSpPr>
          <p:cNvPr id="56" name="pm-points-title">
            <a:extLst xmlns:a="http://schemas.openxmlformats.org/drawingml/2006/main">
              <a:ext uri="{FF2B5EF4-FFF2-40B4-BE49-F238E27FC236}">
                <a16:creationId xmlns:a16="http://schemas.microsoft.com/office/drawing/2014/main" id="{A7491B5E-6A55-4E10-8B1E-86B682B6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PM 관리 포인트</a:t>
            </a:r>
          </a:p>
        </p:txBody>
      </p:sp>
      <p:sp>
        <p:nvSpPr>
          <p:cNvPr id="57" name="pm-point-1">
            <a:extLst xmlns:a="http://schemas.openxmlformats.org/drawingml/2006/main">
              <a:ext uri="{FF2B5EF4-FFF2-40B4-BE49-F238E27FC236}">
                <a16:creationId xmlns:a16="http://schemas.microsoft.com/office/drawing/2014/main" id="{327C6F12-583B-494A-A860-F55325A9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32956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8" name="pm-point-bar-1">
            <a:extLst xmlns:a="http://schemas.openxmlformats.org/drawingml/2006/main">
              <a:ext uri="{FF2B5EF4-FFF2-40B4-BE49-F238E27FC236}">
                <a16:creationId xmlns:a16="http://schemas.microsoft.com/office/drawing/2014/main" id="{AE12F192-B14F-4E88-8507-ED3E4105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59" name="pm-point-label-1">
            <a:extLst xmlns:a="http://schemas.openxmlformats.org/drawingml/2006/main">
              <a:ext uri="{FF2B5EF4-FFF2-40B4-BE49-F238E27FC236}">
                <a16:creationId xmlns:a16="http://schemas.microsoft.com/office/drawing/2014/main" id="{DB716F90-D566-46AF-BF5F-D3639B23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57425"/>
            <a:ext cx="2495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요청사항 단일화</a:t>
            </a:r>
          </a:p>
        </p:txBody>
      </p:sp>
      <p:sp>
        <p:nvSpPr>
          <p:cNvPr id="60" name="pm-point-body-1">
            <a:extLst xmlns:a="http://schemas.openxmlformats.org/drawingml/2006/main">
              <a:ext uri="{FF2B5EF4-FFF2-40B4-BE49-F238E27FC236}">
                <a16:creationId xmlns:a16="http://schemas.microsoft.com/office/drawing/2014/main" id="{7C9C5543-36F1-4DD6-9F0D-885484B3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955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요청을 일정·범위·이슈로 재분류</a:t>
            </a:r>
          </a:p>
        </p:txBody>
      </p:sp>
      <p:sp>
        <p:nvSpPr>
          <p:cNvPr id="61" name="pm-point-2">
            <a:extLst xmlns:a="http://schemas.openxmlformats.org/drawingml/2006/main">
              <a:ext uri="{FF2B5EF4-FFF2-40B4-BE49-F238E27FC236}">
                <a16:creationId xmlns:a16="http://schemas.microsoft.com/office/drawing/2014/main" id="{4505E69E-6A5F-4700-AB39-40973B6E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33700"/>
            <a:ext cx="32956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62" name="pm-point-bar-2">
            <a:extLst xmlns:a="http://schemas.openxmlformats.org/drawingml/2006/main">
              <a:ext uri="{FF2B5EF4-FFF2-40B4-BE49-F238E27FC236}">
                <a16:creationId xmlns:a16="http://schemas.microsoft.com/office/drawing/2014/main" id="{6CC939E3-305E-4A11-A6B6-B4430195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33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3" name="pm-point-label-2">
            <a:extLst xmlns:a="http://schemas.openxmlformats.org/drawingml/2006/main">
              <a:ext uri="{FF2B5EF4-FFF2-40B4-BE49-F238E27FC236}">
                <a16:creationId xmlns:a16="http://schemas.microsoft.com/office/drawing/2014/main" id="{49D1B667-118D-4FF2-8E47-B1C98D61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38475"/>
            <a:ext cx="2495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버전 기준 고정</a:t>
            </a:r>
          </a:p>
        </p:txBody>
      </p:sp>
      <p:sp>
        <p:nvSpPr>
          <p:cNvPr id="64" name="pm-point-body-2">
            <a:extLst xmlns:a="http://schemas.openxmlformats.org/drawingml/2006/main">
              <a:ext uri="{FF2B5EF4-FFF2-40B4-BE49-F238E27FC236}">
                <a16:creationId xmlns:a16="http://schemas.microsoft.com/office/drawing/2014/main" id="{DE8FFD82-141E-41EF-AA18-30D7B55E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7660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빌드 전달 시점과 검수 대상 버전을 명확화</a:t>
            </a:r>
          </a:p>
        </p:txBody>
      </p:sp>
      <p:sp>
        <p:nvSpPr>
          <p:cNvPr id="65" name="pm-point-3">
            <a:extLst xmlns:a="http://schemas.openxmlformats.org/drawingml/2006/main">
              <a:ext uri="{FF2B5EF4-FFF2-40B4-BE49-F238E27FC236}">
                <a16:creationId xmlns:a16="http://schemas.microsoft.com/office/drawing/2014/main" id="{A6305CF2-348E-4240-B55D-B42757EF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32956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66" name="pm-point-bar-3">
            <a:extLst xmlns:a="http://schemas.openxmlformats.org/drawingml/2006/main">
              <a:ext uri="{FF2B5EF4-FFF2-40B4-BE49-F238E27FC236}">
                <a16:creationId xmlns:a16="http://schemas.microsoft.com/office/drawing/2014/main" id="{0FE04E26-66B1-4ACD-AC41-8836B88E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7" name="pm-point-label-3">
            <a:extLst xmlns:a="http://schemas.openxmlformats.org/drawingml/2006/main">
              <a:ext uri="{FF2B5EF4-FFF2-40B4-BE49-F238E27FC236}">
                <a16:creationId xmlns:a16="http://schemas.microsoft.com/office/drawing/2014/main" id="{ABB1FFB6-9406-4998-A002-B0C319BC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19525"/>
            <a:ext cx="2495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의사결정 이슈 분리</a:t>
            </a:r>
          </a:p>
        </p:txBody>
      </p:sp>
      <p:sp>
        <p:nvSpPr>
          <p:cNvPr id="68" name="pm-point-body-3">
            <a:extLst xmlns:a="http://schemas.openxmlformats.org/drawingml/2006/main">
              <a:ext uri="{FF2B5EF4-FFF2-40B4-BE49-F238E27FC236}">
                <a16:creationId xmlns:a16="http://schemas.microsoft.com/office/drawing/2014/main" id="{1387DA5F-8E12-4E96-AC8F-BA5B5FF7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5765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지연 가능 항목은 마일스톤 판단 안건으로 전환</a:t>
            </a:r>
          </a:p>
        </p:txBody>
      </p:sp>
      <p:sp>
        <p:nvSpPr>
          <p:cNvPr id="69" name="pm-point-4">
            <a:extLst xmlns:a="http://schemas.openxmlformats.org/drawingml/2006/main">
              <a:ext uri="{FF2B5EF4-FFF2-40B4-BE49-F238E27FC236}">
                <a16:creationId xmlns:a16="http://schemas.microsoft.com/office/drawing/2014/main" id="{23627E4A-87CC-4F91-947C-E463B2A1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95800"/>
            <a:ext cx="32956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0" name="pm-point-bar-4">
            <a:extLst xmlns:a="http://schemas.openxmlformats.org/drawingml/2006/main">
              <a:ext uri="{FF2B5EF4-FFF2-40B4-BE49-F238E27FC236}">
                <a16:creationId xmlns:a16="http://schemas.microsoft.com/office/drawing/2014/main" id="{D8A6EDDA-AFBA-4902-AB32-869A14CC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958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71" name="pm-point-label-4">
            <a:extLst xmlns:a="http://schemas.openxmlformats.org/drawingml/2006/main">
              <a:ext uri="{FF2B5EF4-FFF2-40B4-BE49-F238E27FC236}">
                <a16:creationId xmlns:a16="http://schemas.microsoft.com/office/drawing/2014/main" id="{60A691B2-DB87-4542-9C9A-CB210651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00575"/>
            <a:ext cx="2495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Live 릴리즈 준비</a:t>
            </a:r>
          </a:p>
        </p:txBody>
      </p:sp>
      <p:sp>
        <p:nvSpPr>
          <p:cNvPr id="72" name="pm-point-body-4">
            <a:extLst xmlns:a="http://schemas.openxmlformats.org/drawingml/2006/main">
              <a:ext uri="{FF2B5EF4-FFF2-40B4-BE49-F238E27FC236}">
                <a16:creationId xmlns:a16="http://schemas.microsoft.com/office/drawing/2014/main" id="{95D206E0-7A04-49EF-8549-2C6D2FA4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64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배포·공지·운영 대응 항목을 같은 기준으로 확인</a:t>
            </a:r>
          </a:p>
        </p:txBody>
      </p:sp>
      <p:sp>
        <p:nvSpPr>
          <p:cNvPr id="73" name="collab-principle-panel">
            <a:extLst xmlns:a="http://schemas.openxmlformats.org/drawingml/2006/main">
              <a:ext uri="{FF2B5EF4-FFF2-40B4-BE49-F238E27FC236}">
                <a16:creationId xmlns:a16="http://schemas.microsoft.com/office/drawing/2014/main" id="{7FF8A68B-864B-4768-BFE6-46244578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08775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74" name="collab-principle-label">
            <a:extLst xmlns:a="http://schemas.openxmlformats.org/drawingml/2006/main">
              <a:ext uri="{FF2B5EF4-FFF2-40B4-BE49-F238E27FC236}">
                <a16:creationId xmlns:a16="http://schemas.microsoft.com/office/drawing/2014/main" id="{CCBD61E5-0D67-4D94-962E-81423008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운영 원칙</a:t>
            </a:r>
          </a:p>
        </p:txBody>
      </p:sp>
      <p:sp>
        <p:nvSpPr>
          <p:cNvPr id="75" name="collab-principle-body">
            <a:extLst xmlns:a="http://schemas.openxmlformats.org/drawingml/2006/main">
              <a:ext uri="{FF2B5EF4-FFF2-40B4-BE49-F238E27FC236}">
                <a16:creationId xmlns:a16="http://schemas.microsoft.com/office/drawing/2014/main" id="{07C02F0D-89EF-4AD2-9CD0-B219AD83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0550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퍼블리셔 대응은 별도 보고가 아니라 일정·버전·이슈를 통합 관리하는 PM 운영 흐름 안에서 처리합니다.</a:t>
            </a:r>
          </a:p>
        </p:txBody>
      </p:sp>
    </p:spTree>
    <p:extLst>
      <p:ext uri="{BB962C8B-B14F-4D97-AF65-F5344CB8AC3E}">
        <p14:creationId xmlns:p14="http://schemas.microsoft.com/office/powerpoint/2010/main" val="6404205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2026-07-13T09:56:55.4010000Z</dcterms:created>
  <dcterms:modified xsi:type="dcterms:W3CDTF">2026-07-13T09:56:55.4010000Z</dcterms:modified>
</coreProperties>
</file>