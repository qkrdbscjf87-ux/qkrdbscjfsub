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8e078fc70a4807" /><Relationship Type="http://schemas.openxmlformats.org/officeDocument/2006/relationships/extended-properties" Target="/docProps/app.xml" Id="Rb4323f2746e94e1c" /><Relationship Type="http://schemas.openxmlformats.org/officeDocument/2006/relationships/officeDocument" Target="/ppt/presentation.xml" Id="R324a0c1c417841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3ca0284a5045bb"/>
  </p:sldMasterIdLst>
  <p:notesMasterIdLst>
    <p:notesMasterId xmlns:r="http://schemas.openxmlformats.org/officeDocument/2006/relationships" r:id="Rd05d2d6db90245b2"/>
  </p:notesMasterIdLst>
  <p:sldIdLst>
    <p:sldId xmlns:r="http://schemas.openxmlformats.org/officeDocument/2006/relationships" id="256" r:id="Rcabe6be937b54c9b"/>
    <p:sldId xmlns:r="http://schemas.openxmlformats.org/officeDocument/2006/relationships" id="257" r:id="Rafd15bd06e254ca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caa6eb8320475d" /><Relationship Type="http://schemas.openxmlformats.org/officeDocument/2006/relationships/slideMaster" Target="/ppt/slideMasters/slideMaster1.xml" Id="Ra73ca0284a5045bb" /><Relationship Type="http://schemas.openxmlformats.org/officeDocument/2006/relationships/notesMaster" Target="/ppt/notesMasters/notesMaster1.xml" Id="Rd05d2d6db90245b2" /><Relationship Type="http://schemas.openxmlformats.org/officeDocument/2006/relationships/presProps" Target="/ppt/presProps.xml" Id="Rdbe6131a05374a13" /><Relationship Type="http://schemas.openxmlformats.org/officeDocument/2006/relationships/tableStyles" Target="/ppt/tableStyles.xml" Id="R32385f83e30d49bc" /><Relationship Type="http://schemas.openxmlformats.org/officeDocument/2006/relationships/slide" Target="/ppt/slides/slide1.xml" Id="Rcabe6be937b54c9b" /><Relationship Type="http://schemas.openxmlformats.org/officeDocument/2006/relationships/slide" Target="/ppt/slides/slide2.xml" Id="Rafd15bd06e254c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513ea4f62d4b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2e7d98c4ee496f" /><Relationship Type="http://schemas.openxmlformats.org/officeDocument/2006/relationships/notesMaster" Target="/ppt/notesMasters/notesMaster1.xml" Id="Ra57684a6e84047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8e15e852fe4d52" /><Relationship Type="http://schemas.openxmlformats.org/officeDocument/2006/relationships/notesMaster" Target="/ppt/notesMasters/notesMaster1.xml" Id="R7ce88f52eeb841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563928ace64b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a76452b47c4e6a" /><Relationship Type="http://schemas.openxmlformats.org/officeDocument/2006/relationships/slideLayout" Target="/ppt/slideLayouts/slideLayout1.xml" Id="Reae83263f9e943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e83263f9e943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b62b1f13e46ea" /><Relationship Type="http://schemas.openxmlformats.org/officeDocument/2006/relationships/notesSlide" Target="/ppt/notesSlides/notesSlide1.xml" Id="Ra8bae78ca2f147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83a59293240b1" /><Relationship Type="http://schemas.openxmlformats.org/officeDocument/2006/relationships/notesSlide" Target="/ppt/notesSlides/notesSlide2.xml" Id="R4934baf18ef941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BA9FC31A-24E2-4404-8D73-0C0E94D6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318ECBE9-8C22-4F3C-A00A-0DBDAB7C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1088874-0181-4485-8D4B-6D337C2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HIT2 JAPAN LAUNCH ROADMAP | PAGE 01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F27946D4-1325-49F4-A7C7-396F3A82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03285238-2862-4D0E-AA45-748D870B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01</a:t>
            </a:r>
          </a:p>
        </p:txBody>
      </p:sp>
      <p:sp>
        <p:nvSpPr>
          <p:cNvPr id="6" name="hero-panel">
            <a:extLst xmlns:a="http://schemas.openxmlformats.org/drawingml/2006/main">
              <a:ext uri="{FF2B5EF4-FFF2-40B4-BE49-F238E27FC236}">
                <a16:creationId xmlns:a16="http://schemas.microsoft.com/office/drawing/2014/main" id="{FD609226-52E0-494C-8185-45B80C8E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125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7" name="hero-kicker">
            <a:extLst xmlns:a="http://schemas.openxmlformats.org/drawingml/2006/main">
              <a:ext uri="{FF2B5EF4-FFF2-40B4-BE49-F238E27FC236}">
                <a16:creationId xmlns:a16="http://schemas.microsoft.com/office/drawing/2014/main" id="{7D29E825-A250-42CC-93B2-2582FB10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191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BD9E8"/>
                </a:solidFill>
              </a:defRPr>
            </a:pPr>
            <a:r>
              <a:rPr sz="1500" b="1">
                <a:solidFill>
                  <a:srgbClr val="8BD9E8"/>
                </a:solidFill>
              </a:rPr>
              <a:t>개발 PM 관점의 글로벌 런칭 준비안</a:t>
            </a:r>
          </a:p>
        </p:txBody>
      </p:sp>
      <p:sp>
        <p:nvSpPr>
          <p:cNvPr id="8" name="hero-title">
            <a:extLst xmlns:a="http://schemas.openxmlformats.org/drawingml/2006/main">
              <a:ext uri="{FF2B5EF4-FFF2-40B4-BE49-F238E27FC236}">
                <a16:creationId xmlns:a16="http://schemas.microsoft.com/office/drawing/2014/main" id="{CEBCDEA0-AB34-49D3-B587-18E4B868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HIT2 일본 런칭 6개월 전 로드맵</a:t>
            </a:r>
          </a:p>
        </p:txBody>
      </p:sp>
      <p:sp>
        <p:nvSpPr>
          <p:cNvPr id="9" name="hero-subtitle">
            <a:extLst xmlns:a="http://schemas.openxmlformats.org/drawingml/2006/main">
              <a:ext uri="{FF2B5EF4-FFF2-40B4-BE49-F238E27FC236}">
                <a16:creationId xmlns:a16="http://schemas.microsoft.com/office/drawing/2014/main" id="{F36DB0B3-40AF-4C87-80C1-DD45C16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CBD5E1"/>
                </a:solidFill>
              </a:defRPr>
            </a:pPr>
            <a:r>
              <a:rPr sz="1425">
                <a:solidFill>
                  <a:srgbClr val="CBD5E1"/>
                </a:solidFill>
              </a:rPr>
              <a:t>마일스톤, 빌드·버전, QA, 퍼블리셔 커뮤니케이션을 하나의 출시 준비 흐름으로 정리합니다.</a:t>
            </a:r>
          </a:p>
        </p:txBody>
      </p:sp>
      <p:sp>
        <p:nvSpPr>
          <p:cNvPr id="10" name="tag-1">
            <a:extLst xmlns:a="http://schemas.openxmlformats.org/drawingml/2006/main">
              <a:ext uri="{FF2B5EF4-FFF2-40B4-BE49-F238E27FC236}">
                <a16:creationId xmlns:a16="http://schemas.microsoft.com/office/drawing/2014/main" id="{3C230F18-95ED-4475-8E79-85CE2E58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001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9525">
            <a:solidFill>
              <a:srgbClr val="00B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6111F"/>
                </a:solidFill>
              </a:defRPr>
            </a:pPr>
            <a:r>
              <a:rPr sz="1125" b="1">
                <a:solidFill>
                  <a:srgbClr val="06111F"/>
                </a:solidFill>
              </a:rPr>
              <a:t>런칭 D-6M</a:t>
            </a:r>
          </a:p>
        </p:txBody>
      </p:sp>
      <p:sp>
        <p:nvSpPr>
          <p:cNvPr id="11" name="tag-2">
            <a:extLst xmlns:a="http://schemas.openxmlformats.org/drawingml/2006/main">
              <a:ext uri="{FF2B5EF4-FFF2-40B4-BE49-F238E27FC236}">
                <a16:creationId xmlns:a16="http://schemas.microsoft.com/office/drawing/2014/main" id="{51E654B1-2B53-4070-8AAD-BC79C07B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573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일본 서비스</a:t>
            </a:r>
          </a:p>
        </p:txBody>
      </p:sp>
      <p:sp>
        <p:nvSpPr>
          <p:cNvPr id="12" name="tag-3">
            <a:extLst xmlns:a="http://schemas.openxmlformats.org/drawingml/2006/main">
              <a:ext uri="{FF2B5EF4-FFF2-40B4-BE49-F238E27FC236}">
                <a16:creationId xmlns:a16="http://schemas.microsoft.com/office/drawing/2014/main" id="{F9DEF68A-91EE-4212-AD10-F7BF4B3B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개발 PM</a:t>
            </a:r>
          </a:p>
        </p:txBody>
      </p:sp>
      <p:sp>
        <p:nvSpPr>
          <p:cNvPr id="13" name="scope-title">
            <a:extLst xmlns:a="http://schemas.openxmlformats.org/drawingml/2006/main">
              <a:ext uri="{FF2B5EF4-FFF2-40B4-BE49-F238E27FC236}">
                <a16:creationId xmlns:a16="http://schemas.microsoft.com/office/drawing/2014/main" id="{DE00ADF5-937B-4350-97C0-4F09F1B3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작성 범위</a:t>
            </a:r>
          </a:p>
        </p:txBody>
      </p:sp>
      <p:sp>
        <p:nvSpPr>
          <p:cNvPr id="14" name="scope-note">
            <a:extLst xmlns:a="http://schemas.openxmlformats.org/drawingml/2006/main">
              <a:ext uri="{FF2B5EF4-FFF2-40B4-BE49-F238E27FC236}">
                <a16:creationId xmlns:a16="http://schemas.microsoft.com/office/drawing/2014/main" id="{F4A25A1E-BD60-434D-949D-46F03D72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8132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실제 경력 서술을 바탕으로 한 임의 로드맵 초안</a:t>
            </a:r>
          </a:p>
        </p:txBody>
      </p:sp>
      <p:sp>
        <p:nvSpPr>
          <p:cNvPr id="15" name="scope-row-1">
            <a:extLst xmlns:a="http://schemas.openxmlformats.org/drawingml/2006/main">
              <a:ext uri="{FF2B5EF4-FFF2-40B4-BE49-F238E27FC236}">
                <a16:creationId xmlns:a16="http://schemas.microsoft.com/office/drawing/2014/main" id="{57A04C4A-D67B-4AE3-8A04-3D58CF54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6" name="scope-label-1">
            <a:extLst xmlns:a="http://schemas.openxmlformats.org/drawingml/2006/main">
              <a:ext uri="{FF2B5EF4-FFF2-40B4-BE49-F238E27FC236}">
                <a16:creationId xmlns:a16="http://schemas.microsoft.com/office/drawing/2014/main" id="{658382CF-33F6-449F-A938-CE6049F7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목표</a:t>
            </a:r>
          </a:p>
        </p:txBody>
      </p:sp>
      <p:sp>
        <p:nvSpPr>
          <p:cNvPr id="17" name="scope-value-1">
            <a:extLst xmlns:a="http://schemas.openxmlformats.org/drawingml/2006/main">
              <a:ext uri="{FF2B5EF4-FFF2-40B4-BE49-F238E27FC236}">
                <a16:creationId xmlns:a16="http://schemas.microsoft.com/office/drawing/2014/main" id="{958A698B-FB6D-408A-A016-79A50C0A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052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일본 런칭 전 6개월간의 준비 과업과 의사결정 흐름 제시</a:t>
            </a:r>
          </a:p>
        </p:txBody>
      </p:sp>
      <p:sp>
        <p:nvSpPr>
          <p:cNvPr id="18" name="scope-row-2">
            <a:extLst xmlns:a="http://schemas.openxmlformats.org/drawingml/2006/main">
              <a:ext uri="{FF2B5EF4-FFF2-40B4-BE49-F238E27FC236}">
                <a16:creationId xmlns:a16="http://schemas.microsoft.com/office/drawing/2014/main" id="{FAA8AA22-D23C-4662-BFC3-342F8D78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9" name="scope-label-2">
            <a:extLst xmlns:a="http://schemas.openxmlformats.org/drawingml/2006/main">
              <a:ext uri="{FF2B5EF4-FFF2-40B4-BE49-F238E27FC236}">
                <a16:creationId xmlns:a16="http://schemas.microsoft.com/office/drawing/2014/main" id="{857210C4-0BD7-481A-B085-0C863E57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핵심 축</a:t>
            </a:r>
          </a:p>
        </p:txBody>
      </p:sp>
      <p:sp>
        <p:nvSpPr>
          <p:cNvPr id="20" name="scope-value-2">
            <a:extLst xmlns:a="http://schemas.openxmlformats.org/drawingml/2006/main">
              <a:ext uri="{FF2B5EF4-FFF2-40B4-BE49-F238E27FC236}">
                <a16:creationId xmlns:a16="http://schemas.microsoft.com/office/drawing/2014/main" id="{1F4EC4FE-49C0-48C7-9317-6B5EE8F9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2195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마일스톤 관리, 빌드·버전 통제, QA 안정화, 퍼블리셔 대응</a:t>
            </a:r>
          </a:p>
        </p:txBody>
      </p:sp>
      <p:sp>
        <p:nvSpPr>
          <p:cNvPr id="21" name="scope-row-3">
            <a:extLst xmlns:a="http://schemas.openxmlformats.org/drawingml/2006/main">
              <a:ext uri="{FF2B5EF4-FFF2-40B4-BE49-F238E27FC236}">
                <a16:creationId xmlns:a16="http://schemas.microsoft.com/office/drawing/2014/main" id="{DCEDB403-193A-4FDA-8B1C-C3528D27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2" name="scope-label-3">
            <a:extLst xmlns:a="http://schemas.openxmlformats.org/drawingml/2006/main">
              <a:ext uri="{FF2B5EF4-FFF2-40B4-BE49-F238E27FC236}">
                <a16:creationId xmlns:a16="http://schemas.microsoft.com/office/drawing/2014/main" id="{EF8A8527-2333-4FE1-BDB5-85394A0F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산출물</a:t>
            </a:r>
          </a:p>
        </p:txBody>
      </p:sp>
      <p:sp>
        <p:nvSpPr>
          <p:cNvPr id="23" name="scope-value-3">
            <a:extLst xmlns:a="http://schemas.openxmlformats.org/drawingml/2006/main">
              <a:ext uri="{FF2B5EF4-FFF2-40B4-BE49-F238E27FC236}">
                <a16:creationId xmlns:a16="http://schemas.microsoft.com/office/drawing/2014/main" id="{BD0BA77F-1F53-4CD9-8D29-03B1205F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339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월별 로드맵, 게이트 기준, 리스크·커뮤니케이션 관리안</a:t>
            </a:r>
          </a:p>
        </p:txBody>
      </p:sp>
      <p:sp>
        <p:nvSpPr>
          <p:cNvPr id="24" name="scope-row-4">
            <a:extLst xmlns:a="http://schemas.openxmlformats.org/drawingml/2006/main">
              <a:ext uri="{FF2B5EF4-FFF2-40B4-BE49-F238E27FC236}">
                <a16:creationId xmlns:a16="http://schemas.microsoft.com/office/drawing/2014/main" id="{4E5E8517-434A-4200-98FF-3A61BF8C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5" name="scope-label-4">
            <a:extLst xmlns:a="http://schemas.openxmlformats.org/drawingml/2006/main">
              <a:ext uri="{FF2B5EF4-FFF2-40B4-BE49-F238E27FC236}">
                <a16:creationId xmlns:a16="http://schemas.microsoft.com/office/drawing/2014/main" id="{3FD7D3B8-F3D6-4D8C-BF9C-25E80BD4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전제</a:t>
            </a:r>
          </a:p>
        </p:txBody>
      </p:sp>
      <p:sp>
        <p:nvSpPr>
          <p:cNvPr id="26" name="scope-value-4">
            <a:extLst xmlns:a="http://schemas.openxmlformats.org/drawingml/2006/main">
              <a:ext uri="{FF2B5EF4-FFF2-40B4-BE49-F238E27FC236}">
                <a16:creationId xmlns:a16="http://schemas.microsoft.com/office/drawing/2014/main" id="{2FE173D4-F179-413D-89B6-DEA69531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482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상세 일정과 지표는 과제 목적에 맞춘 가정값으로 구성</a:t>
            </a:r>
          </a:p>
        </p:txBody>
      </p:sp>
      <p:sp>
        <p:nvSpPr>
          <p:cNvPr id="27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A69FE48F-F86B-42D3-AAEE-9148AE6A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경력 근거</a:t>
            </a:r>
          </a:p>
        </p:txBody>
      </p:sp>
      <p:sp>
        <p:nvSpPr>
          <p:cNvPr id="28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8F8751F5-E4BD-4F7C-9DBE-C1AD8DEA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9" name="evidence-bar-1">
            <a:extLst xmlns:a="http://schemas.openxmlformats.org/drawingml/2006/main">
              <a:ext uri="{FF2B5EF4-FFF2-40B4-BE49-F238E27FC236}">
                <a16:creationId xmlns:a16="http://schemas.microsoft.com/office/drawing/2014/main" id="{D3946514-A71F-4A76-93AE-E9B8436F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0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0ACB3B3B-5594-4D6D-A20C-2CDFDB9E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HIT2 일본 서비스 개발 PM</a:t>
            </a:r>
          </a:p>
        </p:txBody>
      </p:sp>
      <p:sp>
        <p:nvSpPr>
          <p:cNvPr id="31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1864AB51-8B78-4549-A3C4-5DF3A917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195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런칭 운영을 담당 PM 관점에서 통합 관리</a:t>
            </a:r>
          </a:p>
        </p:txBody>
      </p:sp>
      <p:sp>
        <p:nvSpPr>
          <p:cNvPr id="32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7181B067-7D75-44B3-B434-7135E72E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3" name="evidence-bar-2">
            <a:extLst xmlns:a="http://schemas.openxmlformats.org/drawingml/2006/main">
              <a:ext uri="{FF2B5EF4-FFF2-40B4-BE49-F238E27FC236}">
                <a16:creationId xmlns:a16="http://schemas.microsoft.com/office/drawing/2014/main" id="{0618AE7F-A349-4F0B-9F29-5A8D5E4E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4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C84310C6-A1C5-4E24-8066-794B43AC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71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마일스톤 및 배포 일정 총괄</a:t>
            </a:r>
          </a:p>
        </p:txBody>
      </p:sp>
      <p:sp>
        <p:nvSpPr>
          <p:cNvPr id="35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C510D274-6E8C-4EC0-BCBB-657D6A37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196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일정·범위·릴리즈 기준을 연결해 관리</a:t>
            </a:r>
          </a:p>
        </p:txBody>
      </p:sp>
      <p:sp>
        <p:nvSpPr>
          <p:cNvPr id="36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0879F31C-1545-4B71-8D1C-4E182904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7" name="evidence-bar-3">
            <a:extLst xmlns:a="http://schemas.openxmlformats.org/drawingml/2006/main">
              <a:ext uri="{FF2B5EF4-FFF2-40B4-BE49-F238E27FC236}">
                <a16:creationId xmlns:a16="http://schemas.microsoft.com/office/drawing/2014/main" id="{869906C6-9186-42F5-A2E2-B131D7AE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8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A42996BC-EB0E-493F-857E-9582E1AD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72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Perforce 기반 빌드·버전 관리</a:t>
            </a:r>
          </a:p>
        </p:txBody>
      </p:sp>
      <p:sp>
        <p:nvSpPr>
          <p:cNvPr id="39" name="evidence-body-3">
            <a:extLst xmlns:a="http://schemas.openxmlformats.org/drawingml/2006/main">
              <a:ext uri="{FF2B5EF4-FFF2-40B4-BE49-F238E27FC236}">
                <a16:creationId xmlns:a16="http://schemas.microsoft.com/office/drawing/2014/main" id="{6112007E-216F-4F3F-B515-F92FA3BF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19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업데이트 안정성을 확보하는 릴리즈 체계 경험</a:t>
            </a:r>
          </a:p>
        </p:txBody>
      </p:sp>
    </p:spTree>
    <p:extLst>
      <p:ext uri="{BB962C8B-B14F-4D97-AF65-F5344CB8AC3E}">
        <p14:creationId xmlns:p14="http://schemas.microsoft.com/office/powerpoint/2010/main" val="18145830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BB80E51-0ED0-49EC-8FE2-B0079112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C24A0E22-DBDD-40F8-9CE4-B7DE98CA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CE46DBE-529B-45B7-9DDB-08AB9C00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SIX-MONTH LAUNCH ROADMAP | PAGE 02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4912B251-6BBA-4BA2-A2DF-E4F5BC0C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2F44404A-D74F-4723-A909-5A742604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02</a:t>
            </a:r>
          </a:p>
        </p:txBody>
      </p:sp>
      <p:sp>
        <p:nvSpPr>
          <p:cNvPr id="6" name="title-02">
            <a:extLst xmlns:a="http://schemas.openxmlformats.org/drawingml/2006/main">
              <a:ext uri="{FF2B5EF4-FFF2-40B4-BE49-F238E27FC236}">
                <a16:creationId xmlns:a16="http://schemas.microsoft.com/office/drawing/2014/main" id="{AD090A17-AB26-44C5-AE0A-9FF3F545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6개월 런칭 준비는 네 축이 병렬로 움직입니다</a:t>
            </a:r>
          </a:p>
        </p:txBody>
      </p:sp>
      <p:sp>
        <p:nvSpPr>
          <p:cNvPr id="7" name="subtitle-02">
            <a:extLst xmlns:a="http://schemas.openxmlformats.org/drawingml/2006/main">
              <a:ext uri="{FF2B5EF4-FFF2-40B4-BE49-F238E27FC236}">
                <a16:creationId xmlns:a16="http://schemas.microsoft.com/office/drawing/2014/main" id="{3F87A94A-29D3-4C6A-AAD5-A2EB499D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월별 단계는 순차 진행처럼 보이지만, PM 관점에서는 범위·버전·검수 기준을 동시에 맞춰야 합니다.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AF8BC8D-223B-43A2-9E68-EF004A05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0425"/>
            <a:ext cx="996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3B55"/>
          </a:solidFill>
          <a:ln xmlns:a="http://schemas.openxmlformats.org/drawingml/2006/main" w="0">
            <a:solidFill>
              <a:srgbClr val="2F3B55"/>
            </a:solidFill>
            <a:prstDash val="solid"/>
          </a:ln>
        </p:spPr>
      </p:sp>
      <p:sp>
        <p:nvSpPr>
          <p:cNvPr id="9" name="timeline-card-1">
            <a:extLst xmlns:a="http://schemas.openxmlformats.org/drawingml/2006/main">
              <a:ext uri="{FF2B5EF4-FFF2-40B4-BE49-F238E27FC236}">
                <a16:creationId xmlns:a16="http://schemas.microsoft.com/office/drawing/2014/main" id="{EFBFFD49-DD52-4A22-8ADE-37BE1316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0" name="timeline-bar-1">
            <a:extLst xmlns:a="http://schemas.openxmlformats.org/drawingml/2006/main">
              <a:ext uri="{FF2B5EF4-FFF2-40B4-BE49-F238E27FC236}">
                <a16:creationId xmlns:a16="http://schemas.microsoft.com/office/drawing/2014/main" id="{5A3401E8-7500-4EB5-8E2C-BB27C1F4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1" name="timeline-month-1">
            <a:extLst xmlns:a="http://schemas.openxmlformats.org/drawingml/2006/main">
              <a:ext uri="{FF2B5EF4-FFF2-40B4-BE49-F238E27FC236}">
                <a16:creationId xmlns:a16="http://schemas.microsoft.com/office/drawing/2014/main" id="{703AAC99-3161-44FF-9822-7B87989D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8D9"/>
                </a:solidFill>
              </a:defRPr>
            </a:pPr>
            <a:r>
              <a:rPr sz="1275" b="1">
                <a:solidFill>
                  <a:srgbClr val="00B8D9"/>
                </a:solidFill>
              </a:rPr>
              <a:t>D-6M</a:t>
            </a:r>
          </a:p>
        </p:txBody>
      </p:sp>
      <p:sp>
        <p:nvSpPr>
          <p:cNvPr id="12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310E51D9-78D8-41E2-BD52-A6D90BB6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런칭 범위 확정</a:t>
            </a:r>
          </a:p>
        </p:txBody>
      </p:sp>
      <p:sp>
        <p:nvSpPr>
          <p:cNvPr id="13" name="timeline-dot-1-1">
            <a:extLst xmlns:a="http://schemas.openxmlformats.org/drawingml/2006/main">
              <a:ext uri="{FF2B5EF4-FFF2-40B4-BE49-F238E27FC236}">
                <a16:creationId xmlns:a16="http://schemas.microsoft.com/office/drawing/2014/main" id="{2545BA35-18C3-4855-B268-0F93E731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4" name="timeline-item-1-1">
            <a:extLst xmlns:a="http://schemas.openxmlformats.org/drawingml/2006/main">
              <a:ext uri="{FF2B5EF4-FFF2-40B4-BE49-F238E27FC236}">
                <a16:creationId xmlns:a16="http://schemas.microsoft.com/office/drawing/2014/main" id="{C3BF3712-6DCB-452E-9361-31439A51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일본 서비스 범위</a:t>
            </a:r>
          </a:p>
        </p:txBody>
      </p:sp>
      <p:sp>
        <p:nvSpPr>
          <p:cNvPr id="15" name="timeline-dot-1-2">
            <a:extLst xmlns:a="http://schemas.openxmlformats.org/drawingml/2006/main">
              <a:ext uri="{FF2B5EF4-FFF2-40B4-BE49-F238E27FC236}">
                <a16:creationId xmlns:a16="http://schemas.microsoft.com/office/drawing/2014/main" id="{BAE03365-4177-4DBF-93B3-32C74B6B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6" name="timeline-item-1-2">
            <a:extLst xmlns:a="http://schemas.openxmlformats.org/drawingml/2006/main">
              <a:ext uri="{FF2B5EF4-FFF2-40B4-BE49-F238E27FC236}">
                <a16:creationId xmlns:a16="http://schemas.microsoft.com/office/drawing/2014/main" id="{C72E1EAB-6587-4DFC-A7E0-5CA9317D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주요 콘텐츠 기준</a:t>
            </a:r>
          </a:p>
        </p:txBody>
      </p:sp>
      <p:sp>
        <p:nvSpPr>
          <p:cNvPr id="17" name="timeline-dot-1-3">
            <a:extLst xmlns:a="http://schemas.openxmlformats.org/drawingml/2006/main">
              <a:ext uri="{FF2B5EF4-FFF2-40B4-BE49-F238E27FC236}">
                <a16:creationId xmlns:a16="http://schemas.microsoft.com/office/drawing/2014/main" id="{4EB239D0-99D9-478C-AB5A-4C3346BB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8" name="timeline-item-1-3">
            <a:extLst xmlns:a="http://schemas.openxmlformats.org/drawingml/2006/main">
              <a:ext uri="{FF2B5EF4-FFF2-40B4-BE49-F238E27FC236}">
                <a16:creationId xmlns:a16="http://schemas.microsoft.com/office/drawing/2014/main" id="{CD947CD6-1804-424A-A055-55F33C68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브랜치 운영 원칙</a:t>
            </a:r>
          </a:p>
        </p:txBody>
      </p:sp>
      <p:sp>
        <p:nvSpPr>
          <p:cNvPr id="19" name="timeline-card-2">
            <a:extLst xmlns:a="http://schemas.openxmlformats.org/drawingml/2006/main">
              <a:ext uri="{FF2B5EF4-FFF2-40B4-BE49-F238E27FC236}">
                <a16:creationId xmlns:a16="http://schemas.microsoft.com/office/drawing/2014/main" id="{A6A5FF29-6E45-4EAB-9E78-33592C55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0" name="timeline-bar-2">
            <a:extLst xmlns:a="http://schemas.openxmlformats.org/drawingml/2006/main">
              <a:ext uri="{FF2B5EF4-FFF2-40B4-BE49-F238E27FC236}">
                <a16:creationId xmlns:a16="http://schemas.microsoft.com/office/drawing/2014/main" id="{195578C6-DF0A-417B-8993-D858D507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timeline-month-2">
            <a:extLst xmlns:a="http://schemas.openxmlformats.org/drawingml/2006/main">
              <a:ext uri="{FF2B5EF4-FFF2-40B4-BE49-F238E27FC236}">
                <a16:creationId xmlns:a16="http://schemas.microsoft.com/office/drawing/2014/main" id="{2F94A874-4DB0-4CA3-83CA-394EFD5B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D-5M</a:t>
            </a:r>
          </a:p>
        </p:txBody>
      </p:sp>
      <p:sp>
        <p:nvSpPr>
          <p:cNvPr id="22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76C5231A-93DB-45B9-86B3-CEFBF886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개발·현지화 동기화</a:t>
            </a:r>
          </a:p>
        </p:txBody>
      </p:sp>
      <p:sp>
        <p:nvSpPr>
          <p:cNvPr id="23" name="timeline-dot-2-1">
            <a:extLst xmlns:a="http://schemas.openxmlformats.org/drawingml/2006/main">
              <a:ext uri="{FF2B5EF4-FFF2-40B4-BE49-F238E27FC236}">
                <a16:creationId xmlns:a16="http://schemas.microsoft.com/office/drawing/2014/main" id="{020463C6-BC47-48BF-8E26-D5597B16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4" name="timeline-item-2-1">
            <a:extLst xmlns:a="http://schemas.openxmlformats.org/drawingml/2006/main">
              <a:ext uri="{FF2B5EF4-FFF2-40B4-BE49-F238E27FC236}">
                <a16:creationId xmlns:a16="http://schemas.microsoft.com/office/drawing/2014/main" id="{3601A83A-6A0D-4219-922A-88584211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번역·리소스 반영</a:t>
            </a:r>
          </a:p>
        </p:txBody>
      </p:sp>
      <p:sp>
        <p:nvSpPr>
          <p:cNvPr id="25" name="timeline-dot-2-2">
            <a:extLst xmlns:a="http://schemas.openxmlformats.org/drawingml/2006/main">
              <a:ext uri="{FF2B5EF4-FFF2-40B4-BE49-F238E27FC236}">
                <a16:creationId xmlns:a16="http://schemas.microsoft.com/office/drawing/2014/main" id="{DBCA3854-95EB-4A81-8013-74D58CFF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6" name="timeline-item-2-2">
            <a:extLst xmlns:a="http://schemas.openxmlformats.org/drawingml/2006/main">
              <a:ext uri="{FF2B5EF4-FFF2-40B4-BE49-F238E27FC236}">
                <a16:creationId xmlns:a16="http://schemas.microsoft.com/office/drawing/2014/main" id="{95A3EB83-2426-4D0C-9654-94ECA511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요청 정리</a:t>
            </a:r>
          </a:p>
        </p:txBody>
      </p:sp>
      <p:sp>
        <p:nvSpPr>
          <p:cNvPr id="27" name="timeline-dot-2-3">
            <a:extLst xmlns:a="http://schemas.openxmlformats.org/drawingml/2006/main">
              <a:ext uri="{FF2B5EF4-FFF2-40B4-BE49-F238E27FC236}">
                <a16:creationId xmlns:a16="http://schemas.microsoft.com/office/drawing/2014/main" id="{E89A61DA-D74F-4394-AA66-6EAC342B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8" name="timeline-item-2-3">
            <a:extLst xmlns:a="http://schemas.openxmlformats.org/drawingml/2006/main">
              <a:ext uri="{FF2B5EF4-FFF2-40B4-BE49-F238E27FC236}">
                <a16:creationId xmlns:a16="http://schemas.microsoft.com/office/drawing/2014/main" id="{5B3A70E0-2073-4398-AA10-6696199C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기능 마감 기준</a:t>
            </a:r>
          </a:p>
        </p:txBody>
      </p:sp>
      <p:sp>
        <p:nvSpPr>
          <p:cNvPr id="29" name="timeline-card-3">
            <a:extLst xmlns:a="http://schemas.openxmlformats.org/drawingml/2006/main">
              <a:ext uri="{FF2B5EF4-FFF2-40B4-BE49-F238E27FC236}">
                <a16:creationId xmlns:a16="http://schemas.microsoft.com/office/drawing/2014/main" id="{8136DCB9-7B16-4913-B210-019306A1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0" name="timeline-bar-3">
            <a:extLst xmlns:a="http://schemas.openxmlformats.org/drawingml/2006/main">
              <a:ext uri="{FF2B5EF4-FFF2-40B4-BE49-F238E27FC236}">
                <a16:creationId xmlns:a16="http://schemas.microsoft.com/office/drawing/2014/main" id="{B2144D0E-8254-4CB6-B9A8-ABDA7373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1" name="timeline-month-3">
            <a:extLst xmlns:a="http://schemas.openxmlformats.org/drawingml/2006/main">
              <a:ext uri="{FF2B5EF4-FFF2-40B4-BE49-F238E27FC236}">
                <a16:creationId xmlns:a16="http://schemas.microsoft.com/office/drawing/2014/main" id="{77674FC3-5C2A-4F69-A853-0FED66BE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D-4M</a:t>
            </a:r>
          </a:p>
        </p:txBody>
      </p:sp>
      <p:sp>
        <p:nvSpPr>
          <p:cNvPr id="32" name="timeline-title-3">
            <a:extLst xmlns:a="http://schemas.openxmlformats.org/drawingml/2006/main">
              <a:ext uri="{FF2B5EF4-FFF2-40B4-BE49-F238E27FC236}">
                <a16:creationId xmlns:a16="http://schemas.microsoft.com/office/drawing/2014/main" id="{E5C1CD1D-8EE7-48FC-8C18-ED01B85A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내부 QA 진입</a:t>
            </a:r>
          </a:p>
        </p:txBody>
      </p:sp>
      <p:sp>
        <p:nvSpPr>
          <p:cNvPr id="33" name="timeline-dot-3-1">
            <a:extLst xmlns:a="http://schemas.openxmlformats.org/drawingml/2006/main">
              <a:ext uri="{FF2B5EF4-FFF2-40B4-BE49-F238E27FC236}">
                <a16:creationId xmlns:a16="http://schemas.microsoft.com/office/drawing/2014/main" id="{E646D37B-A309-43BD-9623-BEB634A2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4" name="timeline-item-3-1">
            <a:extLst xmlns:a="http://schemas.openxmlformats.org/drawingml/2006/main">
              <a:ext uri="{FF2B5EF4-FFF2-40B4-BE49-F238E27FC236}">
                <a16:creationId xmlns:a16="http://schemas.microsoft.com/office/drawing/2014/main" id="{F2439954-C73C-450D-B0BA-31CA66C8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일본향 빌드 점검</a:t>
            </a:r>
          </a:p>
        </p:txBody>
      </p:sp>
      <p:sp>
        <p:nvSpPr>
          <p:cNvPr id="35" name="timeline-dot-3-2">
            <a:extLst xmlns:a="http://schemas.openxmlformats.org/drawingml/2006/main">
              <a:ext uri="{FF2B5EF4-FFF2-40B4-BE49-F238E27FC236}">
                <a16:creationId xmlns:a16="http://schemas.microsoft.com/office/drawing/2014/main" id="{819E8031-7889-44B8-A34D-0CC7BDAA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6" name="timeline-item-3-2">
            <a:extLst xmlns:a="http://schemas.openxmlformats.org/drawingml/2006/main">
              <a:ext uri="{FF2B5EF4-FFF2-40B4-BE49-F238E27FC236}">
                <a16:creationId xmlns:a16="http://schemas.microsoft.com/office/drawing/2014/main" id="{DB62570B-87A0-4119-A730-3E2AE8C2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결함 등급 분류</a:t>
            </a:r>
          </a:p>
        </p:txBody>
      </p:sp>
      <p:sp>
        <p:nvSpPr>
          <p:cNvPr id="37" name="timeline-dot-3-3">
            <a:extLst xmlns:a="http://schemas.openxmlformats.org/drawingml/2006/main">
              <a:ext uri="{FF2B5EF4-FFF2-40B4-BE49-F238E27FC236}">
                <a16:creationId xmlns:a16="http://schemas.microsoft.com/office/drawing/2014/main" id="{CA12C054-94C1-404C-9508-DE304EC1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8" name="timeline-item-3-3">
            <a:extLst xmlns:a="http://schemas.openxmlformats.org/drawingml/2006/main">
              <a:ext uri="{FF2B5EF4-FFF2-40B4-BE49-F238E27FC236}">
                <a16:creationId xmlns:a16="http://schemas.microsoft.com/office/drawing/2014/main" id="{46D63C6A-6226-4AFA-ABC5-56C1A671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수정 우선순위</a:t>
            </a:r>
          </a:p>
        </p:txBody>
      </p:sp>
      <p:sp>
        <p:nvSpPr>
          <p:cNvPr id="39" name="timeline-card-4">
            <a:extLst xmlns:a="http://schemas.openxmlformats.org/drawingml/2006/main">
              <a:ext uri="{FF2B5EF4-FFF2-40B4-BE49-F238E27FC236}">
                <a16:creationId xmlns:a16="http://schemas.microsoft.com/office/drawing/2014/main" id="{BBAFE33F-817D-45E3-BA76-8DFBDF1F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0" name="timeline-bar-4">
            <a:extLst xmlns:a="http://schemas.openxmlformats.org/drawingml/2006/main">
              <a:ext uri="{FF2B5EF4-FFF2-40B4-BE49-F238E27FC236}">
                <a16:creationId xmlns:a16="http://schemas.microsoft.com/office/drawing/2014/main" id="{62CDFD11-7E16-4C63-974C-8DC49757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41" name="timeline-month-4">
            <a:extLst xmlns:a="http://schemas.openxmlformats.org/drawingml/2006/main">
              <a:ext uri="{FF2B5EF4-FFF2-40B4-BE49-F238E27FC236}">
                <a16:creationId xmlns:a16="http://schemas.microsoft.com/office/drawing/2014/main" id="{D3AEAB97-9726-4D3F-982F-7A6DB28E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BD9E8"/>
                </a:solidFill>
              </a:defRPr>
            </a:pPr>
            <a:r>
              <a:rPr sz="1275" b="1">
                <a:solidFill>
                  <a:srgbClr val="8BD9E8"/>
                </a:solidFill>
              </a:rPr>
              <a:t>D-3M</a:t>
            </a:r>
          </a:p>
        </p:txBody>
      </p:sp>
      <p:sp>
        <p:nvSpPr>
          <p:cNvPr id="42" name="timeline-title-4">
            <a:extLst xmlns:a="http://schemas.openxmlformats.org/drawingml/2006/main">
              <a:ext uri="{FF2B5EF4-FFF2-40B4-BE49-F238E27FC236}">
                <a16:creationId xmlns:a16="http://schemas.microsoft.com/office/drawing/2014/main" id="{E5B6B059-0906-4D60-8B2C-7B5FEF74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검수·CBT 준비</a:t>
            </a:r>
          </a:p>
        </p:txBody>
      </p:sp>
      <p:sp>
        <p:nvSpPr>
          <p:cNvPr id="43" name="timeline-dot-4-1">
            <a:extLst xmlns:a="http://schemas.openxmlformats.org/drawingml/2006/main">
              <a:ext uri="{FF2B5EF4-FFF2-40B4-BE49-F238E27FC236}">
                <a16:creationId xmlns:a16="http://schemas.microsoft.com/office/drawing/2014/main" id="{22471788-1676-4C04-A2C5-F8A8E023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4" name="timeline-item-4-1">
            <a:extLst xmlns:a="http://schemas.openxmlformats.org/drawingml/2006/main">
              <a:ext uri="{FF2B5EF4-FFF2-40B4-BE49-F238E27FC236}">
                <a16:creationId xmlns:a16="http://schemas.microsoft.com/office/drawing/2014/main" id="{CC168F41-406A-4B99-904D-2DE9BA83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검수 대응</a:t>
            </a:r>
          </a:p>
        </p:txBody>
      </p:sp>
      <p:sp>
        <p:nvSpPr>
          <p:cNvPr id="45" name="timeline-dot-4-2">
            <a:extLst xmlns:a="http://schemas.openxmlformats.org/drawingml/2006/main">
              <a:ext uri="{FF2B5EF4-FFF2-40B4-BE49-F238E27FC236}">
                <a16:creationId xmlns:a16="http://schemas.microsoft.com/office/drawing/2014/main" id="{8C1DB313-AEAD-4331-A234-19185727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6" name="timeline-item-4-2">
            <a:extLst xmlns:a="http://schemas.openxmlformats.org/drawingml/2006/main">
              <a:ext uri="{FF2B5EF4-FFF2-40B4-BE49-F238E27FC236}">
                <a16:creationId xmlns:a16="http://schemas.microsoft.com/office/drawing/2014/main" id="{41F72C9B-9C28-4CE7-9B7C-BFDD8458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CBT 빌드 기준</a:t>
            </a:r>
          </a:p>
        </p:txBody>
      </p:sp>
      <p:sp>
        <p:nvSpPr>
          <p:cNvPr id="47" name="timeline-dot-4-3">
            <a:extLst xmlns:a="http://schemas.openxmlformats.org/drawingml/2006/main">
              <a:ext uri="{FF2B5EF4-FFF2-40B4-BE49-F238E27FC236}">
                <a16:creationId xmlns:a16="http://schemas.microsoft.com/office/drawing/2014/main" id="{5DFA0259-D8C2-4D21-990D-3E7344EA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8" name="timeline-item-4-3">
            <a:extLst xmlns:a="http://schemas.openxmlformats.org/drawingml/2006/main">
              <a:ext uri="{FF2B5EF4-FFF2-40B4-BE49-F238E27FC236}">
                <a16:creationId xmlns:a16="http://schemas.microsoft.com/office/drawing/2014/main" id="{96EE19D7-C07E-402A-9C45-DF648090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운영 시나리오</a:t>
            </a:r>
          </a:p>
        </p:txBody>
      </p:sp>
      <p:sp>
        <p:nvSpPr>
          <p:cNvPr id="49" name="timeline-card-5">
            <a:extLst xmlns:a="http://schemas.openxmlformats.org/drawingml/2006/main">
              <a:ext uri="{FF2B5EF4-FFF2-40B4-BE49-F238E27FC236}">
                <a16:creationId xmlns:a16="http://schemas.microsoft.com/office/drawing/2014/main" id="{178273AE-828F-483A-864D-36884025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50" name="timeline-bar-5">
            <a:extLst xmlns:a="http://schemas.openxmlformats.org/drawingml/2006/main">
              <a:ext uri="{FF2B5EF4-FFF2-40B4-BE49-F238E27FC236}">
                <a16:creationId xmlns:a16="http://schemas.microsoft.com/office/drawing/2014/main" id="{44E61251-C9A2-4BC4-987B-821C6687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1" name="timeline-month-5">
            <a:extLst xmlns:a="http://schemas.openxmlformats.org/drawingml/2006/main">
              <a:ext uri="{FF2B5EF4-FFF2-40B4-BE49-F238E27FC236}">
                <a16:creationId xmlns:a16="http://schemas.microsoft.com/office/drawing/2014/main" id="{C1C4B18B-32B9-42FF-8FB7-9F02F407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D-2M</a:t>
            </a:r>
          </a:p>
        </p:txBody>
      </p:sp>
      <p:sp>
        <p:nvSpPr>
          <p:cNvPr id="52" name="timeline-title-5">
            <a:extLst xmlns:a="http://schemas.openxmlformats.org/drawingml/2006/main">
              <a:ext uri="{FF2B5EF4-FFF2-40B4-BE49-F238E27FC236}">
                <a16:creationId xmlns:a16="http://schemas.microsoft.com/office/drawing/2014/main" id="{0784565D-925E-4DE6-8186-6715B52B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후보 빌드 안정화</a:t>
            </a:r>
          </a:p>
        </p:txBody>
      </p:sp>
      <p:sp>
        <p:nvSpPr>
          <p:cNvPr id="53" name="timeline-dot-5-1">
            <a:extLst xmlns:a="http://schemas.openxmlformats.org/drawingml/2006/main">
              <a:ext uri="{FF2B5EF4-FFF2-40B4-BE49-F238E27FC236}">
                <a16:creationId xmlns:a16="http://schemas.microsoft.com/office/drawing/2014/main" id="{368FE6CF-3F55-49D3-AC08-67F2EF7D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4" name="timeline-item-5-1">
            <a:extLst xmlns:a="http://schemas.openxmlformats.org/drawingml/2006/main">
              <a:ext uri="{FF2B5EF4-FFF2-40B4-BE49-F238E27FC236}">
                <a16:creationId xmlns:a16="http://schemas.microsoft.com/office/drawing/2014/main" id="{E16AC7F9-5689-42BF-8F30-C51E557F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릴리즈 후보 관리</a:t>
            </a:r>
          </a:p>
        </p:txBody>
      </p:sp>
      <p:sp>
        <p:nvSpPr>
          <p:cNvPr id="55" name="timeline-dot-5-2">
            <a:extLst xmlns:a="http://schemas.openxmlformats.org/drawingml/2006/main">
              <a:ext uri="{FF2B5EF4-FFF2-40B4-BE49-F238E27FC236}">
                <a16:creationId xmlns:a16="http://schemas.microsoft.com/office/drawing/2014/main" id="{19D62180-B89D-4575-BD80-AEB35A81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6" name="timeline-item-5-2">
            <a:extLst xmlns:a="http://schemas.openxmlformats.org/drawingml/2006/main">
              <a:ext uri="{FF2B5EF4-FFF2-40B4-BE49-F238E27FC236}">
                <a16:creationId xmlns:a16="http://schemas.microsoft.com/office/drawing/2014/main" id="{8A040A55-7FF4-49E4-BB19-E9D24DEF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잔여 이슈 추적</a:t>
            </a:r>
          </a:p>
        </p:txBody>
      </p:sp>
      <p:sp>
        <p:nvSpPr>
          <p:cNvPr id="57" name="timeline-dot-5-3">
            <a:extLst xmlns:a="http://schemas.openxmlformats.org/drawingml/2006/main">
              <a:ext uri="{FF2B5EF4-FFF2-40B4-BE49-F238E27FC236}">
                <a16:creationId xmlns:a16="http://schemas.microsoft.com/office/drawing/2014/main" id="{FAD2EAFF-1EBD-475C-A77D-00797D2C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8" name="timeline-item-5-3">
            <a:extLst xmlns:a="http://schemas.openxmlformats.org/drawingml/2006/main">
              <a:ext uri="{FF2B5EF4-FFF2-40B4-BE49-F238E27FC236}">
                <a16:creationId xmlns:a16="http://schemas.microsoft.com/office/drawing/2014/main" id="{5D39F1B2-7C29-4BE1-87B3-1D69E437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스토어·심의 체크</a:t>
            </a:r>
          </a:p>
        </p:txBody>
      </p:sp>
      <p:sp>
        <p:nvSpPr>
          <p:cNvPr id="59" name="timeline-card-6">
            <a:extLst xmlns:a="http://schemas.openxmlformats.org/drawingml/2006/main">
              <a:ext uri="{FF2B5EF4-FFF2-40B4-BE49-F238E27FC236}">
                <a16:creationId xmlns:a16="http://schemas.microsoft.com/office/drawing/2014/main" id="{D8A66099-8B7F-4D6E-8D39-2BE63B1D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60" name="timeline-bar-6">
            <a:extLst xmlns:a="http://schemas.openxmlformats.org/drawingml/2006/main">
              <a:ext uri="{FF2B5EF4-FFF2-40B4-BE49-F238E27FC236}">
                <a16:creationId xmlns:a16="http://schemas.microsoft.com/office/drawing/2014/main" id="{1140E738-A66E-408C-ADCE-4F671644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1" name="timeline-month-6">
            <a:extLst xmlns:a="http://schemas.openxmlformats.org/drawingml/2006/main">
              <a:ext uri="{FF2B5EF4-FFF2-40B4-BE49-F238E27FC236}">
                <a16:creationId xmlns:a16="http://schemas.microsoft.com/office/drawing/2014/main" id="{C4B5D2FF-AB84-458D-B9DC-63E6391C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D-1M</a:t>
            </a:r>
          </a:p>
        </p:txBody>
      </p:sp>
      <p:sp>
        <p:nvSpPr>
          <p:cNvPr id="62" name="timeline-title-6">
            <a:extLst xmlns:a="http://schemas.openxmlformats.org/drawingml/2006/main">
              <a:ext uri="{FF2B5EF4-FFF2-40B4-BE49-F238E27FC236}">
                <a16:creationId xmlns:a16="http://schemas.microsoft.com/office/drawing/2014/main" id="{0375A532-2E38-46C0-8C10-C7A6043A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리허설·배포</a:t>
            </a:r>
          </a:p>
        </p:txBody>
      </p:sp>
      <p:sp>
        <p:nvSpPr>
          <p:cNvPr id="63" name="timeline-dot-6-1">
            <a:extLst xmlns:a="http://schemas.openxmlformats.org/drawingml/2006/main">
              <a:ext uri="{FF2B5EF4-FFF2-40B4-BE49-F238E27FC236}">
                <a16:creationId xmlns:a16="http://schemas.microsoft.com/office/drawing/2014/main" id="{190106D9-6D00-41DA-BC71-EA376B99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4" name="timeline-item-6-1">
            <a:extLst xmlns:a="http://schemas.openxmlformats.org/drawingml/2006/main">
              <a:ext uri="{FF2B5EF4-FFF2-40B4-BE49-F238E27FC236}">
                <a16:creationId xmlns:a16="http://schemas.microsoft.com/office/drawing/2014/main" id="{2439D32B-D33C-41BA-9F00-74807B4A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배포 리허설</a:t>
            </a:r>
          </a:p>
        </p:txBody>
      </p:sp>
      <p:sp>
        <p:nvSpPr>
          <p:cNvPr id="65" name="timeline-dot-6-2">
            <a:extLst xmlns:a="http://schemas.openxmlformats.org/drawingml/2006/main">
              <a:ext uri="{FF2B5EF4-FFF2-40B4-BE49-F238E27FC236}">
                <a16:creationId xmlns:a16="http://schemas.microsoft.com/office/drawing/2014/main" id="{2748027A-A1E0-44FB-8956-79C4FDFA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6" name="timeline-item-6-2">
            <a:extLst xmlns:a="http://schemas.openxmlformats.org/drawingml/2006/main">
              <a:ext uri="{FF2B5EF4-FFF2-40B4-BE49-F238E27FC236}">
                <a16:creationId xmlns:a16="http://schemas.microsoft.com/office/drawing/2014/main" id="{31B4E298-D9E7-40C3-AA0B-6B93AA2C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장애 대응 플랜</a:t>
            </a:r>
          </a:p>
        </p:txBody>
      </p:sp>
      <p:sp>
        <p:nvSpPr>
          <p:cNvPr id="67" name="timeline-dot-6-3">
            <a:extLst xmlns:a="http://schemas.openxmlformats.org/drawingml/2006/main">
              <a:ext uri="{FF2B5EF4-FFF2-40B4-BE49-F238E27FC236}">
                <a16:creationId xmlns:a16="http://schemas.microsoft.com/office/drawing/2014/main" id="{2A73B4AA-186E-4F3F-B741-F805FEEF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8" name="timeline-item-6-3">
            <a:extLst xmlns:a="http://schemas.openxmlformats.org/drawingml/2006/main">
              <a:ext uri="{FF2B5EF4-FFF2-40B4-BE49-F238E27FC236}">
                <a16:creationId xmlns:a16="http://schemas.microsoft.com/office/drawing/2014/main" id="{8A876E37-2E83-499E-BE87-22697CC1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런칭 당일 체계</a:t>
            </a:r>
          </a:p>
        </p:txBody>
      </p:sp>
      <p:sp>
        <p:nvSpPr>
          <p:cNvPr id="69" name="management-title">
            <a:extLst xmlns:a="http://schemas.openxmlformats.org/drawingml/2006/main">
              <a:ext uri="{FF2B5EF4-FFF2-40B4-BE49-F238E27FC236}">
                <a16:creationId xmlns:a16="http://schemas.microsoft.com/office/drawing/2014/main" id="{657A9D68-DA2F-4D05-8737-8459A3EA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PM 관리 포인트</a:t>
            </a:r>
          </a:p>
        </p:txBody>
      </p:sp>
      <p:sp>
        <p:nvSpPr>
          <p:cNvPr id="70" name="management-note">
            <a:extLst xmlns:a="http://schemas.openxmlformats.org/drawingml/2006/main">
              <a:ext uri="{FF2B5EF4-FFF2-40B4-BE49-F238E27FC236}">
                <a16:creationId xmlns:a16="http://schemas.microsoft.com/office/drawing/2014/main" id="{2DB3FD3C-0397-4C22-A692-AA449B6C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67275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94A3B8"/>
                </a:solidFill>
              </a:defRPr>
            </a:pPr>
            <a:r>
              <a:rPr sz="1050">
                <a:solidFill>
                  <a:srgbClr val="94A3B8"/>
                </a:solidFill>
              </a:rPr>
              <a:t>각 단계의 완료 기준을 명확히 두고, 빌드·QA·퍼블리셔 대응을 같은 리듬으로 관리합니다.</a:t>
            </a:r>
          </a:p>
        </p:txBody>
      </p:sp>
      <p:sp>
        <p:nvSpPr>
          <p:cNvPr id="71" name="mgmt-card-1">
            <a:extLst xmlns:a="http://schemas.openxmlformats.org/drawingml/2006/main">
              <a:ext uri="{FF2B5EF4-FFF2-40B4-BE49-F238E27FC236}">
                <a16:creationId xmlns:a16="http://schemas.microsoft.com/office/drawing/2014/main" id="{95874C78-B412-491A-8015-2E614E14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2" name="mgmt-bar-1">
            <a:extLst xmlns:a="http://schemas.openxmlformats.org/drawingml/2006/main">
              <a:ext uri="{FF2B5EF4-FFF2-40B4-BE49-F238E27FC236}">
                <a16:creationId xmlns:a16="http://schemas.microsoft.com/office/drawing/2014/main" id="{387AF5D1-66A7-4E42-B8F3-225B9438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73" name="mgmt-label-1">
            <a:extLst xmlns:a="http://schemas.openxmlformats.org/drawingml/2006/main">
              <a:ext uri="{FF2B5EF4-FFF2-40B4-BE49-F238E27FC236}">
                <a16:creationId xmlns:a16="http://schemas.microsoft.com/office/drawing/2014/main" id="{29D969DC-8823-4FAD-8BB5-66225A29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마일스톤</a:t>
            </a:r>
          </a:p>
        </p:txBody>
      </p:sp>
      <p:sp>
        <p:nvSpPr>
          <p:cNvPr id="74" name="mgmt-body-1">
            <a:extLst xmlns:a="http://schemas.openxmlformats.org/drawingml/2006/main">
              <a:ext uri="{FF2B5EF4-FFF2-40B4-BE49-F238E27FC236}">
                <a16:creationId xmlns:a16="http://schemas.microsoft.com/office/drawing/2014/main" id="{1B0F1B00-84EC-4081-86FE-A13B2C45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단계별 게이트 기준 관리</a:t>
            </a:r>
          </a:p>
        </p:txBody>
      </p:sp>
      <p:sp>
        <p:nvSpPr>
          <p:cNvPr id="75" name="mgmt-card-2">
            <a:extLst xmlns:a="http://schemas.openxmlformats.org/drawingml/2006/main">
              <a:ext uri="{FF2B5EF4-FFF2-40B4-BE49-F238E27FC236}">
                <a16:creationId xmlns:a16="http://schemas.microsoft.com/office/drawing/2014/main" id="{75F9B55D-63EB-4E2F-8846-2237E2F6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6" name="mgmt-bar-2">
            <a:extLst xmlns:a="http://schemas.openxmlformats.org/drawingml/2006/main">
              <a:ext uri="{FF2B5EF4-FFF2-40B4-BE49-F238E27FC236}">
                <a16:creationId xmlns:a16="http://schemas.microsoft.com/office/drawing/2014/main" id="{CD430347-1047-4BA2-A3EC-AED3E985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7" name="mgmt-label-2">
            <a:extLst xmlns:a="http://schemas.openxmlformats.org/drawingml/2006/main">
              <a:ext uri="{FF2B5EF4-FFF2-40B4-BE49-F238E27FC236}">
                <a16:creationId xmlns:a16="http://schemas.microsoft.com/office/drawing/2014/main" id="{16686872-EE19-4CCD-9BF5-90BB1801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빌드·버전</a:t>
            </a:r>
          </a:p>
        </p:txBody>
      </p:sp>
      <p:sp>
        <p:nvSpPr>
          <p:cNvPr id="78" name="mgmt-body-2">
            <a:extLst xmlns:a="http://schemas.openxmlformats.org/drawingml/2006/main">
              <a:ext uri="{FF2B5EF4-FFF2-40B4-BE49-F238E27FC236}">
                <a16:creationId xmlns:a16="http://schemas.microsoft.com/office/drawing/2014/main" id="{266ADA6D-5169-4F74-B1F5-10F88A2D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Perforce 기반 후보 빌드 통제</a:t>
            </a:r>
          </a:p>
        </p:txBody>
      </p:sp>
      <p:sp>
        <p:nvSpPr>
          <p:cNvPr id="79" name="mgmt-card-3">
            <a:extLst xmlns:a="http://schemas.openxmlformats.org/drawingml/2006/main">
              <a:ext uri="{FF2B5EF4-FFF2-40B4-BE49-F238E27FC236}">
                <a16:creationId xmlns:a16="http://schemas.microsoft.com/office/drawing/2014/main" id="{76DA3954-FC8B-404C-9EFF-DE5A5FCD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80" name="mgmt-bar-3">
            <a:extLst xmlns:a="http://schemas.openxmlformats.org/drawingml/2006/main">
              <a:ext uri="{FF2B5EF4-FFF2-40B4-BE49-F238E27FC236}">
                <a16:creationId xmlns:a16="http://schemas.microsoft.com/office/drawing/2014/main" id="{BD1C5FA8-DA5A-4385-8F85-DAE4548F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81" name="mgmt-label-3">
            <a:extLst xmlns:a="http://schemas.openxmlformats.org/drawingml/2006/main">
              <a:ext uri="{FF2B5EF4-FFF2-40B4-BE49-F238E27FC236}">
                <a16:creationId xmlns:a16="http://schemas.microsoft.com/office/drawing/2014/main" id="{1A475A50-1440-4941-BE44-EB878926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QA</a:t>
            </a:r>
          </a:p>
        </p:txBody>
      </p:sp>
      <p:sp>
        <p:nvSpPr>
          <p:cNvPr id="82" name="mgmt-body-3">
            <a:extLst xmlns:a="http://schemas.openxmlformats.org/drawingml/2006/main">
              <a:ext uri="{FF2B5EF4-FFF2-40B4-BE49-F238E27FC236}">
                <a16:creationId xmlns:a16="http://schemas.microsoft.com/office/drawing/2014/main" id="{CD5C234B-41EE-4783-A273-5CCA0840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결함 우선순위와 수정 반영 추적</a:t>
            </a:r>
          </a:p>
        </p:txBody>
      </p:sp>
      <p:sp>
        <p:nvSpPr>
          <p:cNvPr id="83" name="mgmt-card-4">
            <a:extLst xmlns:a="http://schemas.openxmlformats.org/drawingml/2006/main">
              <a:ext uri="{FF2B5EF4-FFF2-40B4-BE49-F238E27FC236}">
                <a16:creationId xmlns:a16="http://schemas.microsoft.com/office/drawing/2014/main" id="{97F788D7-0534-4D8A-9201-75B13028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84" name="mgmt-bar-4">
            <a:extLst xmlns:a="http://schemas.openxmlformats.org/drawingml/2006/main">
              <a:ext uri="{FF2B5EF4-FFF2-40B4-BE49-F238E27FC236}">
                <a16:creationId xmlns:a16="http://schemas.microsoft.com/office/drawing/2014/main" id="{DF0CA658-C20E-4AF6-BBC5-D6A3B931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85" name="mgmt-label-4">
            <a:extLst xmlns:a="http://schemas.openxmlformats.org/drawingml/2006/main">
              <a:ext uri="{FF2B5EF4-FFF2-40B4-BE49-F238E27FC236}">
                <a16:creationId xmlns:a16="http://schemas.microsoft.com/office/drawing/2014/main" id="{122A1E17-FE56-474C-B9CC-481F5BF8D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커뮤니케이션</a:t>
            </a:r>
          </a:p>
        </p:txBody>
      </p:sp>
      <p:sp>
        <p:nvSpPr>
          <p:cNvPr id="86" name="mgmt-body-4">
            <a:extLst xmlns:a="http://schemas.openxmlformats.org/drawingml/2006/main">
              <a:ext uri="{FF2B5EF4-FFF2-40B4-BE49-F238E27FC236}">
                <a16:creationId xmlns:a16="http://schemas.microsoft.com/office/drawing/2014/main" id="{584C4ED0-EF63-438C-9188-D292E450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개발·QA·퍼블리셔 의사결정 정리</a:t>
            </a:r>
          </a:p>
        </p:txBody>
      </p:sp>
    </p:spTree>
    <p:extLst>
      <p:ext uri="{BB962C8B-B14F-4D97-AF65-F5344CB8AC3E}">
        <p14:creationId xmlns:p14="http://schemas.microsoft.com/office/powerpoint/2010/main" val="14838992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2026-07-13T09:35:11.1050000Z</dcterms:created>
  <dcterms:modified xsi:type="dcterms:W3CDTF">2026-07-13T09:35:11.1050000Z</dcterms:modified>
</coreProperties>
</file>