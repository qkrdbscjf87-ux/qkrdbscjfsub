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95aee29455743d8" /><Relationship Type="http://schemas.openxmlformats.org/officeDocument/2006/relationships/extended-properties" Target="/docProps/app.xml" Id="Rbf17a786646c471c" /><Relationship Type="http://schemas.openxmlformats.org/officeDocument/2006/relationships/officeDocument" Target="/ppt/presentation.xml" Id="R2f7edb4b8f48409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51e457da61f431b"/>
  </p:sldMasterIdLst>
  <p:notesMasterIdLst>
    <p:notesMasterId xmlns:r="http://schemas.openxmlformats.org/officeDocument/2006/relationships" r:id="R382cc6224cdc4a6d"/>
  </p:notesMasterIdLst>
  <p:sldIdLst>
    <p:sldId xmlns:r="http://schemas.openxmlformats.org/officeDocument/2006/relationships" id="256" r:id="Rd54145426948439b"/>
    <p:sldId xmlns:r="http://schemas.openxmlformats.org/officeDocument/2006/relationships" id="257" r:id="Rdbeb5f865a4846a3"/>
    <p:sldId xmlns:r="http://schemas.openxmlformats.org/officeDocument/2006/relationships" id="258" r:id="R8c3829b6d8d4458a"/>
    <p:sldId xmlns:r="http://schemas.openxmlformats.org/officeDocument/2006/relationships" id="259" r:id="Rb375aa8b7f3e4a50"/>
    <p:sldId xmlns:r="http://schemas.openxmlformats.org/officeDocument/2006/relationships" id="260" r:id="Rd574ef4790724f77"/>
    <p:sldId xmlns:r="http://schemas.openxmlformats.org/officeDocument/2006/relationships" id="261" r:id="R2ee38afcfcc34086"/>
    <p:sldId xmlns:r="http://schemas.openxmlformats.org/officeDocument/2006/relationships" id="262" r:id="R4088cb706093424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858ce1233634301" /><Relationship Type="http://schemas.openxmlformats.org/officeDocument/2006/relationships/slideMaster" Target="/ppt/slideMasters/slideMaster1.xml" Id="R951e457da61f431b" /><Relationship Type="http://schemas.openxmlformats.org/officeDocument/2006/relationships/notesMaster" Target="/ppt/notesMasters/notesMaster1.xml" Id="R382cc6224cdc4a6d" /><Relationship Type="http://schemas.openxmlformats.org/officeDocument/2006/relationships/presProps" Target="/ppt/presProps.xml" Id="Rddb60ae859dc43d1" /><Relationship Type="http://schemas.openxmlformats.org/officeDocument/2006/relationships/tableStyles" Target="/ppt/tableStyles.xml" Id="Ra535a25941124e46" /><Relationship Type="http://schemas.openxmlformats.org/officeDocument/2006/relationships/slide" Target="/ppt/slides/slide1.xml" Id="Rd54145426948439b" /><Relationship Type="http://schemas.openxmlformats.org/officeDocument/2006/relationships/slide" Target="/ppt/slides/slide2.xml" Id="Rdbeb5f865a4846a3" /><Relationship Type="http://schemas.openxmlformats.org/officeDocument/2006/relationships/slide" Target="/ppt/slides/slide3.xml" Id="R8c3829b6d8d4458a" /><Relationship Type="http://schemas.openxmlformats.org/officeDocument/2006/relationships/slide" Target="/ppt/slides/slide4.xml" Id="Rb375aa8b7f3e4a50" /><Relationship Type="http://schemas.openxmlformats.org/officeDocument/2006/relationships/slide" Target="/ppt/slides/slide5.xml" Id="Rd574ef4790724f77" /><Relationship Type="http://schemas.openxmlformats.org/officeDocument/2006/relationships/slide" Target="/ppt/slides/slide6.xml" Id="R2ee38afcfcc34086" /><Relationship Type="http://schemas.openxmlformats.org/officeDocument/2006/relationships/slide" Target="/ppt/slides/slide7.xml" Id="R4088cb706093424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092dd9031294a9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5ba88cc04014880" /><Relationship Type="http://schemas.openxmlformats.org/officeDocument/2006/relationships/notesMaster" Target="/ppt/notesMasters/notesMaster1.xml" Id="R8b065dc81f0543e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4a233410e0b4570" /><Relationship Type="http://schemas.openxmlformats.org/officeDocument/2006/relationships/notesMaster" Target="/ppt/notesMasters/notesMaster1.xml" Id="Rb01ebb3a2fa84cb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68774ea937844e6" /><Relationship Type="http://schemas.openxmlformats.org/officeDocument/2006/relationships/notesMaster" Target="/ppt/notesMasters/notesMaster1.xml" Id="Rb2e0576e4d71403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10e1f4e44794a0f" /><Relationship Type="http://schemas.openxmlformats.org/officeDocument/2006/relationships/notesMaster" Target="/ppt/notesMasters/notesMaster1.xml" Id="Rcdaba14b62194ba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4512a441add4690" /><Relationship Type="http://schemas.openxmlformats.org/officeDocument/2006/relationships/notesMaster" Target="/ppt/notesMasters/notesMaster1.xml" Id="R7512c55270334e6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d1653071fec4d23" /><Relationship Type="http://schemas.openxmlformats.org/officeDocument/2006/relationships/notesMaster" Target="/ppt/notesMasters/notesMaster1.xml" Id="R6a526fc164884ff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e6b20c8c8f441f0" /><Relationship Type="http://schemas.openxmlformats.org/officeDocument/2006/relationships/notesMaster" Target="/ppt/notesMasters/notesMaster1.xml" Id="R1d953646976c4f7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c312ce697b463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a1757d2716445ec" /><Relationship Type="http://schemas.openxmlformats.org/officeDocument/2006/relationships/slideLayout" Target="/ppt/slideLayouts/slideLayout1.xml" Id="R176a50cff6c54c8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76a50cff6c54c8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4b57f071984a38" /><Relationship Type="http://schemas.openxmlformats.org/officeDocument/2006/relationships/notesSlide" Target="/ppt/notesSlides/notesSlide1.xml" Id="R5467294cdb1b4ea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aa0d875e4344e1" /><Relationship Type="http://schemas.openxmlformats.org/officeDocument/2006/relationships/notesSlide" Target="/ppt/notesSlides/notesSlide2.xml" Id="R8975835bb553447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2de4dea8ff4753" /><Relationship Type="http://schemas.openxmlformats.org/officeDocument/2006/relationships/notesSlide" Target="/ppt/notesSlides/notesSlide3.xml" Id="R430879f6bada4a0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ad88290c5b401e" /><Relationship Type="http://schemas.openxmlformats.org/officeDocument/2006/relationships/notesSlide" Target="/ppt/notesSlides/notesSlide4.xml" Id="R036a633e7381486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9b8508242643e7" /><Relationship Type="http://schemas.openxmlformats.org/officeDocument/2006/relationships/notesSlide" Target="/ppt/notesSlides/notesSlide5.xml" Id="R08d7a0c2cc54463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b696103b6d4e2d" /><Relationship Type="http://schemas.openxmlformats.org/officeDocument/2006/relationships/notesSlide" Target="/ppt/notesSlides/notesSlide6.xml" Id="Rfd15d8fb26fb465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219745b8064612" /><Relationship Type="http://schemas.openxmlformats.org/officeDocument/2006/relationships/notesSlide" Target="/ppt/notesSlides/notesSlide7.xml" Id="R29c43dd16faf4e9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accent">
            <a:extLst xmlns:a="http://schemas.openxmlformats.org/drawingml/2006/main">
              <a:ext uri="{FF2B5EF4-FFF2-40B4-BE49-F238E27FC236}">
                <a16:creationId xmlns:a16="http://schemas.microsoft.com/office/drawing/2014/main" id="{338B7869-48BA-4476-84A0-1D47A519C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0">
            <a:solidFill>
              <a:srgbClr val="00B8D9"/>
            </a:solidFill>
            <a:prstDash val="solid"/>
          </a:ln>
        </p:spPr>
      </p:sp>
      <p:sp>
        <p:nvSpPr>
          <p:cNvPr id="2" name="left-accent">
            <a:extLst xmlns:a="http://schemas.openxmlformats.org/drawingml/2006/main">
              <a:ext uri="{FF2B5EF4-FFF2-40B4-BE49-F238E27FC236}">
                <a16:creationId xmlns:a16="http://schemas.microsoft.com/office/drawing/2014/main" id="{721F31E0-2753-40D4-BA8A-E01D4A48E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4F252F1B-5E50-465E-B476-9A8DFF5DE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8BD9E8"/>
                </a:solidFill>
              </a:defRPr>
            </a:pPr>
            <a:r>
              <a:rPr sz="1125" b="1">
                <a:solidFill>
                  <a:srgbClr val="8BD9E8"/>
                </a:solidFill>
              </a:rPr>
              <a:t>HIT2 JAPAN LAUNCH ROADMAP | PAGE 01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94528164-5034-419E-BAD0-DB3B1FF95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94A3B8"/>
                </a:solidFill>
              </a:defRPr>
            </a:pPr>
            <a:r>
              <a:rPr sz="1125">
                <a:solidFill>
                  <a:srgbClr val="94A3B8"/>
                </a:solidFill>
              </a:rPr>
              <a:t>HIT2 일본 서비스 런칭 6개월 전 로드맵</a:t>
            </a:r>
          </a:p>
        </p:txBody>
      </p:sp>
      <p:sp>
        <p:nvSpPr>
          <p:cNvPr id="5" name="page-no">
            <a:extLst xmlns:a="http://schemas.openxmlformats.org/drawingml/2006/main">
              <a:ext uri="{FF2B5EF4-FFF2-40B4-BE49-F238E27FC236}">
                <a16:creationId xmlns:a16="http://schemas.microsoft.com/office/drawing/2014/main" id="{15FD46E2-73B5-4E48-95AC-42FE7A998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94A3B8"/>
                </a:solidFill>
              </a:defRPr>
            </a:pPr>
            <a:r>
              <a:rPr sz="1200" b="1">
                <a:solidFill>
                  <a:srgbClr val="94A3B8"/>
                </a:solidFill>
              </a:rPr>
              <a:t>01</a:t>
            </a:r>
          </a:p>
        </p:txBody>
      </p:sp>
      <p:sp>
        <p:nvSpPr>
          <p:cNvPr id="6" name="hero-panel">
            <a:extLst xmlns:a="http://schemas.openxmlformats.org/drawingml/2006/main">
              <a:ext uri="{FF2B5EF4-FFF2-40B4-BE49-F238E27FC236}">
                <a16:creationId xmlns:a16="http://schemas.microsoft.com/office/drawing/2014/main" id="{866F667F-3C48-43F3-B50D-F9BF7471D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1252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2E"/>
          </a:solidFill>
          <a:ln xmlns:a="http://schemas.openxmlformats.org/drawingml/2006/main" w="9525">
            <a:solidFill>
              <a:srgbClr val="22304E"/>
            </a:solidFill>
            <a:prstDash val="solid"/>
          </a:ln>
        </p:spPr>
      </p:sp>
      <p:sp>
        <p:nvSpPr>
          <p:cNvPr id="7" name="hero-kicker">
            <a:extLst xmlns:a="http://schemas.openxmlformats.org/drawingml/2006/main">
              <a:ext uri="{FF2B5EF4-FFF2-40B4-BE49-F238E27FC236}">
                <a16:creationId xmlns:a16="http://schemas.microsoft.com/office/drawing/2014/main" id="{718C4C22-20B8-4372-AE0F-70CD2D1C3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91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8BD9E8"/>
                </a:solidFill>
              </a:defRPr>
            </a:pPr>
            <a:r>
              <a:rPr sz="1500" b="1">
                <a:solidFill>
                  <a:srgbClr val="8BD9E8"/>
                </a:solidFill>
              </a:rPr>
              <a:t>개발 PM 관점의 글로벌 런칭 준비안</a:t>
            </a:r>
          </a:p>
        </p:txBody>
      </p:sp>
      <p:sp>
        <p:nvSpPr>
          <p:cNvPr id="8" name="hero-title">
            <a:extLst xmlns:a="http://schemas.openxmlformats.org/drawingml/2006/main">
              <a:ext uri="{FF2B5EF4-FFF2-40B4-BE49-F238E27FC236}">
                <a16:creationId xmlns:a16="http://schemas.microsoft.com/office/drawing/2014/main" id="{54D4AE4C-15ED-412A-93B4-1A40FCA94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809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HIT2 일본 런칭 6개월 전 로드맵</a:t>
            </a:r>
          </a:p>
        </p:txBody>
      </p:sp>
      <p:sp>
        <p:nvSpPr>
          <p:cNvPr id="9" name="hero-subtitle">
            <a:extLst xmlns:a="http://schemas.openxmlformats.org/drawingml/2006/main">
              <a:ext uri="{FF2B5EF4-FFF2-40B4-BE49-F238E27FC236}">
                <a16:creationId xmlns:a16="http://schemas.microsoft.com/office/drawing/2014/main" id="{C861C6A9-E714-42F6-8C47-CC3E9FE79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0500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CBD5E1"/>
                </a:solidFill>
              </a:defRPr>
            </a:pPr>
            <a:r>
              <a:rPr sz="1425">
                <a:solidFill>
                  <a:srgbClr val="CBD5E1"/>
                </a:solidFill>
              </a:rPr>
              <a:t>마일스톤, 빌드·버전, QA, 퍼블리셔 커뮤니케이션을 하나의 출시 준비 흐름으로 정리합니다.</a:t>
            </a:r>
          </a:p>
        </p:txBody>
      </p:sp>
      <p:sp>
        <p:nvSpPr>
          <p:cNvPr id="10" name="tag-1">
            <a:extLst xmlns:a="http://schemas.openxmlformats.org/drawingml/2006/main">
              <a:ext uri="{FF2B5EF4-FFF2-40B4-BE49-F238E27FC236}">
                <a16:creationId xmlns:a16="http://schemas.microsoft.com/office/drawing/2014/main" id="{BE15BFDD-52EC-40C3-BF05-57F7667D1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800100"/>
            <a:ext cx="1619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6111F"/>
                </a:solidFill>
              </a:defRPr>
            </a:pPr>
            <a:r>
              <a:rPr sz="1125" b="1">
                <a:solidFill>
                  <a:srgbClr val="06111F"/>
                </a:solidFill>
              </a:rPr>
              <a:t>런칭 D-6M</a:t>
            </a:r>
          </a:p>
        </p:txBody>
      </p:sp>
      <p:sp>
        <p:nvSpPr>
          <p:cNvPr id="11" name="tag-2">
            <a:extLst xmlns:a="http://schemas.openxmlformats.org/drawingml/2006/main">
              <a:ext uri="{FF2B5EF4-FFF2-40B4-BE49-F238E27FC236}">
                <a16:creationId xmlns:a16="http://schemas.microsoft.com/office/drawing/2014/main" id="{E1C4C4BD-3D78-4DD6-A747-6E79C895E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257300"/>
            <a:ext cx="1619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일본 서비스</a:t>
            </a:r>
          </a:p>
        </p:txBody>
      </p:sp>
      <p:sp>
        <p:nvSpPr>
          <p:cNvPr id="12" name="tag-3">
            <a:extLst xmlns:a="http://schemas.openxmlformats.org/drawingml/2006/main">
              <a:ext uri="{FF2B5EF4-FFF2-40B4-BE49-F238E27FC236}">
                <a16:creationId xmlns:a16="http://schemas.microsoft.com/office/drawing/2014/main" id="{B302DE31-C199-4BE6-A19C-2233968A5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14500"/>
            <a:ext cx="1619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34155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개발 PM</a:t>
            </a:r>
          </a:p>
        </p:txBody>
      </p:sp>
      <p:sp>
        <p:nvSpPr>
          <p:cNvPr id="13" name="scope-title">
            <a:extLst xmlns:a="http://schemas.openxmlformats.org/drawingml/2006/main">
              <a:ext uri="{FF2B5EF4-FFF2-40B4-BE49-F238E27FC236}">
                <a16:creationId xmlns:a16="http://schemas.microsoft.com/office/drawing/2014/main" id="{6B4A82FE-2259-44D6-A517-D3AC4222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작성 범위</a:t>
            </a:r>
          </a:p>
        </p:txBody>
      </p:sp>
      <p:sp>
        <p:nvSpPr>
          <p:cNvPr id="14" name="scope-note">
            <a:extLst xmlns:a="http://schemas.openxmlformats.org/drawingml/2006/main">
              <a:ext uri="{FF2B5EF4-FFF2-40B4-BE49-F238E27FC236}">
                <a16:creationId xmlns:a16="http://schemas.microsoft.com/office/drawing/2014/main" id="{E1E7F2DD-8416-42AA-BFD1-AFF9CDE3A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81325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94A3B8"/>
                </a:solidFill>
              </a:defRPr>
            </a:pPr>
            <a:r>
              <a:rPr sz="1125">
                <a:solidFill>
                  <a:srgbClr val="94A3B8"/>
                </a:solidFill>
              </a:rPr>
              <a:t>실제 경력 서술을 바탕으로 한 임의 로드맵 초안</a:t>
            </a:r>
          </a:p>
        </p:txBody>
      </p:sp>
      <p:sp>
        <p:nvSpPr>
          <p:cNvPr id="15" name="scope-row-1">
            <a:extLst xmlns:a="http://schemas.openxmlformats.org/drawingml/2006/main">
              <a:ext uri="{FF2B5EF4-FFF2-40B4-BE49-F238E27FC236}">
                <a16:creationId xmlns:a16="http://schemas.microsoft.com/office/drawing/2014/main" id="{2195C9E2-A3B2-49C5-B94E-E57B7CB69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6419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F34"/>
          </a:solidFill>
          <a:ln xmlns:a="http://schemas.openxmlformats.org/drawingml/2006/main" w="9525">
            <a:solidFill>
              <a:srgbClr val="2F3B55"/>
            </a:solidFill>
            <a:prstDash val="solid"/>
          </a:ln>
        </p:spPr>
      </p:sp>
      <p:sp>
        <p:nvSpPr>
          <p:cNvPr id="16" name="scope-label-1">
            <a:extLst xmlns:a="http://schemas.openxmlformats.org/drawingml/2006/main">
              <a:ext uri="{FF2B5EF4-FFF2-40B4-BE49-F238E27FC236}">
                <a16:creationId xmlns:a16="http://schemas.microsoft.com/office/drawing/2014/main" id="{95CA921A-7092-450A-86BA-044C980FE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BD9E8"/>
                </a:solidFill>
              </a:defRPr>
            </a:pPr>
            <a:r>
              <a:rPr sz="1200" b="1">
                <a:solidFill>
                  <a:srgbClr val="8BD9E8"/>
                </a:solidFill>
              </a:rPr>
              <a:t>목표</a:t>
            </a:r>
          </a:p>
        </p:txBody>
      </p:sp>
      <p:sp>
        <p:nvSpPr>
          <p:cNvPr id="17" name="scope-value-1">
            <a:extLst xmlns:a="http://schemas.openxmlformats.org/drawingml/2006/main">
              <a:ext uri="{FF2B5EF4-FFF2-40B4-BE49-F238E27FC236}">
                <a16:creationId xmlns:a16="http://schemas.microsoft.com/office/drawing/2014/main" id="{806CE8A6-D87C-4433-A61E-03DE4C72E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705225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FFFFF"/>
                </a:solidFill>
              </a:defRPr>
            </a:pPr>
            <a:r>
              <a:rPr sz="1200">
                <a:solidFill>
                  <a:srgbClr val="FFFFFF"/>
                </a:solidFill>
              </a:rPr>
              <a:t>일본 런칭 전 6개월간의 준비 과업과 의사결정 흐름 제시</a:t>
            </a:r>
          </a:p>
        </p:txBody>
      </p:sp>
      <p:sp>
        <p:nvSpPr>
          <p:cNvPr id="18" name="scope-row-2">
            <a:extLst xmlns:a="http://schemas.openxmlformats.org/drawingml/2006/main">
              <a:ext uri="{FF2B5EF4-FFF2-40B4-BE49-F238E27FC236}">
                <a16:creationId xmlns:a16="http://schemas.microsoft.com/office/drawing/2014/main" id="{17C5B018-C231-4857-B28D-0B73F0273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6419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F3B55"/>
            </a:solidFill>
            <a:prstDash val="solid"/>
          </a:ln>
        </p:spPr>
      </p:sp>
      <p:sp>
        <p:nvSpPr>
          <p:cNvPr id="19" name="scope-label-2">
            <a:extLst xmlns:a="http://schemas.openxmlformats.org/drawingml/2006/main">
              <a:ext uri="{FF2B5EF4-FFF2-40B4-BE49-F238E27FC236}">
                <a16:creationId xmlns:a16="http://schemas.microsoft.com/office/drawing/2014/main" id="{D07D771E-B4B2-49B5-8D8A-5E5BE5D20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BD9E8"/>
                </a:solidFill>
              </a:defRPr>
            </a:pPr>
            <a:r>
              <a:rPr sz="1200" b="1">
                <a:solidFill>
                  <a:srgbClr val="8BD9E8"/>
                </a:solidFill>
              </a:rPr>
              <a:t>핵심 축</a:t>
            </a:r>
          </a:p>
        </p:txBody>
      </p:sp>
      <p:sp>
        <p:nvSpPr>
          <p:cNvPr id="20" name="scope-value-2">
            <a:extLst xmlns:a="http://schemas.openxmlformats.org/drawingml/2006/main">
              <a:ext uri="{FF2B5EF4-FFF2-40B4-BE49-F238E27FC236}">
                <a16:creationId xmlns:a16="http://schemas.microsoft.com/office/drawing/2014/main" id="{6AF83045-BEE7-4585-B0D4-7E82C954E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219575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FFFFF"/>
                </a:solidFill>
              </a:defRPr>
            </a:pPr>
            <a:r>
              <a:rPr sz="1200">
                <a:solidFill>
                  <a:srgbClr val="FFFFFF"/>
                </a:solidFill>
              </a:rPr>
              <a:t>마일스톤 관리, 빌드·버전 통제, QA 안정화, 퍼블리셔 대응</a:t>
            </a:r>
          </a:p>
        </p:txBody>
      </p:sp>
      <p:sp>
        <p:nvSpPr>
          <p:cNvPr id="21" name="scope-row-3">
            <a:extLst xmlns:a="http://schemas.openxmlformats.org/drawingml/2006/main">
              <a:ext uri="{FF2B5EF4-FFF2-40B4-BE49-F238E27FC236}">
                <a16:creationId xmlns:a16="http://schemas.microsoft.com/office/drawing/2014/main" id="{B8B9BDD7-9925-468C-8B0C-7ED7D5451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6419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F34"/>
          </a:solidFill>
          <a:ln xmlns:a="http://schemas.openxmlformats.org/drawingml/2006/main" w="9525">
            <a:solidFill>
              <a:srgbClr val="2F3B55"/>
            </a:solidFill>
            <a:prstDash val="solid"/>
          </a:ln>
        </p:spPr>
      </p:sp>
      <p:sp>
        <p:nvSpPr>
          <p:cNvPr id="22" name="scope-label-3">
            <a:extLst xmlns:a="http://schemas.openxmlformats.org/drawingml/2006/main">
              <a:ext uri="{FF2B5EF4-FFF2-40B4-BE49-F238E27FC236}">
                <a16:creationId xmlns:a16="http://schemas.microsoft.com/office/drawing/2014/main" id="{B870DF5A-263A-4956-B2D0-468E59425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434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BD9E8"/>
                </a:solidFill>
              </a:defRPr>
            </a:pPr>
            <a:r>
              <a:rPr sz="1200" b="1">
                <a:solidFill>
                  <a:srgbClr val="8BD9E8"/>
                </a:solidFill>
              </a:rPr>
              <a:t>산출물</a:t>
            </a:r>
          </a:p>
        </p:txBody>
      </p:sp>
      <p:sp>
        <p:nvSpPr>
          <p:cNvPr id="23" name="scope-value-3">
            <a:extLst xmlns:a="http://schemas.openxmlformats.org/drawingml/2006/main">
              <a:ext uri="{FF2B5EF4-FFF2-40B4-BE49-F238E27FC236}">
                <a16:creationId xmlns:a16="http://schemas.microsoft.com/office/drawing/2014/main" id="{36CFC961-094F-43A9-A5CD-C80455AA4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733925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FFFFF"/>
                </a:solidFill>
              </a:defRPr>
            </a:pPr>
            <a:r>
              <a:rPr sz="1200">
                <a:solidFill>
                  <a:srgbClr val="FFFFFF"/>
                </a:solidFill>
              </a:rPr>
              <a:t>월별 로드맵, 게이트 기준, 리스크·커뮤니케이션 관리안</a:t>
            </a:r>
          </a:p>
        </p:txBody>
      </p:sp>
      <p:sp>
        <p:nvSpPr>
          <p:cNvPr id="24" name="scope-row-4">
            <a:extLst xmlns:a="http://schemas.openxmlformats.org/drawingml/2006/main">
              <a:ext uri="{FF2B5EF4-FFF2-40B4-BE49-F238E27FC236}">
                <a16:creationId xmlns:a16="http://schemas.microsoft.com/office/drawing/2014/main" id="{54654E60-0BB1-4F5C-A01D-13EF57D03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6419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F3B55"/>
            </a:solidFill>
            <a:prstDash val="solid"/>
          </a:ln>
        </p:spPr>
      </p:sp>
      <p:sp>
        <p:nvSpPr>
          <p:cNvPr id="25" name="scope-label-4">
            <a:extLst xmlns:a="http://schemas.openxmlformats.org/drawingml/2006/main">
              <a:ext uri="{FF2B5EF4-FFF2-40B4-BE49-F238E27FC236}">
                <a16:creationId xmlns:a16="http://schemas.microsoft.com/office/drawing/2014/main" id="{CCF1C1A2-DAAD-4900-AF40-E2BB1047C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5780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BD9E8"/>
                </a:solidFill>
              </a:defRPr>
            </a:pPr>
            <a:r>
              <a:rPr sz="1200" b="1">
                <a:solidFill>
                  <a:srgbClr val="8BD9E8"/>
                </a:solidFill>
              </a:rPr>
              <a:t>전제</a:t>
            </a:r>
          </a:p>
        </p:txBody>
      </p:sp>
      <p:sp>
        <p:nvSpPr>
          <p:cNvPr id="26" name="scope-value-4">
            <a:extLst xmlns:a="http://schemas.openxmlformats.org/drawingml/2006/main">
              <a:ext uri="{FF2B5EF4-FFF2-40B4-BE49-F238E27FC236}">
                <a16:creationId xmlns:a16="http://schemas.microsoft.com/office/drawing/2014/main" id="{AEA6BDD3-F9C4-4497-B4D4-61F199513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248275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FFFFF"/>
                </a:solidFill>
              </a:defRPr>
            </a:pPr>
            <a:r>
              <a:rPr sz="1200">
                <a:solidFill>
                  <a:srgbClr val="FFFFFF"/>
                </a:solidFill>
              </a:rPr>
              <a:t>상세 일정과 지표는 과제 목적에 맞춘 가정값으로 구성</a:t>
            </a:r>
          </a:p>
        </p:txBody>
      </p:sp>
      <p:sp>
        <p:nvSpPr>
          <p:cNvPr id="27" name="evidence-title">
            <a:extLst xmlns:a="http://schemas.openxmlformats.org/drawingml/2006/main">
              <a:ext uri="{FF2B5EF4-FFF2-40B4-BE49-F238E27FC236}">
                <a16:creationId xmlns:a16="http://schemas.microsoft.com/office/drawing/2014/main" id="{D39F6C00-41F0-4883-9701-F7AFE0957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146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경력 근거</a:t>
            </a:r>
          </a:p>
        </p:txBody>
      </p:sp>
      <p:sp>
        <p:nvSpPr>
          <p:cNvPr id="28" name="evidence-card-1">
            <a:extLst xmlns:a="http://schemas.openxmlformats.org/drawingml/2006/main">
              <a:ext uri="{FF2B5EF4-FFF2-40B4-BE49-F238E27FC236}">
                <a16:creationId xmlns:a16="http://schemas.microsoft.com/office/drawing/2014/main" id="{478D13FC-EDD7-4B87-A77A-B0FCB8A4C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76600"/>
            <a:ext cx="35623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F3B55"/>
            </a:solidFill>
            <a:prstDash val="solid"/>
          </a:ln>
        </p:spPr>
      </p:sp>
      <p:sp>
        <p:nvSpPr>
          <p:cNvPr id="29" name="evidence-bar-1">
            <a:extLst xmlns:a="http://schemas.openxmlformats.org/drawingml/2006/main">
              <a:ext uri="{FF2B5EF4-FFF2-40B4-BE49-F238E27FC236}">
                <a16:creationId xmlns:a16="http://schemas.microsoft.com/office/drawing/2014/main" id="{B8214933-BADE-4DAE-874B-32DF245E5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76600"/>
            <a:ext cx="57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0">
            <a:solidFill>
              <a:srgbClr val="00B8D9"/>
            </a:solidFill>
            <a:prstDash val="solid"/>
          </a:ln>
        </p:spPr>
      </p:sp>
      <p:sp>
        <p:nvSpPr>
          <p:cNvPr id="30" name="evidence-title-1">
            <a:extLst xmlns:a="http://schemas.openxmlformats.org/drawingml/2006/main">
              <a:ext uri="{FF2B5EF4-FFF2-40B4-BE49-F238E27FC236}">
                <a16:creationId xmlns:a16="http://schemas.microsoft.com/office/drawing/2014/main" id="{627E4988-BB1F-4682-96F9-A2F6AC169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71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HIT2 일본 서비스 개발 PM</a:t>
            </a:r>
          </a:p>
        </p:txBody>
      </p:sp>
      <p:sp>
        <p:nvSpPr>
          <p:cNvPr id="31" name="evidence-body-1">
            <a:extLst xmlns:a="http://schemas.openxmlformats.org/drawingml/2006/main">
              <a:ext uri="{FF2B5EF4-FFF2-40B4-BE49-F238E27FC236}">
                <a16:creationId xmlns:a16="http://schemas.microsoft.com/office/drawing/2014/main" id="{F1501850-2853-47FE-9447-451D63F55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195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CBD5E1"/>
                </a:solidFill>
              </a:defRPr>
            </a:pPr>
            <a:r>
              <a:rPr sz="975">
                <a:solidFill>
                  <a:srgbClr val="CBD5E1"/>
                </a:solidFill>
              </a:rPr>
              <a:t>런칭 운영을 담당 PM 관점에서 통합 관리</a:t>
            </a:r>
          </a:p>
        </p:txBody>
      </p:sp>
      <p:sp>
        <p:nvSpPr>
          <p:cNvPr id="32" name="evidence-card-2">
            <a:extLst xmlns:a="http://schemas.openxmlformats.org/drawingml/2006/main">
              <a:ext uri="{FF2B5EF4-FFF2-40B4-BE49-F238E27FC236}">
                <a16:creationId xmlns:a16="http://schemas.microsoft.com/office/drawing/2014/main" id="{56EB03B8-8776-4FAA-B100-0564CA7B0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76700"/>
            <a:ext cx="35623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F3B55"/>
            </a:solidFill>
            <a:prstDash val="solid"/>
          </a:ln>
        </p:spPr>
      </p:sp>
      <p:sp>
        <p:nvSpPr>
          <p:cNvPr id="33" name="evidence-bar-2">
            <a:extLst xmlns:a="http://schemas.openxmlformats.org/drawingml/2006/main">
              <a:ext uri="{FF2B5EF4-FFF2-40B4-BE49-F238E27FC236}">
                <a16:creationId xmlns:a16="http://schemas.microsoft.com/office/drawing/2014/main" id="{B440CDF5-29DF-4C5E-85E8-24D1EFFBD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76700"/>
            <a:ext cx="57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34" name="evidence-title-2">
            <a:extLst xmlns:a="http://schemas.openxmlformats.org/drawingml/2006/main">
              <a:ext uri="{FF2B5EF4-FFF2-40B4-BE49-F238E27FC236}">
                <a16:creationId xmlns:a16="http://schemas.microsoft.com/office/drawing/2014/main" id="{A5659612-63C0-4604-A324-72274B286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1719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마일스톤 및 배포 일정 총괄</a:t>
            </a:r>
          </a:p>
        </p:txBody>
      </p:sp>
      <p:sp>
        <p:nvSpPr>
          <p:cNvPr id="35" name="evidence-body-2">
            <a:extLst xmlns:a="http://schemas.openxmlformats.org/drawingml/2006/main">
              <a:ext uri="{FF2B5EF4-FFF2-40B4-BE49-F238E27FC236}">
                <a16:creationId xmlns:a16="http://schemas.microsoft.com/office/drawing/2014/main" id="{686C33A9-38E0-4D6F-B002-74E3F7AC5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4196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CBD5E1"/>
                </a:solidFill>
              </a:defRPr>
            </a:pPr>
            <a:r>
              <a:rPr sz="975">
                <a:solidFill>
                  <a:srgbClr val="CBD5E1"/>
                </a:solidFill>
              </a:rPr>
              <a:t>일정·범위·릴리즈 기준을 연결해 관리</a:t>
            </a:r>
          </a:p>
        </p:txBody>
      </p:sp>
      <p:sp>
        <p:nvSpPr>
          <p:cNvPr id="36" name="evidence-card-3">
            <a:extLst xmlns:a="http://schemas.openxmlformats.org/drawingml/2006/main">
              <a:ext uri="{FF2B5EF4-FFF2-40B4-BE49-F238E27FC236}">
                <a16:creationId xmlns:a16="http://schemas.microsoft.com/office/drawing/2014/main" id="{BEC05E98-D787-46D7-84D3-CA36FDF28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876800"/>
            <a:ext cx="35623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F3B55"/>
            </a:solidFill>
            <a:prstDash val="solid"/>
          </a:ln>
        </p:spPr>
      </p:sp>
      <p:sp>
        <p:nvSpPr>
          <p:cNvPr id="37" name="evidence-bar-3">
            <a:extLst xmlns:a="http://schemas.openxmlformats.org/drawingml/2006/main">
              <a:ext uri="{FF2B5EF4-FFF2-40B4-BE49-F238E27FC236}">
                <a16:creationId xmlns:a16="http://schemas.microsoft.com/office/drawing/2014/main" id="{A7719CF0-43E4-4C90-A4AB-00935AA1D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876800"/>
            <a:ext cx="57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38" name="evidence-title-3">
            <a:extLst xmlns:a="http://schemas.openxmlformats.org/drawingml/2006/main">
              <a:ext uri="{FF2B5EF4-FFF2-40B4-BE49-F238E27FC236}">
                <a16:creationId xmlns:a16="http://schemas.microsoft.com/office/drawing/2014/main" id="{A5FF6C65-9D3D-4941-9974-F1F44C391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972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Perforce 기반 빌드·버전 관리</a:t>
            </a:r>
          </a:p>
        </p:txBody>
      </p:sp>
      <p:sp>
        <p:nvSpPr>
          <p:cNvPr id="39" name="evidence-body-3">
            <a:extLst xmlns:a="http://schemas.openxmlformats.org/drawingml/2006/main">
              <a:ext uri="{FF2B5EF4-FFF2-40B4-BE49-F238E27FC236}">
                <a16:creationId xmlns:a16="http://schemas.microsoft.com/office/drawing/2014/main" id="{3C62C094-F477-442D-A926-374062639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2197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CBD5E1"/>
                </a:solidFill>
              </a:defRPr>
            </a:pPr>
            <a:r>
              <a:rPr sz="975">
                <a:solidFill>
                  <a:srgbClr val="CBD5E1"/>
                </a:solidFill>
              </a:rPr>
              <a:t>업데이트 안정성을 확보하는 릴리즈 체계 경험</a:t>
            </a:r>
          </a:p>
        </p:txBody>
      </p:sp>
    </p:spTree>
    <p:extLst>
      <p:ext uri="{BB962C8B-B14F-4D97-AF65-F5344CB8AC3E}">
        <p14:creationId xmlns:p14="http://schemas.microsoft.com/office/powerpoint/2010/main" val="4811258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accent">
            <a:extLst xmlns:a="http://schemas.openxmlformats.org/drawingml/2006/main">
              <a:ext uri="{FF2B5EF4-FFF2-40B4-BE49-F238E27FC236}">
                <a16:creationId xmlns:a16="http://schemas.microsoft.com/office/drawing/2014/main" id="{B5C9BB29-8785-4F6D-84E9-E0CA52061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0">
            <a:solidFill>
              <a:srgbClr val="00B8D9"/>
            </a:solidFill>
            <a:prstDash val="solid"/>
          </a:ln>
        </p:spPr>
      </p:sp>
      <p:sp>
        <p:nvSpPr>
          <p:cNvPr id="2" name="left-accent">
            <a:extLst xmlns:a="http://schemas.openxmlformats.org/drawingml/2006/main">
              <a:ext uri="{FF2B5EF4-FFF2-40B4-BE49-F238E27FC236}">
                <a16:creationId xmlns:a16="http://schemas.microsoft.com/office/drawing/2014/main" id="{31021B7B-5A93-4F61-8B6E-566625935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E6E27629-7C00-4986-9EF1-38C591B50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8BD9E8"/>
                </a:solidFill>
              </a:defRPr>
            </a:pPr>
            <a:r>
              <a:rPr sz="1125" b="1">
                <a:solidFill>
                  <a:srgbClr val="8BD9E8"/>
                </a:solidFill>
              </a:rPr>
              <a:t>SIX-MONTH LAUNCH ROADMAP | PAGE 02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C1EF3D95-0C74-4AC8-8AE6-033B3472B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94A3B8"/>
                </a:solidFill>
              </a:defRPr>
            </a:pPr>
            <a:r>
              <a:rPr sz="1125">
                <a:solidFill>
                  <a:srgbClr val="94A3B8"/>
                </a:solidFill>
              </a:rPr>
              <a:t>HIT2 일본 서비스 런칭 6개월 전 로드맵</a:t>
            </a:r>
          </a:p>
        </p:txBody>
      </p:sp>
      <p:sp>
        <p:nvSpPr>
          <p:cNvPr id="5" name="page-no">
            <a:extLst xmlns:a="http://schemas.openxmlformats.org/drawingml/2006/main">
              <a:ext uri="{FF2B5EF4-FFF2-40B4-BE49-F238E27FC236}">
                <a16:creationId xmlns:a16="http://schemas.microsoft.com/office/drawing/2014/main" id="{1AC12CCC-5B01-474F-A2F0-A844D87EE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94A3B8"/>
                </a:solidFill>
              </a:defRPr>
            </a:pPr>
            <a:r>
              <a:rPr sz="1200" b="1">
                <a:solidFill>
                  <a:srgbClr val="94A3B8"/>
                </a:solidFill>
              </a:rPr>
              <a:t>02</a:t>
            </a:r>
          </a:p>
        </p:txBody>
      </p:sp>
      <p:sp>
        <p:nvSpPr>
          <p:cNvPr id="6" name="title-02">
            <a:extLst xmlns:a="http://schemas.openxmlformats.org/drawingml/2006/main">
              <a:ext uri="{FF2B5EF4-FFF2-40B4-BE49-F238E27FC236}">
                <a16:creationId xmlns:a16="http://schemas.microsoft.com/office/drawing/2014/main" id="{0056667D-F91D-458C-BF1D-DCAD874C9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6개월 런칭 준비는 마일스톤과 릴리즈 기준을 함께 맞춥니다</a:t>
            </a:r>
          </a:p>
        </p:txBody>
      </p:sp>
      <p:sp>
        <p:nvSpPr>
          <p:cNvPr id="7" name="subtitle-02">
            <a:extLst xmlns:a="http://schemas.openxmlformats.org/drawingml/2006/main">
              <a:ext uri="{FF2B5EF4-FFF2-40B4-BE49-F238E27FC236}">
                <a16:creationId xmlns:a16="http://schemas.microsoft.com/office/drawing/2014/main" id="{4A2B82A9-7CEB-4EA7-9AF6-AC7A18F96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CBD5E1"/>
                </a:solidFill>
              </a:defRPr>
            </a:pPr>
            <a:r>
              <a:rPr sz="1275">
                <a:solidFill>
                  <a:srgbClr val="CBD5E1"/>
                </a:solidFill>
              </a:rPr>
              <a:t>PM 관점에서는 일정·범위 통제, 빌드·버전 관리, QA, 퍼블리셔 대응을 같은 흐름으로 관리해야 합니다.</a:t>
            </a:r>
          </a:p>
        </p:txBody>
      </p:sp>
      <p:sp>
        <p:nvSpPr>
          <p:cNvPr id="8" name="timeline-line">
            <a:extLst xmlns:a="http://schemas.openxmlformats.org/drawingml/2006/main">
              <a:ext uri="{FF2B5EF4-FFF2-40B4-BE49-F238E27FC236}">
                <a16:creationId xmlns:a16="http://schemas.microsoft.com/office/drawing/2014/main" id="{A98ED615-B16F-4215-974F-761C3D38D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0425"/>
            <a:ext cx="9963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3B55"/>
          </a:solidFill>
          <a:ln xmlns:a="http://schemas.openxmlformats.org/drawingml/2006/main" w="0">
            <a:solidFill>
              <a:srgbClr val="2F3B55"/>
            </a:solidFill>
            <a:prstDash val="solid"/>
          </a:ln>
        </p:spPr>
      </p:sp>
      <p:sp>
        <p:nvSpPr>
          <p:cNvPr id="9" name="timeline-card-1">
            <a:extLst xmlns:a="http://schemas.openxmlformats.org/drawingml/2006/main">
              <a:ext uri="{FF2B5EF4-FFF2-40B4-BE49-F238E27FC236}">
                <a16:creationId xmlns:a16="http://schemas.microsoft.com/office/drawing/2014/main" id="{19FF5EBD-AA55-4359-B971-A8A1C930F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09800"/>
            <a:ext cx="1581150" cy="23812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F3B55"/>
            </a:solidFill>
            <a:prstDash val="solid"/>
          </a:ln>
        </p:spPr>
      </p:sp>
      <p:sp>
        <p:nvSpPr>
          <p:cNvPr id="10" name="timeline-bar-1">
            <a:extLst xmlns:a="http://schemas.openxmlformats.org/drawingml/2006/main">
              <a:ext uri="{FF2B5EF4-FFF2-40B4-BE49-F238E27FC236}">
                <a16:creationId xmlns:a16="http://schemas.microsoft.com/office/drawing/2014/main" id="{7947128D-C393-47FF-B0DB-CCB529B52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09800"/>
            <a:ext cx="15811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0">
            <a:solidFill>
              <a:srgbClr val="00B8D9"/>
            </a:solidFill>
            <a:prstDash val="solid"/>
          </a:ln>
        </p:spPr>
      </p:sp>
      <p:sp>
        <p:nvSpPr>
          <p:cNvPr id="11" name="timeline-month-1">
            <a:extLst xmlns:a="http://schemas.openxmlformats.org/drawingml/2006/main">
              <a:ext uri="{FF2B5EF4-FFF2-40B4-BE49-F238E27FC236}">
                <a16:creationId xmlns:a16="http://schemas.microsoft.com/office/drawing/2014/main" id="{EF7D6E69-D79C-4D2E-968C-9566D59FB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384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B8D9"/>
                </a:solidFill>
              </a:defRPr>
            </a:pPr>
            <a:r>
              <a:rPr sz="1275" b="1">
                <a:solidFill>
                  <a:srgbClr val="00B8D9"/>
                </a:solidFill>
              </a:rPr>
              <a:t>D-6M</a:t>
            </a:r>
          </a:p>
        </p:txBody>
      </p:sp>
      <p:sp>
        <p:nvSpPr>
          <p:cNvPr id="12" name="timeline-title-1">
            <a:extLst xmlns:a="http://schemas.openxmlformats.org/drawingml/2006/main">
              <a:ext uri="{FF2B5EF4-FFF2-40B4-BE49-F238E27FC236}">
                <a16:creationId xmlns:a16="http://schemas.microsoft.com/office/drawing/2014/main" id="{0051B348-333B-4411-9F1B-07B6A2434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257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범위·일정 확정</a:t>
            </a:r>
          </a:p>
        </p:txBody>
      </p:sp>
      <p:sp>
        <p:nvSpPr>
          <p:cNvPr id="13" name="timeline-dot-1-1">
            <a:extLst xmlns:a="http://schemas.openxmlformats.org/drawingml/2006/main">
              <a:ext uri="{FF2B5EF4-FFF2-40B4-BE49-F238E27FC236}">
                <a16:creationId xmlns:a16="http://schemas.microsoft.com/office/drawing/2014/main" id="{09B50DC9-59D3-4BE5-B134-98B756B82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71850"/>
            <a:ext cx="114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B8D9"/>
                </a:solidFill>
              </a:defRPr>
            </a:pPr>
            <a:r>
              <a:rPr sz="1350" b="1">
                <a:solidFill>
                  <a:srgbClr val="00B8D9"/>
                </a:solidFill>
              </a:rPr>
              <a:t>·</a:t>
            </a:r>
          </a:p>
        </p:txBody>
      </p:sp>
      <p:sp>
        <p:nvSpPr>
          <p:cNvPr id="14" name="timeline-item-1-1">
            <a:extLst xmlns:a="http://schemas.openxmlformats.org/drawingml/2006/main">
              <a:ext uri="{FF2B5EF4-FFF2-40B4-BE49-F238E27FC236}">
                <a16:creationId xmlns:a16="http://schemas.microsoft.com/office/drawing/2014/main" id="{CAE1DA3A-A0E3-4FAE-9E60-1E92B1ABA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00425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CBD5E1"/>
                </a:solidFill>
              </a:defRPr>
            </a:pPr>
            <a:r>
              <a:rPr sz="938">
                <a:solidFill>
                  <a:srgbClr val="CBD5E1"/>
                </a:solidFill>
              </a:rPr>
              <a:t>일본 서비스 범위</a:t>
            </a:r>
          </a:p>
        </p:txBody>
      </p:sp>
      <p:sp>
        <p:nvSpPr>
          <p:cNvPr id="15" name="timeline-dot-1-2">
            <a:extLst xmlns:a="http://schemas.openxmlformats.org/drawingml/2006/main">
              <a:ext uri="{FF2B5EF4-FFF2-40B4-BE49-F238E27FC236}">
                <a16:creationId xmlns:a16="http://schemas.microsoft.com/office/drawing/2014/main" id="{2AD57A43-3245-4BEE-ADD1-D040C12C2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95700"/>
            <a:ext cx="114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B8D9"/>
                </a:solidFill>
              </a:defRPr>
            </a:pPr>
            <a:r>
              <a:rPr sz="1350" b="1">
                <a:solidFill>
                  <a:srgbClr val="00B8D9"/>
                </a:solidFill>
              </a:rPr>
              <a:t>·</a:t>
            </a:r>
          </a:p>
        </p:txBody>
      </p:sp>
      <p:sp>
        <p:nvSpPr>
          <p:cNvPr id="16" name="timeline-item-1-2">
            <a:extLst xmlns:a="http://schemas.openxmlformats.org/drawingml/2006/main">
              <a:ext uri="{FF2B5EF4-FFF2-40B4-BE49-F238E27FC236}">
                <a16:creationId xmlns:a16="http://schemas.microsoft.com/office/drawing/2014/main" id="{BC8E7022-06F0-4342-967A-473F16207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24275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CBD5E1"/>
                </a:solidFill>
              </a:defRPr>
            </a:pPr>
            <a:r>
              <a:rPr sz="938">
                <a:solidFill>
                  <a:srgbClr val="CBD5E1"/>
                </a:solidFill>
              </a:rPr>
              <a:t>마일스톤 기준</a:t>
            </a:r>
          </a:p>
        </p:txBody>
      </p:sp>
      <p:sp>
        <p:nvSpPr>
          <p:cNvPr id="17" name="timeline-dot-1-3">
            <a:extLst xmlns:a="http://schemas.openxmlformats.org/drawingml/2006/main">
              <a:ext uri="{FF2B5EF4-FFF2-40B4-BE49-F238E27FC236}">
                <a16:creationId xmlns:a16="http://schemas.microsoft.com/office/drawing/2014/main" id="{2AF428D4-48E1-46B3-BAD9-3B3FE9ACA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114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B8D9"/>
                </a:solidFill>
              </a:defRPr>
            </a:pPr>
            <a:r>
              <a:rPr sz="1350" b="1">
                <a:solidFill>
                  <a:srgbClr val="00B8D9"/>
                </a:solidFill>
              </a:rPr>
              <a:t>·</a:t>
            </a:r>
          </a:p>
        </p:txBody>
      </p:sp>
      <p:sp>
        <p:nvSpPr>
          <p:cNvPr id="18" name="timeline-item-1-3">
            <a:extLst xmlns:a="http://schemas.openxmlformats.org/drawingml/2006/main">
              <a:ext uri="{FF2B5EF4-FFF2-40B4-BE49-F238E27FC236}">
                <a16:creationId xmlns:a16="http://schemas.microsoft.com/office/drawing/2014/main" id="{80D6E426-3928-4508-9D0E-9D025B4B6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48125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CBD5E1"/>
                </a:solidFill>
              </a:defRPr>
            </a:pPr>
            <a:r>
              <a:rPr sz="938">
                <a:solidFill>
                  <a:srgbClr val="CBD5E1"/>
                </a:solidFill>
              </a:rPr>
              <a:t>브랜치 운영 원칙</a:t>
            </a:r>
          </a:p>
        </p:txBody>
      </p:sp>
      <p:sp>
        <p:nvSpPr>
          <p:cNvPr id="19" name="timeline-card-2">
            <a:extLst xmlns:a="http://schemas.openxmlformats.org/drawingml/2006/main">
              <a:ext uri="{FF2B5EF4-FFF2-40B4-BE49-F238E27FC236}">
                <a16:creationId xmlns:a16="http://schemas.microsoft.com/office/drawing/2014/main" id="{4F97EE22-2309-42A8-B3F8-6738964AF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209800"/>
            <a:ext cx="1581150" cy="23812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F3B55"/>
            </a:solidFill>
            <a:prstDash val="solid"/>
          </a:ln>
        </p:spPr>
      </p:sp>
      <p:sp>
        <p:nvSpPr>
          <p:cNvPr id="20" name="timeline-bar-2">
            <a:extLst xmlns:a="http://schemas.openxmlformats.org/drawingml/2006/main">
              <a:ext uri="{FF2B5EF4-FFF2-40B4-BE49-F238E27FC236}">
                <a16:creationId xmlns:a16="http://schemas.microsoft.com/office/drawing/2014/main" id="{E820D218-4686-4122-AEA2-F3E293FED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209800"/>
            <a:ext cx="15811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21" name="timeline-month-2">
            <a:extLst xmlns:a="http://schemas.openxmlformats.org/drawingml/2006/main">
              <a:ext uri="{FF2B5EF4-FFF2-40B4-BE49-F238E27FC236}">
                <a16:creationId xmlns:a16="http://schemas.microsoft.com/office/drawing/2014/main" id="{9FB21346-F3A4-412E-B2B3-15E871B90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4384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6B35"/>
                </a:solidFill>
              </a:defRPr>
            </a:pPr>
            <a:r>
              <a:rPr sz="1275" b="1">
                <a:solidFill>
                  <a:srgbClr val="FF6B35"/>
                </a:solidFill>
              </a:rPr>
              <a:t>D-5M</a:t>
            </a:r>
          </a:p>
        </p:txBody>
      </p:sp>
      <p:sp>
        <p:nvSpPr>
          <p:cNvPr id="22" name="timeline-title-2">
            <a:extLst xmlns:a="http://schemas.openxmlformats.org/drawingml/2006/main">
              <a:ext uri="{FF2B5EF4-FFF2-40B4-BE49-F238E27FC236}">
                <a16:creationId xmlns:a16="http://schemas.microsoft.com/office/drawing/2014/main" id="{B2B67B73-B55A-495C-BBBE-BCC8C804C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762250"/>
            <a:ext cx="1257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개발·현지화 반영</a:t>
            </a:r>
          </a:p>
        </p:txBody>
      </p:sp>
      <p:sp>
        <p:nvSpPr>
          <p:cNvPr id="23" name="timeline-dot-2-1">
            <a:extLst xmlns:a="http://schemas.openxmlformats.org/drawingml/2006/main">
              <a:ext uri="{FF2B5EF4-FFF2-40B4-BE49-F238E27FC236}">
                <a16:creationId xmlns:a16="http://schemas.microsoft.com/office/drawing/2014/main" id="{6A85C0EC-DA84-4B7B-982A-A945D5725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71850"/>
            <a:ext cx="114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·</a:t>
            </a:r>
          </a:p>
        </p:txBody>
      </p:sp>
      <p:sp>
        <p:nvSpPr>
          <p:cNvPr id="24" name="timeline-item-2-1">
            <a:extLst xmlns:a="http://schemas.openxmlformats.org/drawingml/2006/main">
              <a:ext uri="{FF2B5EF4-FFF2-40B4-BE49-F238E27FC236}">
                <a16:creationId xmlns:a16="http://schemas.microsoft.com/office/drawing/2014/main" id="{FC8A3625-D93E-4129-BD57-D3A7545AC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400425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CBD5E1"/>
                </a:solidFill>
              </a:defRPr>
            </a:pPr>
            <a:r>
              <a:rPr sz="938">
                <a:solidFill>
                  <a:srgbClr val="CBD5E1"/>
                </a:solidFill>
              </a:rPr>
              <a:t>번역 리소스 반영</a:t>
            </a:r>
          </a:p>
        </p:txBody>
      </p:sp>
      <p:sp>
        <p:nvSpPr>
          <p:cNvPr id="25" name="timeline-dot-2-2">
            <a:extLst xmlns:a="http://schemas.openxmlformats.org/drawingml/2006/main">
              <a:ext uri="{FF2B5EF4-FFF2-40B4-BE49-F238E27FC236}">
                <a16:creationId xmlns:a16="http://schemas.microsoft.com/office/drawing/2014/main" id="{59452A27-3BE3-4089-9AC5-454F603DE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95700"/>
            <a:ext cx="114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·</a:t>
            </a:r>
          </a:p>
        </p:txBody>
      </p:sp>
      <p:sp>
        <p:nvSpPr>
          <p:cNvPr id="26" name="timeline-item-2-2">
            <a:extLst xmlns:a="http://schemas.openxmlformats.org/drawingml/2006/main">
              <a:ext uri="{FF2B5EF4-FFF2-40B4-BE49-F238E27FC236}">
                <a16:creationId xmlns:a16="http://schemas.microsoft.com/office/drawing/2014/main" id="{E5AD71EE-31F5-4A89-8D87-04A15605D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24275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CBD5E1"/>
                </a:solidFill>
              </a:defRPr>
            </a:pPr>
            <a:r>
              <a:rPr sz="938">
                <a:solidFill>
                  <a:srgbClr val="CBD5E1"/>
                </a:solidFill>
              </a:rPr>
              <a:t>퍼블리셔 요청 정리</a:t>
            </a:r>
          </a:p>
        </p:txBody>
      </p:sp>
      <p:sp>
        <p:nvSpPr>
          <p:cNvPr id="27" name="timeline-dot-2-3">
            <a:extLst xmlns:a="http://schemas.openxmlformats.org/drawingml/2006/main">
              <a:ext uri="{FF2B5EF4-FFF2-40B4-BE49-F238E27FC236}">
                <a16:creationId xmlns:a16="http://schemas.microsoft.com/office/drawing/2014/main" id="{9D50C6EB-827E-4F24-9968-C09536342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019550"/>
            <a:ext cx="114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·</a:t>
            </a:r>
          </a:p>
        </p:txBody>
      </p:sp>
      <p:sp>
        <p:nvSpPr>
          <p:cNvPr id="28" name="timeline-item-2-3">
            <a:extLst xmlns:a="http://schemas.openxmlformats.org/drawingml/2006/main">
              <a:ext uri="{FF2B5EF4-FFF2-40B4-BE49-F238E27FC236}">
                <a16:creationId xmlns:a16="http://schemas.microsoft.com/office/drawing/2014/main" id="{635612BA-E62F-4F6D-8A26-121B133A3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048125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CBD5E1"/>
                </a:solidFill>
              </a:defRPr>
            </a:pPr>
            <a:r>
              <a:rPr sz="938">
                <a:solidFill>
                  <a:srgbClr val="CBD5E1"/>
                </a:solidFill>
              </a:rPr>
              <a:t>개발 마감 기준</a:t>
            </a:r>
          </a:p>
        </p:txBody>
      </p:sp>
      <p:sp>
        <p:nvSpPr>
          <p:cNvPr id="29" name="timeline-card-3">
            <a:extLst xmlns:a="http://schemas.openxmlformats.org/drawingml/2006/main">
              <a:ext uri="{FF2B5EF4-FFF2-40B4-BE49-F238E27FC236}">
                <a16:creationId xmlns:a16="http://schemas.microsoft.com/office/drawing/2014/main" id="{88D0633D-E493-4F5C-B735-25841431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209800"/>
            <a:ext cx="1581150" cy="23812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F3B55"/>
            </a:solidFill>
            <a:prstDash val="solid"/>
          </a:ln>
        </p:spPr>
      </p:sp>
      <p:sp>
        <p:nvSpPr>
          <p:cNvPr id="30" name="timeline-bar-3">
            <a:extLst xmlns:a="http://schemas.openxmlformats.org/drawingml/2006/main">
              <a:ext uri="{FF2B5EF4-FFF2-40B4-BE49-F238E27FC236}">
                <a16:creationId xmlns:a16="http://schemas.microsoft.com/office/drawing/2014/main" id="{129C74A0-731F-470B-BAE8-0EB73EEC4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209800"/>
            <a:ext cx="15811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31" name="timeline-month-3">
            <a:extLst xmlns:a="http://schemas.openxmlformats.org/drawingml/2006/main">
              <a:ext uri="{FF2B5EF4-FFF2-40B4-BE49-F238E27FC236}">
                <a16:creationId xmlns:a16="http://schemas.microsoft.com/office/drawing/2014/main" id="{58E70DDD-963E-49BE-B949-3F7981609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384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7C3AED"/>
                </a:solidFill>
              </a:defRPr>
            </a:pPr>
            <a:r>
              <a:rPr sz="1275" b="1">
                <a:solidFill>
                  <a:srgbClr val="7C3AED"/>
                </a:solidFill>
              </a:rPr>
              <a:t>D-4M</a:t>
            </a:r>
          </a:p>
        </p:txBody>
      </p:sp>
      <p:sp>
        <p:nvSpPr>
          <p:cNvPr id="32" name="timeline-title-3">
            <a:extLst xmlns:a="http://schemas.openxmlformats.org/drawingml/2006/main">
              <a:ext uri="{FF2B5EF4-FFF2-40B4-BE49-F238E27FC236}">
                <a16:creationId xmlns:a16="http://schemas.microsoft.com/office/drawing/2014/main" id="{9619AB87-FBC3-46C4-BDC7-B8591B840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62250"/>
            <a:ext cx="1257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QA 진입</a:t>
            </a:r>
          </a:p>
        </p:txBody>
      </p:sp>
      <p:sp>
        <p:nvSpPr>
          <p:cNvPr id="33" name="timeline-dot-3-1">
            <a:extLst xmlns:a="http://schemas.openxmlformats.org/drawingml/2006/main">
              <a:ext uri="{FF2B5EF4-FFF2-40B4-BE49-F238E27FC236}">
                <a16:creationId xmlns:a16="http://schemas.microsoft.com/office/drawing/2014/main" id="{FF3206E2-6380-4C33-AD39-8298507C0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71850"/>
            <a:ext cx="114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C3AED"/>
                </a:solidFill>
              </a:defRPr>
            </a:pPr>
            <a:r>
              <a:rPr sz="1350" b="1">
                <a:solidFill>
                  <a:srgbClr val="7C3AED"/>
                </a:solidFill>
              </a:rPr>
              <a:t>·</a:t>
            </a:r>
          </a:p>
        </p:txBody>
      </p:sp>
      <p:sp>
        <p:nvSpPr>
          <p:cNvPr id="34" name="timeline-item-3-1">
            <a:extLst xmlns:a="http://schemas.openxmlformats.org/drawingml/2006/main">
              <a:ext uri="{FF2B5EF4-FFF2-40B4-BE49-F238E27FC236}">
                <a16:creationId xmlns:a16="http://schemas.microsoft.com/office/drawing/2014/main" id="{766C3FED-DB4B-4FB3-BCE0-A62E9D7AD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400425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CBD5E1"/>
                </a:solidFill>
              </a:defRPr>
            </a:pPr>
            <a:r>
              <a:rPr sz="938">
                <a:solidFill>
                  <a:srgbClr val="CBD5E1"/>
                </a:solidFill>
              </a:rPr>
              <a:t>일본향 빌드 점검</a:t>
            </a:r>
          </a:p>
        </p:txBody>
      </p:sp>
      <p:sp>
        <p:nvSpPr>
          <p:cNvPr id="35" name="timeline-dot-3-2">
            <a:extLst xmlns:a="http://schemas.openxmlformats.org/drawingml/2006/main">
              <a:ext uri="{FF2B5EF4-FFF2-40B4-BE49-F238E27FC236}">
                <a16:creationId xmlns:a16="http://schemas.microsoft.com/office/drawing/2014/main" id="{2472EF4A-9A54-4ED4-8E7B-0CD06E14F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95700"/>
            <a:ext cx="114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C3AED"/>
                </a:solidFill>
              </a:defRPr>
            </a:pPr>
            <a:r>
              <a:rPr sz="1350" b="1">
                <a:solidFill>
                  <a:srgbClr val="7C3AED"/>
                </a:solidFill>
              </a:rPr>
              <a:t>·</a:t>
            </a:r>
          </a:p>
        </p:txBody>
      </p:sp>
      <p:sp>
        <p:nvSpPr>
          <p:cNvPr id="36" name="timeline-item-3-2">
            <a:extLst xmlns:a="http://schemas.openxmlformats.org/drawingml/2006/main">
              <a:ext uri="{FF2B5EF4-FFF2-40B4-BE49-F238E27FC236}">
                <a16:creationId xmlns:a16="http://schemas.microsoft.com/office/drawing/2014/main" id="{474A33EB-5457-4AE0-9C51-B2A68EC57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724275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CBD5E1"/>
                </a:solidFill>
              </a:defRPr>
            </a:pPr>
            <a:r>
              <a:rPr sz="938">
                <a:solidFill>
                  <a:srgbClr val="CBD5E1"/>
                </a:solidFill>
              </a:rPr>
              <a:t>이슈 등급 분류</a:t>
            </a:r>
          </a:p>
        </p:txBody>
      </p:sp>
      <p:sp>
        <p:nvSpPr>
          <p:cNvPr id="37" name="timeline-dot-3-3">
            <a:extLst xmlns:a="http://schemas.openxmlformats.org/drawingml/2006/main">
              <a:ext uri="{FF2B5EF4-FFF2-40B4-BE49-F238E27FC236}">
                <a16:creationId xmlns:a16="http://schemas.microsoft.com/office/drawing/2014/main" id="{98AD1116-5FF8-49F7-A147-E83401DE2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19550"/>
            <a:ext cx="114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C3AED"/>
                </a:solidFill>
              </a:defRPr>
            </a:pPr>
            <a:r>
              <a:rPr sz="1350" b="1">
                <a:solidFill>
                  <a:srgbClr val="7C3AED"/>
                </a:solidFill>
              </a:rPr>
              <a:t>·</a:t>
            </a:r>
          </a:p>
        </p:txBody>
      </p:sp>
      <p:sp>
        <p:nvSpPr>
          <p:cNvPr id="38" name="timeline-item-3-3">
            <a:extLst xmlns:a="http://schemas.openxmlformats.org/drawingml/2006/main">
              <a:ext uri="{FF2B5EF4-FFF2-40B4-BE49-F238E27FC236}">
                <a16:creationId xmlns:a16="http://schemas.microsoft.com/office/drawing/2014/main" id="{5E9646AC-D99E-4134-8702-5EDDA790F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48125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CBD5E1"/>
                </a:solidFill>
              </a:defRPr>
            </a:pPr>
            <a:r>
              <a:rPr sz="938">
                <a:solidFill>
                  <a:srgbClr val="CBD5E1"/>
                </a:solidFill>
              </a:rPr>
              <a:t>수정 우선순위</a:t>
            </a:r>
          </a:p>
        </p:txBody>
      </p:sp>
      <p:sp>
        <p:nvSpPr>
          <p:cNvPr id="39" name="timeline-card-4">
            <a:extLst xmlns:a="http://schemas.openxmlformats.org/drawingml/2006/main">
              <a:ext uri="{FF2B5EF4-FFF2-40B4-BE49-F238E27FC236}">
                <a16:creationId xmlns:a16="http://schemas.microsoft.com/office/drawing/2014/main" id="{2837ABDF-E83A-4373-9D9C-C5D46CC81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209800"/>
            <a:ext cx="1581150" cy="23812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F3B55"/>
            </a:solidFill>
            <a:prstDash val="solid"/>
          </a:ln>
        </p:spPr>
      </p:sp>
      <p:sp>
        <p:nvSpPr>
          <p:cNvPr id="40" name="timeline-bar-4">
            <a:extLst xmlns:a="http://schemas.openxmlformats.org/drawingml/2006/main">
              <a:ext uri="{FF2B5EF4-FFF2-40B4-BE49-F238E27FC236}">
                <a16:creationId xmlns:a16="http://schemas.microsoft.com/office/drawing/2014/main" id="{7B1AAC40-C8D4-4E17-93EB-3803BF276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209800"/>
            <a:ext cx="15811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D9E8"/>
          </a:solidFill>
          <a:ln xmlns:a="http://schemas.openxmlformats.org/drawingml/2006/main" w="0">
            <a:solidFill>
              <a:srgbClr val="8BD9E8"/>
            </a:solidFill>
            <a:prstDash val="solid"/>
          </a:ln>
        </p:spPr>
      </p:sp>
      <p:sp>
        <p:nvSpPr>
          <p:cNvPr id="41" name="timeline-month-4">
            <a:extLst xmlns:a="http://schemas.openxmlformats.org/drawingml/2006/main">
              <a:ext uri="{FF2B5EF4-FFF2-40B4-BE49-F238E27FC236}">
                <a16:creationId xmlns:a16="http://schemas.microsoft.com/office/drawing/2014/main" id="{2AB0AE2D-8111-42AC-AC53-B4EA370EB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384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8BD9E8"/>
                </a:solidFill>
              </a:defRPr>
            </a:pPr>
            <a:r>
              <a:rPr sz="1275" b="1">
                <a:solidFill>
                  <a:srgbClr val="8BD9E8"/>
                </a:solidFill>
              </a:rPr>
              <a:t>D-3M</a:t>
            </a:r>
          </a:p>
        </p:txBody>
      </p:sp>
      <p:sp>
        <p:nvSpPr>
          <p:cNvPr id="42" name="timeline-title-4">
            <a:extLst xmlns:a="http://schemas.openxmlformats.org/drawingml/2006/main">
              <a:ext uri="{FF2B5EF4-FFF2-40B4-BE49-F238E27FC236}">
                <a16:creationId xmlns:a16="http://schemas.microsoft.com/office/drawing/2014/main" id="{DB4E4A9B-ED1A-4B08-8FAF-FC20881B7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62250"/>
            <a:ext cx="1257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검수·CBT 준비</a:t>
            </a:r>
          </a:p>
        </p:txBody>
      </p:sp>
      <p:sp>
        <p:nvSpPr>
          <p:cNvPr id="43" name="timeline-dot-4-1">
            <a:extLst xmlns:a="http://schemas.openxmlformats.org/drawingml/2006/main">
              <a:ext uri="{FF2B5EF4-FFF2-40B4-BE49-F238E27FC236}">
                <a16:creationId xmlns:a16="http://schemas.microsoft.com/office/drawing/2014/main" id="{0E459CB0-351B-49B5-9801-CDE9552A1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71850"/>
            <a:ext cx="114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BD9E8"/>
                </a:solidFill>
              </a:defRPr>
            </a:pPr>
            <a:r>
              <a:rPr sz="1350" b="1">
                <a:solidFill>
                  <a:srgbClr val="8BD9E8"/>
                </a:solidFill>
              </a:rPr>
              <a:t>·</a:t>
            </a:r>
          </a:p>
        </p:txBody>
      </p:sp>
      <p:sp>
        <p:nvSpPr>
          <p:cNvPr id="44" name="timeline-item-4-1">
            <a:extLst xmlns:a="http://schemas.openxmlformats.org/drawingml/2006/main">
              <a:ext uri="{FF2B5EF4-FFF2-40B4-BE49-F238E27FC236}">
                <a16:creationId xmlns:a16="http://schemas.microsoft.com/office/drawing/2014/main" id="{B234954C-13E4-4F54-BDDC-EFE157412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00425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CBD5E1"/>
                </a:solidFill>
              </a:defRPr>
            </a:pPr>
            <a:r>
              <a:rPr sz="938">
                <a:solidFill>
                  <a:srgbClr val="CBD5E1"/>
                </a:solidFill>
              </a:rPr>
              <a:t>퍼블리셔 검수 대응</a:t>
            </a:r>
          </a:p>
        </p:txBody>
      </p:sp>
      <p:sp>
        <p:nvSpPr>
          <p:cNvPr id="45" name="timeline-dot-4-2">
            <a:extLst xmlns:a="http://schemas.openxmlformats.org/drawingml/2006/main">
              <a:ext uri="{FF2B5EF4-FFF2-40B4-BE49-F238E27FC236}">
                <a16:creationId xmlns:a16="http://schemas.microsoft.com/office/drawing/2014/main" id="{C8683D17-29C7-4FB8-A164-7C7FCE41F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95700"/>
            <a:ext cx="114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BD9E8"/>
                </a:solidFill>
              </a:defRPr>
            </a:pPr>
            <a:r>
              <a:rPr sz="1350" b="1">
                <a:solidFill>
                  <a:srgbClr val="8BD9E8"/>
                </a:solidFill>
              </a:rPr>
              <a:t>·</a:t>
            </a:r>
          </a:p>
        </p:txBody>
      </p:sp>
      <p:sp>
        <p:nvSpPr>
          <p:cNvPr id="46" name="timeline-item-4-2">
            <a:extLst xmlns:a="http://schemas.openxmlformats.org/drawingml/2006/main">
              <a:ext uri="{FF2B5EF4-FFF2-40B4-BE49-F238E27FC236}">
                <a16:creationId xmlns:a16="http://schemas.microsoft.com/office/drawing/2014/main" id="{562A1AA4-DC8C-46DD-BE40-E2453CFEB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24275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CBD5E1"/>
                </a:solidFill>
              </a:defRPr>
            </a:pPr>
            <a:r>
              <a:rPr sz="938">
                <a:solidFill>
                  <a:srgbClr val="CBD5E1"/>
                </a:solidFill>
              </a:rPr>
              <a:t>CBT 빌드 기준</a:t>
            </a:r>
          </a:p>
        </p:txBody>
      </p:sp>
      <p:sp>
        <p:nvSpPr>
          <p:cNvPr id="47" name="timeline-dot-4-3">
            <a:extLst xmlns:a="http://schemas.openxmlformats.org/drawingml/2006/main">
              <a:ext uri="{FF2B5EF4-FFF2-40B4-BE49-F238E27FC236}">
                <a16:creationId xmlns:a16="http://schemas.microsoft.com/office/drawing/2014/main" id="{07C3A789-ECE9-4258-A450-EFB2BCAB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19550"/>
            <a:ext cx="114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BD9E8"/>
                </a:solidFill>
              </a:defRPr>
            </a:pPr>
            <a:r>
              <a:rPr sz="1350" b="1">
                <a:solidFill>
                  <a:srgbClr val="8BD9E8"/>
                </a:solidFill>
              </a:rPr>
              <a:t>·</a:t>
            </a:r>
          </a:p>
        </p:txBody>
      </p:sp>
      <p:sp>
        <p:nvSpPr>
          <p:cNvPr id="48" name="timeline-item-4-3">
            <a:extLst xmlns:a="http://schemas.openxmlformats.org/drawingml/2006/main">
              <a:ext uri="{FF2B5EF4-FFF2-40B4-BE49-F238E27FC236}">
                <a16:creationId xmlns:a16="http://schemas.microsoft.com/office/drawing/2014/main" id="{DA0304E2-EDAE-4B74-8630-C77391C81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48125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CBD5E1"/>
                </a:solidFill>
              </a:defRPr>
            </a:pPr>
            <a:r>
              <a:rPr sz="938">
                <a:solidFill>
                  <a:srgbClr val="CBD5E1"/>
                </a:solidFill>
              </a:rPr>
              <a:t>운영 시나리오</a:t>
            </a:r>
          </a:p>
        </p:txBody>
      </p:sp>
      <p:sp>
        <p:nvSpPr>
          <p:cNvPr id="49" name="timeline-card-5">
            <a:extLst xmlns:a="http://schemas.openxmlformats.org/drawingml/2006/main">
              <a:ext uri="{FF2B5EF4-FFF2-40B4-BE49-F238E27FC236}">
                <a16:creationId xmlns:a16="http://schemas.microsoft.com/office/drawing/2014/main" id="{0E84A1C9-94BD-46BE-A9A3-6C0AB35F4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209800"/>
            <a:ext cx="1581150" cy="23812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F3B55"/>
            </a:solidFill>
            <a:prstDash val="solid"/>
          </a:ln>
        </p:spPr>
      </p:sp>
      <p:sp>
        <p:nvSpPr>
          <p:cNvPr id="50" name="timeline-bar-5">
            <a:extLst xmlns:a="http://schemas.openxmlformats.org/drawingml/2006/main">
              <a:ext uri="{FF2B5EF4-FFF2-40B4-BE49-F238E27FC236}">
                <a16:creationId xmlns:a16="http://schemas.microsoft.com/office/drawing/2014/main" id="{A32FE097-6DC0-4847-A898-ED38F2B41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209800"/>
            <a:ext cx="15811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51" name="timeline-month-5">
            <a:extLst xmlns:a="http://schemas.openxmlformats.org/drawingml/2006/main">
              <a:ext uri="{FF2B5EF4-FFF2-40B4-BE49-F238E27FC236}">
                <a16:creationId xmlns:a16="http://schemas.microsoft.com/office/drawing/2014/main" id="{2F5942A3-D61C-4732-8909-BFBDA83C3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384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6B35"/>
                </a:solidFill>
              </a:defRPr>
            </a:pPr>
            <a:r>
              <a:rPr sz="1275" b="1">
                <a:solidFill>
                  <a:srgbClr val="FF6B35"/>
                </a:solidFill>
              </a:rPr>
              <a:t>D-2M</a:t>
            </a:r>
          </a:p>
        </p:txBody>
      </p:sp>
      <p:sp>
        <p:nvSpPr>
          <p:cNvPr id="52" name="timeline-title-5">
            <a:extLst xmlns:a="http://schemas.openxmlformats.org/drawingml/2006/main">
              <a:ext uri="{FF2B5EF4-FFF2-40B4-BE49-F238E27FC236}">
                <a16:creationId xmlns:a16="http://schemas.microsoft.com/office/drawing/2014/main" id="{CE1960C5-9CFB-4029-9107-FC8BE3714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62250"/>
            <a:ext cx="1257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후보 빌드 안정화</a:t>
            </a:r>
          </a:p>
        </p:txBody>
      </p:sp>
      <p:sp>
        <p:nvSpPr>
          <p:cNvPr id="53" name="timeline-dot-5-1">
            <a:extLst xmlns:a="http://schemas.openxmlformats.org/drawingml/2006/main">
              <a:ext uri="{FF2B5EF4-FFF2-40B4-BE49-F238E27FC236}">
                <a16:creationId xmlns:a16="http://schemas.microsoft.com/office/drawing/2014/main" id="{E3783F20-49A8-4839-8A56-6E4609B46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71850"/>
            <a:ext cx="114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·</a:t>
            </a:r>
          </a:p>
        </p:txBody>
      </p:sp>
      <p:sp>
        <p:nvSpPr>
          <p:cNvPr id="54" name="timeline-item-5-1">
            <a:extLst xmlns:a="http://schemas.openxmlformats.org/drawingml/2006/main">
              <a:ext uri="{FF2B5EF4-FFF2-40B4-BE49-F238E27FC236}">
                <a16:creationId xmlns:a16="http://schemas.microsoft.com/office/drawing/2014/main" id="{7538284F-43E4-44CB-A08E-44802AC7C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00425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CBD5E1"/>
                </a:solidFill>
              </a:defRPr>
            </a:pPr>
            <a:r>
              <a:rPr sz="938">
                <a:solidFill>
                  <a:srgbClr val="CBD5E1"/>
                </a:solidFill>
              </a:rPr>
              <a:t>릴리즈 후보 관리</a:t>
            </a:r>
          </a:p>
        </p:txBody>
      </p:sp>
      <p:sp>
        <p:nvSpPr>
          <p:cNvPr id="55" name="timeline-dot-5-2">
            <a:extLst xmlns:a="http://schemas.openxmlformats.org/drawingml/2006/main">
              <a:ext uri="{FF2B5EF4-FFF2-40B4-BE49-F238E27FC236}">
                <a16:creationId xmlns:a16="http://schemas.microsoft.com/office/drawing/2014/main" id="{6C301AFF-0AE2-4EDF-8619-D771E0DD5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95700"/>
            <a:ext cx="114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·</a:t>
            </a:r>
          </a:p>
        </p:txBody>
      </p:sp>
      <p:sp>
        <p:nvSpPr>
          <p:cNvPr id="56" name="timeline-item-5-2">
            <a:extLst xmlns:a="http://schemas.openxmlformats.org/drawingml/2006/main">
              <a:ext uri="{FF2B5EF4-FFF2-40B4-BE49-F238E27FC236}">
                <a16:creationId xmlns:a16="http://schemas.microsoft.com/office/drawing/2014/main" id="{CC4F24CD-42EC-487C-A54B-4F5C46805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24275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CBD5E1"/>
                </a:solidFill>
              </a:defRPr>
            </a:pPr>
            <a:r>
              <a:rPr sz="938">
                <a:solidFill>
                  <a:srgbClr val="CBD5E1"/>
                </a:solidFill>
              </a:rPr>
              <a:t>잔여 이슈 추적</a:t>
            </a:r>
          </a:p>
        </p:txBody>
      </p:sp>
      <p:sp>
        <p:nvSpPr>
          <p:cNvPr id="57" name="timeline-dot-5-3">
            <a:extLst xmlns:a="http://schemas.openxmlformats.org/drawingml/2006/main">
              <a:ext uri="{FF2B5EF4-FFF2-40B4-BE49-F238E27FC236}">
                <a16:creationId xmlns:a16="http://schemas.microsoft.com/office/drawing/2014/main" id="{B93E89BE-D4EB-40AB-B0BF-B4D4F764D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19550"/>
            <a:ext cx="114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·</a:t>
            </a:r>
          </a:p>
        </p:txBody>
      </p:sp>
      <p:sp>
        <p:nvSpPr>
          <p:cNvPr id="58" name="timeline-item-5-3">
            <a:extLst xmlns:a="http://schemas.openxmlformats.org/drawingml/2006/main">
              <a:ext uri="{FF2B5EF4-FFF2-40B4-BE49-F238E27FC236}">
                <a16:creationId xmlns:a16="http://schemas.microsoft.com/office/drawing/2014/main" id="{3B04F55E-784D-4556-AB48-12AD863B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048125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CBD5E1"/>
                </a:solidFill>
              </a:defRPr>
            </a:pPr>
            <a:r>
              <a:rPr sz="938">
                <a:solidFill>
                  <a:srgbClr val="CBD5E1"/>
                </a:solidFill>
              </a:rPr>
              <a:t>심의·스토어 체크</a:t>
            </a:r>
          </a:p>
        </p:txBody>
      </p:sp>
      <p:sp>
        <p:nvSpPr>
          <p:cNvPr id="59" name="timeline-card-6">
            <a:extLst xmlns:a="http://schemas.openxmlformats.org/drawingml/2006/main">
              <a:ext uri="{FF2B5EF4-FFF2-40B4-BE49-F238E27FC236}">
                <a16:creationId xmlns:a16="http://schemas.microsoft.com/office/drawing/2014/main" id="{E1044EE8-00BD-4D10-8544-D0F0A800A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209800"/>
            <a:ext cx="1581150" cy="23812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F3B55"/>
            </a:solidFill>
            <a:prstDash val="solid"/>
          </a:ln>
        </p:spPr>
      </p:sp>
      <p:sp>
        <p:nvSpPr>
          <p:cNvPr id="60" name="timeline-bar-6">
            <a:extLst xmlns:a="http://schemas.openxmlformats.org/drawingml/2006/main">
              <a:ext uri="{FF2B5EF4-FFF2-40B4-BE49-F238E27FC236}">
                <a16:creationId xmlns:a16="http://schemas.microsoft.com/office/drawing/2014/main" id="{37481FE2-B7A6-49DD-98AF-D62AC2F35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209800"/>
            <a:ext cx="15811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61" name="timeline-month-6">
            <a:extLst xmlns:a="http://schemas.openxmlformats.org/drawingml/2006/main">
              <a:ext uri="{FF2B5EF4-FFF2-40B4-BE49-F238E27FC236}">
                <a16:creationId xmlns:a16="http://schemas.microsoft.com/office/drawing/2014/main" id="{1E951D0B-58C9-4187-A0C0-2B74FE300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4384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7C3AED"/>
                </a:solidFill>
              </a:defRPr>
            </a:pPr>
            <a:r>
              <a:rPr sz="1275" b="1">
                <a:solidFill>
                  <a:srgbClr val="7C3AED"/>
                </a:solidFill>
              </a:rPr>
              <a:t>D-1M</a:t>
            </a:r>
          </a:p>
        </p:txBody>
      </p:sp>
      <p:sp>
        <p:nvSpPr>
          <p:cNvPr id="62" name="timeline-title-6">
            <a:extLst xmlns:a="http://schemas.openxmlformats.org/drawingml/2006/main">
              <a:ext uri="{FF2B5EF4-FFF2-40B4-BE49-F238E27FC236}">
                <a16:creationId xmlns:a16="http://schemas.microsoft.com/office/drawing/2014/main" id="{83AC6351-33BB-4670-8DFC-0BA479003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62250"/>
            <a:ext cx="1257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Live 릴리즈 준비</a:t>
            </a:r>
          </a:p>
        </p:txBody>
      </p:sp>
      <p:sp>
        <p:nvSpPr>
          <p:cNvPr id="63" name="timeline-dot-6-1">
            <a:extLst xmlns:a="http://schemas.openxmlformats.org/drawingml/2006/main">
              <a:ext uri="{FF2B5EF4-FFF2-40B4-BE49-F238E27FC236}">
                <a16:creationId xmlns:a16="http://schemas.microsoft.com/office/drawing/2014/main" id="{3A5187EB-BED7-4AB1-B5A4-DCC62B695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371850"/>
            <a:ext cx="114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C3AED"/>
                </a:solidFill>
              </a:defRPr>
            </a:pPr>
            <a:r>
              <a:rPr sz="1350" b="1">
                <a:solidFill>
                  <a:srgbClr val="7C3AED"/>
                </a:solidFill>
              </a:rPr>
              <a:t>·</a:t>
            </a:r>
          </a:p>
        </p:txBody>
      </p:sp>
      <p:sp>
        <p:nvSpPr>
          <p:cNvPr id="64" name="timeline-item-6-1">
            <a:extLst xmlns:a="http://schemas.openxmlformats.org/drawingml/2006/main">
              <a:ext uri="{FF2B5EF4-FFF2-40B4-BE49-F238E27FC236}">
                <a16:creationId xmlns:a16="http://schemas.microsoft.com/office/drawing/2014/main" id="{1C1654EC-7832-49EC-A91B-04B44C74F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400425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CBD5E1"/>
                </a:solidFill>
              </a:defRPr>
            </a:pPr>
            <a:r>
              <a:rPr sz="938">
                <a:solidFill>
                  <a:srgbClr val="CBD5E1"/>
                </a:solidFill>
              </a:rPr>
              <a:t>배포 리허설</a:t>
            </a:r>
          </a:p>
        </p:txBody>
      </p:sp>
      <p:sp>
        <p:nvSpPr>
          <p:cNvPr id="65" name="timeline-dot-6-2">
            <a:extLst xmlns:a="http://schemas.openxmlformats.org/drawingml/2006/main">
              <a:ext uri="{FF2B5EF4-FFF2-40B4-BE49-F238E27FC236}">
                <a16:creationId xmlns:a16="http://schemas.microsoft.com/office/drawing/2014/main" id="{786AE07F-CCB9-403C-8BD9-DCC1B5A98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695700"/>
            <a:ext cx="114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C3AED"/>
                </a:solidFill>
              </a:defRPr>
            </a:pPr>
            <a:r>
              <a:rPr sz="1350" b="1">
                <a:solidFill>
                  <a:srgbClr val="7C3AED"/>
                </a:solidFill>
              </a:rPr>
              <a:t>·</a:t>
            </a:r>
          </a:p>
        </p:txBody>
      </p:sp>
      <p:sp>
        <p:nvSpPr>
          <p:cNvPr id="66" name="timeline-item-6-2">
            <a:extLst xmlns:a="http://schemas.openxmlformats.org/drawingml/2006/main">
              <a:ext uri="{FF2B5EF4-FFF2-40B4-BE49-F238E27FC236}">
                <a16:creationId xmlns:a16="http://schemas.microsoft.com/office/drawing/2014/main" id="{0405E25A-DD0A-4F8D-9F53-E15DFB1B3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724275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CBD5E1"/>
                </a:solidFill>
              </a:defRPr>
            </a:pPr>
            <a:r>
              <a:rPr sz="938">
                <a:solidFill>
                  <a:srgbClr val="CBD5E1"/>
                </a:solidFill>
              </a:rPr>
              <a:t>장애 대응 플랜</a:t>
            </a:r>
          </a:p>
        </p:txBody>
      </p:sp>
      <p:sp>
        <p:nvSpPr>
          <p:cNvPr id="67" name="timeline-dot-6-3">
            <a:extLst xmlns:a="http://schemas.openxmlformats.org/drawingml/2006/main">
              <a:ext uri="{FF2B5EF4-FFF2-40B4-BE49-F238E27FC236}">
                <a16:creationId xmlns:a16="http://schemas.microsoft.com/office/drawing/2014/main" id="{ED21E156-9534-429A-B2DC-A47D925C5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019550"/>
            <a:ext cx="114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C3AED"/>
                </a:solidFill>
              </a:defRPr>
            </a:pPr>
            <a:r>
              <a:rPr sz="1350" b="1">
                <a:solidFill>
                  <a:srgbClr val="7C3AED"/>
                </a:solidFill>
              </a:rPr>
              <a:t>·</a:t>
            </a:r>
          </a:p>
        </p:txBody>
      </p:sp>
      <p:sp>
        <p:nvSpPr>
          <p:cNvPr id="68" name="timeline-item-6-3">
            <a:extLst xmlns:a="http://schemas.openxmlformats.org/drawingml/2006/main">
              <a:ext uri="{FF2B5EF4-FFF2-40B4-BE49-F238E27FC236}">
                <a16:creationId xmlns:a16="http://schemas.microsoft.com/office/drawing/2014/main" id="{86F6EEC1-EEDE-4E6F-8778-CBAD78A07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048125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CBD5E1"/>
                </a:solidFill>
              </a:defRPr>
            </a:pPr>
            <a:r>
              <a:rPr sz="938">
                <a:solidFill>
                  <a:srgbClr val="CBD5E1"/>
                </a:solidFill>
              </a:rPr>
              <a:t>런칭 당일 체계</a:t>
            </a:r>
          </a:p>
        </p:txBody>
      </p:sp>
      <p:sp>
        <p:nvSpPr>
          <p:cNvPr id="69" name="management-title">
            <a:extLst xmlns:a="http://schemas.openxmlformats.org/drawingml/2006/main">
              <a:ext uri="{FF2B5EF4-FFF2-40B4-BE49-F238E27FC236}">
                <a16:creationId xmlns:a16="http://schemas.microsoft.com/office/drawing/2014/main" id="{13BDE2D4-63D5-49FC-B091-CCE6C4505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96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PM 관리 포인트</a:t>
            </a:r>
          </a:p>
        </p:txBody>
      </p:sp>
      <p:sp>
        <p:nvSpPr>
          <p:cNvPr id="70" name="management-note">
            <a:extLst xmlns:a="http://schemas.openxmlformats.org/drawingml/2006/main">
              <a:ext uri="{FF2B5EF4-FFF2-40B4-BE49-F238E27FC236}">
                <a16:creationId xmlns:a16="http://schemas.microsoft.com/office/drawing/2014/main" id="{C2B6ECB1-B257-4BCE-A5DB-06F305300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867275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마일스톤별 완료 기준을 두고, 빌드·버전·QA·퍼블리셔 대응을 함께 추적합니다.</a:t>
            </a:r>
          </a:p>
        </p:txBody>
      </p:sp>
      <p:sp>
        <p:nvSpPr>
          <p:cNvPr id="71" name="mgmt-card-1">
            <a:extLst xmlns:a="http://schemas.openxmlformats.org/drawingml/2006/main">
              <a:ext uri="{FF2B5EF4-FFF2-40B4-BE49-F238E27FC236}">
                <a16:creationId xmlns:a16="http://schemas.microsoft.com/office/drawing/2014/main" id="{7D5318CC-4E0B-462B-9190-3BEA38DF3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00650"/>
            <a:ext cx="2476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51F34"/>
          </a:solidFill>
          <a:ln xmlns:a="http://schemas.openxmlformats.org/drawingml/2006/main" w="9525">
            <a:solidFill>
              <a:srgbClr val="2F3B55"/>
            </a:solidFill>
            <a:prstDash val="solid"/>
          </a:ln>
        </p:spPr>
      </p:sp>
      <p:sp>
        <p:nvSpPr>
          <p:cNvPr id="72" name="mgmt-bar-1">
            <a:extLst xmlns:a="http://schemas.openxmlformats.org/drawingml/2006/main">
              <a:ext uri="{FF2B5EF4-FFF2-40B4-BE49-F238E27FC236}">
                <a16:creationId xmlns:a16="http://schemas.microsoft.com/office/drawing/2014/main" id="{63A63332-0B50-4FDE-B821-2671829D7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00650"/>
            <a:ext cx="2476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0">
            <a:solidFill>
              <a:srgbClr val="00B8D9"/>
            </a:solidFill>
            <a:prstDash val="solid"/>
          </a:ln>
        </p:spPr>
      </p:sp>
      <p:sp>
        <p:nvSpPr>
          <p:cNvPr id="73" name="mgmt-label-1">
            <a:extLst xmlns:a="http://schemas.openxmlformats.org/drawingml/2006/main">
              <a:ext uri="{FF2B5EF4-FFF2-40B4-BE49-F238E27FC236}">
                <a16:creationId xmlns:a16="http://schemas.microsoft.com/office/drawing/2014/main" id="{8DBDC134-34B6-4D51-AB77-35C8A5A32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911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마일스톤</a:t>
            </a:r>
          </a:p>
        </p:txBody>
      </p:sp>
      <p:sp>
        <p:nvSpPr>
          <p:cNvPr id="74" name="mgmt-body-1">
            <a:extLst xmlns:a="http://schemas.openxmlformats.org/drawingml/2006/main">
              <a:ext uri="{FF2B5EF4-FFF2-40B4-BE49-F238E27FC236}">
                <a16:creationId xmlns:a16="http://schemas.microsoft.com/office/drawing/2014/main" id="{ABD32344-090E-49C0-8B07-BEE7B4783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578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CBD5E1"/>
                </a:solidFill>
              </a:defRPr>
            </a:pPr>
            <a:r>
              <a:rPr sz="975">
                <a:solidFill>
                  <a:srgbClr val="CBD5E1"/>
                </a:solidFill>
              </a:rPr>
              <a:t>일정·범위 통제 기준 관리</a:t>
            </a:r>
          </a:p>
        </p:txBody>
      </p:sp>
      <p:sp>
        <p:nvSpPr>
          <p:cNvPr id="75" name="mgmt-card-2">
            <a:extLst xmlns:a="http://schemas.openxmlformats.org/drawingml/2006/main">
              <a:ext uri="{FF2B5EF4-FFF2-40B4-BE49-F238E27FC236}">
                <a16:creationId xmlns:a16="http://schemas.microsoft.com/office/drawing/2014/main" id="{725417DA-AA26-4E0E-A92F-E8ECE17B2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200650"/>
            <a:ext cx="2476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51F34"/>
          </a:solidFill>
          <a:ln xmlns:a="http://schemas.openxmlformats.org/drawingml/2006/main" w="9525">
            <a:solidFill>
              <a:srgbClr val="2F3B55"/>
            </a:solidFill>
            <a:prstDash val="solid"/>
          </a:ln>
        </p:spPr>
      </p:sp>
      <p:sp>
        <p:nvSpPr>
          <p:cNvPr id="76" name="mgmt-bar-2">
            <a:extLst xmlns:a="http://schemas.openxmlformats.org/drawingml/2006/main">
              <a:ext uri="{FF2B5EF4-FFF2-40B4-BE49-F238E27FC236}">
                <a16:creationId xmlns:a16="http://schemas.microsoft.com/office/drawing/2014/main" id="{A83136FC-189F-4A72-97CD-BEE985BF4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200650"/>
            <a:ext cx="2476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77" name="mgmt-label-2">
            <a:extLst xmlns:a="http://schemas.openxmlformats.org/drawingml/2006/main">
              <a:ext uri="{FF2B5EF4-FFF2-40B4-BE49-F238E27FC236}">
                <a16:creationId xmlns:a16="http://schemas.microsoft.com/office/drawing/2014/main" id="{4F4DF249-8755-4DF2-845E-362D75FC1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3911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빌드·버전</a:t>
            </a:r>
          </a:p>
        </p:txBody>
      </p:sp>
      <p:sp>
        <p:nvSpPr>
          <p:cNvPr id="78" name="mgmt-body-2">
            <a:extLst xmlns:a="http://schemas.openxmlformats.org/drawingml/2006/main">
              <a:ext uri="{FF2B5EF4-FFF2-40B4-BE49-F238E27FC236}">
                <a16:creationId xmlns:a16="http://schemas.microsoft.com/office/drawing/2014/main" id="{AC6E90F0-6527-4973-93D3-6DDC76904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6578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CBD5E1"/>
                </a:solidFill>
              </a:defRPr>
            </a:pPr>
            <a:r>
              <a:rPr sz="975">
                <a:solidFill>
                  <a:srgbClr val="CBD5E1"/>
                </a:solidFill>
              </a:rPr>
              <a:t>Perforce 기반 릴리즈 관리</a:t>
            </a:r>
          </a:p>
        </p:txBody>
      </p:sp>
      <p:sp>
        <p:nvSpPr>
          <p:cNvPr id="79" name="mgmt-card-3">
            <a:extLst xmlns:a="http://schemas.openxmlformats.org/drawingml/2006/main">
              <a:ext uri="{FF2B5EF4-FFF2-40B4-BE49-F238E27FC236}">
                <a16:creationId xmlns:a16="http://schemas.microsoft.com/office/drawing/2014/main" id="{53EF7DD4-9853-4A93-A1FF-D8B0717DE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200650"/>
            <a:ext cx="2476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51F34"/>
          </a:solidFill>
          <a:ln xmlns:a="http://schemas.openxmlformats.org/drawingml/2006/main" w="9525">
            <a:solidFill>
              <a:srgbClr val="2F3B55"/>
            </a:solidFill>
            <a:prstDash val="solid"/>
          </a:ln>
        </p:spPr>
      </p:sp>
      <p:sp>
        <p:nvSpPr>
          <p:cNvPr id="80" name="mgmt-bar-3">
            <a:extLst xmlns:a="http://schemas.openxmlformats.org/drawingml/2006/main">
              <a:ext uri="{FF2B5EF4-FFF2-40B4-BE49-F238E27FC236}">
                <a16:creationId xmlns:a16="http://schemas.microsoft.com/office/drawing/2014/main" id="{4EDC733E-7981-4A18-8A2B-8B23AA286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200650"/>
            <a:ext cx="2476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81" name="mgmt-label-3">
            <a:extLst xmlns:a="http://schemas.openxmlformats.org/drawingml/2006/main">
              <a:ext uri="{FF2B5EF4-FFF2-40B4-BE49-F238E27FC236}">
                <a16:creationId xmlns:a16="http://schemas.microsoft.com/office/drawing/2014/main" id="{84008BF1-CCE8-4C99-BEF7-622BA4DE9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3911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QA</a:t>
            </a:r>
          </a:p>
        </p:txBody>
      </p:sp>
      <p:sp>
        <p:nvSpPr>
          <p:cNvPr id="82" name="mgmt-body-3">
            <a:extLst xmlns:a="http://schemas.openxmlformats.org/drawingml/2006/main">
              <a:ext uri="{FF2B5EF4-FFF2-40B4-BE49-F238E27FC236}">
                <a16:creationId xmlns:a16="http://schemas.microsoft.com/office/drawing/2014/main" id="{C2D117AA-DB63-43E0-A6E3-391148ED4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6578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CBD5E1"/>
                </a:solidFill>
              </a:defRPr>
            </a:pPr>
            <a:r>
              <a:rPr sz="975">
                <a:solidFill>
                  <a:srgbClr val="CBD5E1"/>
                </a:solidFill>
              </a:rPr>
              <a:t>이슈 대응과 수정 반영 추적</a:t>
            </a:r>
          </a:p>
        </p:txBody>
      </p:sp>
      <p:sp>
        <p:nvSpPr>
          <p:cNvPr id="83" name="mgmt-card-4">
            <a:extLst xmlns:a="http://schemas.openxmlformats.org/drawingml/2006/main">
              <a:ext uri="{FF2B5EF4-FFF2-40B4-BE49-F238E27FC236}">
                <a16:creationId xmlns:a16="http://schemas.microsoft.com/office/drawing/2014/main" id="{6BE774E0-5A41-475A-AB03-5BA2AAE5E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200650"/>
            <a:ext cx="2476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51F34"/>
          </a:solidFill>
          <a:ln xmlns:a="http://schemas.openxmlformats.org/drawingml/2006/main" w="9525">
            <a:solidFill>
              <a:srgbClr val="2F3B55"/>
            </a:solidFill>
            <a:prstDash val="solid"/>
          </a:ln>
        </p:spPr>
      </p:sp>
      <p:sp>
        <p:nvSpPr>
          <p:cNvPr id="84" name="mgmt-bar-4">
            <a:extLst xmlns:a="http://schemas.openxmlformats.org/drawingml/2006/main">
              <a:ext uri="{FF2B5EF4-FFF2-40B4-BE49-F238E27FC236}">
                <a16:creationId xmlns:a16="http://schemas.microsoft.com/office/drawing/2014/main" id="{3ADF5BDC-E152-43AB-85DA-226F0CC4B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200650"/>
            <a:ext cx="2476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D9E8"/>
          </a:solidFill>
          <a:ln xmlns:a="http://schemas.openxmlformats.org/drawingml/2006/main" w="0">
            <a:solidFill>
              <a:srgbClr val="8BD9E8"/>
            </a:solidFill>
            <a:prstDash val="solid"/>
          </a:ln>
        </p:spPr>
      </p:sp>
      <p:sp>
        <p:nvSpPr>
          <p:cNvPr id="85" name="mgmt-label-4">
            <a:extLst xmlns:a="http://schemas.openxmlformats.org/drawingml/2006/main">
              <a:ext uri="{FF2B5EF4-FFF2-40B4-BE49-F238E27FC236}">
                <a16:creationId xmlns:a16="http://schemas.microsoft.com/office/drawing/2014/main" id="{5B06F7FB-DBEE-4E23-A6EE-40378932C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3911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퍼블리셔 대응</a:t>
            </a:r>
          </a:p>
        </p:txBody>
      </p:sp>
      <p:sp>
        <p:nvSpPr>
          <p:cNvPr id="86" name="mgmt-body-4">
            <a:extLst xmlns:a="http://schemas.openxmlformats.org/drawingml/2006/main">
              <a:ext uri="{FF2B5EF4-FFF2-40B4-BE49-F238E27FC236}">
                <a16:creationId xmlns:a16="http://schemas.microsoft.com/office/drawing/2014/main" id="{E970A9B4-FEDE-4AE6-8689-8C472030E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6578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CBD5E1"/>
                </a:solidFill>
              </a:defRPr>
            </a:pPr>
            <a:r>
              <a:rPr sz="975">
                <a:solidFill>
                  <a:srgbClr val="CBD5E1"/>
                </a:solidFill>
              </a:rPr>
              <a:t>협업 이슈와 의사결정 정리</a:t>
            </a:r>
          </a:p>
        </p:txBody>
      </p:sp>
    </p:spTree>
    <p:extLst>
      <p:ext uri="{BB962C8B-B14F-4D97-AF65-F5344CB8AC3E}">
        <p14:creationId xmlns:p14="http://schemas.microsoft.com/office/powerpoint/2010/main" val="15553705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accent">
            <a:extLst xmlns:a="http://schemas.openxmlformats.org/drawingml/2006/main">
              <a:ext uri="{FF2B5EF4-FFF2-40B4-BE49-F238E27FC236}">
                <a16:creationId xmlns:a16="http://schemas.microsoft.com/office/drawing/2014/main" id="{CB24658F-C70B-44A8-9E02-BD77665E1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0">
            <a:solidFill>
              <a:srgbClr val="00B8D9"/>
            </a:solidFill>
            <a:prstDash val="solid"/>
          </a:ln>
        </p:spPr>
      </p:sp>
      <p:sp>
        <p:nvSpPr>
          <p:cNvPr id="2" name="left-accent">
            <a:extLst xmlns:a="http://schemas.openxmlformats.org/drawingml/2006/main">
              <a:ext uri="{FF2B5EF4-FFF2-40B4-BE49-F238E27FC236}">
                <a16:creationId xmlns:a16="http://schemas.microsoft.com/office/drawing/2014/main" id="{3F9C8118-88AD-4D84-BF8E-5A9F3BA3D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37F9D1F7-C1AF-4B2D-844C-ECD95D7A4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8BD9E8"/>
                </a:solidFill>
              </a:defRPr>
            </a:pPr>
            <a:r>
              <a:rPr sz="1125" b="1">
                <a:solidFill>
                  <a:srgbClr val="8BD9E8"/>
                </a:solidFill>
              </a:rPr>
              <a:t>LAUNCH GATE CRITERIA | PAGE 03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2BA45D33-C0EC-4B60-BB1B-6E22BC659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94A3B8"/>
                </a:solidFill>
              </a:defRPr>
            </a:pPr>
            <a:r>
              <a:rPr sz="1125">
                <a:solidFill>
                  <a:srgbClr val="94A3B8"/>
                </a:solidFill>
              </a:rPr>
              <a:t>HIT2 일본 서비스 런칭 6개월 전 로드맵</a:t>
            </a:r>
          </a:p>
        </p:txBody>
      </p:sp>
      <p:sp>
        <p:nvSpPr>
          <p:cNvPr id="5" name="page-no">
            <a:extLst xmlns:a="http://schemas.openxmlformats.org/drawingml/2006/main">
              <a:ext uri="{FF2B5EF4-FFF2-40B4-BE49-F238E27FC236}">
                <a16:creationId xmlns:a16="http://schemas.microsoft.com/office/drawing/2014/main" id="{7C9EE60D-91D0-4918-8C10-6F763C5BE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94A3B8"/>
                </a:solidFill>
              </a:defRPr>
            </a:pPr>
            <a:r>
              <a:rPr sz="1200" b="1">
                <a:solidFill>
                  <a:srgbClr val="94A3B8"/>
                </a:solidFill>
              </a:rPr>
              <a:t>03</a:t>
            </a:r>
          </a:p>
        </p:txBody>
      </p:sp>
      <p:sp>
        <p:nvSpPr>
          <p:cNvPr id="6" name="title-03">
            <a:extLst xmlns:a="http://schemas.openxmlformats.org/drawingml/2006/main">
              <a:ext uri="{FF2B5EF4-FFF2-40B4-BE49-F238E27FC236}">
                <a16:creationId xmlns:a16="http://schemas.microsoft.com/office/drawing/2014/main" id="{C92B21C0-88A5-4DD1-8407-54CE4D60F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마일스톤은 일정이 아니라 통과 기준으로 관리합니다</a:t>
            </a:r>
          </a:p>
        </p:txBody>
      </p:sp>
      <p:sp>
        <p:nvSpPr>
          <p:cNvPr id="7" name="subtitle-03">
            <a:extLst xmlns:a="http://schemas.openxmlformats.org/drawingml/2006/main">
              <a:ext uri="{FF2B5EF4-FFF2-40B4-BE49-F238E27FC236}">
                <a16:creationId xmlns:a16="http://schemas.microsoft.com/office/drawing/2014/main" id="{17E9BE4E-6F1D-4C6B-98C2-F34E6B968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CBD5E1"/>
                </a:solidFill>
              </a:defRPr>
            </a:pPr>
            <a:r>
              <a:rPr sz="1275">
                <a:solidFill>
                  <a:srgbClr val="CBD5E1"/>
                </a:solidFill>
              </a:rPr>
              <a:t>월별 일정표만으로는 리스크가 숨기 쉽기 때문에, 범위·빌드·버전·QA·퍼블리셔 기준을 함께 판정합니다.</a:t>
            </a:r>
          </a:p>
        </p:txBody>
      </p:sp>
      <p:sp>
        <p:nvSpPr>
          <p:cNvPr id="8" name="gate-section-title">
            <a:extLst xmlns:a="http://schemas.openxmlformats.org/drawingml/2006/main">
              <a:ext uri="{FF2B5EF4-FFF2-40B4-BE49-F238E27FC236}">
                <a16:creationId xmlns:a16="http://schemas.microsoft.com/office/drawing/2014/main" id="{89EEDE1B-C597-4A2C-A0D0-436DBA6B7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핵심 게이트</a:t>
            </a:r>
          </a:p>
        </p:txBody>
      </p:sp>
      <p:sp>
        <p:nvSpPr>
          <p:cNvPr id="9" name="gate-card-1">
            <a:extLst xmlns:a="http://schemas.openxmlformats.org/drawingml/2006/main">
              <a:ext uri="{FF2B5EF4-FFF2-40B4-BE49-F238E27FC236}">
                <a16:creationId xmlns:a16="http://schemas.microsoft.com/office/drawing/2014/main" id="{C4639DF8-DC5D-443A-A686-52D13A8EF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37147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F3B55"/>
            </a:solidFill>
            <a:prstDash val="solid"/>
          </a:ln>
        </p:spPr>
      </p:sp>
      <p:sp>
        <p:nvSpPr>
          <p:cNvPr id="10" name="gate-bar-1">
            <a:extLst xmlns:a="http://schemas.openxmlformats.org/drawingml/2006/main">
              <a:ext uri="{FF2B5EF4-FFF2-40B4-BE49-F238E27FC236}">
                <a16:creationId xmlns:a16="http://schemas.microsoft.com/office/drawing/2014/main" id="{99E52605-60D1-4AF5-8E47-731E6629A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6667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0">
            <a:solidFill>
              <a:srgbClr val="00B8D9"/>
            </a:solidFill>
            <a:prstDash val="solid"/>
          </a:ln>
        </p:spPr>
      </p:sp>
      <p:sp>
        <p:nvSpPr>
          <p:cNvPr id="11" name="gate-phase-1">
            <a:extLst xmlns:a="http://schemas.openxmlformats.org/drawingml/2006/main">
              <a:ext uri="{FF2B5EF4-FFF2-40B4-BE49-F238E27FC236}">
                <a16:creationId xmlns:a16="http://schemas.microsoft.com/office/drawing/2014/main" id="{75E3F072-2541-4A87-ADF2-FB4AB0BD9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479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B8D9"/>
                </a:solidFill>
              </a:defRPr>
            </a:pPr>
            <a:r>
              <a:rPr sz="1200" b="1">
                <a:solidFill>
                  <a:srgbClr val="00B8D9"/>
                </a:solidFill>
              </a:rPr>
              <a:t>Gate 1</a:t>
            </a:r>
          </a:p>
        </p:txBody>
      </p:sp>
      <p:sp>
        <p:nvSpPr>
          <p:cNvPr id="12" name="gate-title-1">
            <a:extLst xmlns:a="http://schemas.openxmlformats.org/drawingml/2006/main">
              <a:ext uri="{FF2B5EF4-FFF2-40B4-BE49-F238E27FC236}">
                <a16:creationId xmlns:a16="http://schemas.microsoft.com/office/drawing/2014/main" id="{F8873DC4-0D8D-4F7A-A3C4-31ECB47F4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3837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범위 고정</a:t>
            </a:r>
          </a:p>
        </p:txBody>
      </p:sp>
      <p:sp>
        <p:nvSpPr>
          <p:cNvPr id="13" name="gate-body-1">
            <a:extLst xmlns:a="http://schemas.openxmlformats.org/drawingml/2006/main">
              <a:ext uri="{FF2B5EF4-FFF2-40B4-BE49-F238E27FC236}">
                <a16:creationId xmlns:a16="http://schemas.microsoft.com/office/drawing/2014/main" id="{EE403EFC-91CC-416A-AD4F-024E16ED9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90800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CBD5E1"/>
                </a:solidFill>
              </a:defRPr>
            </a:pPr>
            <a:r>
              <a:rPr sz="1050">
                <a:solidFill>
                  <a:srgbClr val="CBD5E1"/>
                </a:solidFill>
              </a:rPr>
              <a:t>일본 서비스 범위와 마일스톤 기준을 확정하고, 변경 요청은 영향도 검토 후 반영합니다.</a:t>
            </a:r>
          </a:p>
        </p:txBody>
      </p:sp>
      <p:sp>
        <p:nvSpPr>
          <p:cNvPr id="14" name="gate-card-2">
            <a:extLst xmlns:a="http://schemas.openxmlformats.org/drawingml/2006/main">
              <a:ext uri="{FF2B5EF4-FFF2-40B4-BE49-F238E27FC236}">
                <a16:creationId xmlns:a16="http://schemas.microsoft.com/office/drawing/2014/main" id="{01B8BEF5-376A-4B1C-B6DD-6CC54757C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95650"/>
            <a:ext cx="37147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F3B55"/>
            </a:solidFill>
            <a:prstDash val="solid"/>
          </a:ln>
        </p:spPr>
      </p:sp>
      <p:sp>
        <p:nvSpPr>
          <p:cNvPr id="15" name="gate-bar-2">
            <a:extLst xmlns:a="http://schemas.openxmlformats.org/drawingml/2006/main">
              <a:ext uri="{FF2B5EF4-FFF2-40B4-BE49-F238E27FC236}">
                <a16:creationId xmlns:a16="http://schemas.microsoft.com/office/drawing/2014/main" id="{87232C18-FD1D-49C9-A21B-75BA092F9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95650"/>
            <a:ext cx="6667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16" name="gate-phase-2">
            <a:extLst xmlns:a="http://schemas.openxmlformats.org/drawingml/2006/main">
              <a:ext uri="{FF2B5EF4-FFF2-40B4-BE49-F238E27FC236}">
                <a16:creationId xmlns:a16="http://schemas.microsoft.com/office/drawing/2014/main" id="{558913B4-44D7-4242-B9E8-A3C01D27F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4805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Gate 2</a:t>
            </a:r>
          </a:p>
        </p:txBody>
      </p:sp>
      <p:sp>
        <p:nvSpPr>
          <p:cNvPr id="17" name="gate-title-2">
            <a:extLst xmlns:a="http://schemas.openxmlformats.org/drawingml/2006/main">
              <a:ext uri="{FF2B5EF4-FFF2-40B4-BE49-F238E27FC236}">
                <a16:creationId xmlns:a16="http://schemas.microsoft.com/office/drawing/2014/main" id="{B92A1B5C-7393-465D-BB1C-186738EBD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3852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QA·검수 진입</a:t>
            </a:r>
          </a:p>
        </p:txBody>
      </p:sp>
      <p:sp>
        <p:nvSpPr>
          <p:cNvPr id="18" name="gate-body-2">
            <a:extLst xmlns:a="http://schemas.openxmlformats.org/drawingml/2006/main">
              <a:ext uri="{FF2B5EF4-FFF2-40B4-BE49-F238E27FC236}">
                <a16:creationId xmlns:a16="http://schemas.microsoft.com/office/drawing/2014/main" id="{C496CA57-D8AE-4DEE-BA4F-B15E18A23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90950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CBD5E1"/>
                </a:solidFill>
              </a:defRPr>
            </a:pPr>
            <a:r>
              <a:rPr sz="1050">
                <a:solidFill>
                  <a:srgbClr val="CBD5E1"/>
                </a:solidFill>
              </a:rPr>
              <a:t>현지화 리소스와 빌드 반영 상태를 확인한 뒤 QA와 퍼블리셔 검수에 진입합니다.</a:t>
            </a:r>
          </a:p>
        </p:txBody>
      </p:sp>
      <p:sp>
        <p:nvSpPr>
          <p:cNvPr id="19" name="gate-card-3">
            <a:extLst xmlns:a="http://schemas.openxmlformats.org/drawingml/2006/main">
              <a:ext uri="{FF2B5EF4-FFF2-40B4-BE49-F238E27FC236}">
                <a16:creationId xmlns:a16="http://schemas.microsoft.com/office/drawing/2014/main" id="{B397FFF9-375D-4064-9091-604BEF927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95800"/>
            <a:ext cx="37147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F3B55"/>
            </a:solidFill>
            <a:prstDash val="solid"/>
          </a:ln>
        </p:spPr>
      </p:sp>
      <p:sp>
        <p:nvSpPr>
          <p:cNvPr id="20" name="gate-bar-3">
            <a:extLst xmlns:a="http://schemas.openxmlformats.org/drawingml/2006/main">
              <a:ext uri="{FF2B5EF4-FFF2-40B4-BE49-F238E27FC236}">
                <a16:creationId xmlns:a16="http://schemas.microsoft.com/office/drawing/2014/main" id="{3ED5AB73-683A-49BF-9937-89CE51214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95800"/>
            <a:ext cx="6667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21" name="gate-phase-3">
            <a:extLst xmlns:a="http://schemas.openxmlformats.org/drawingml/2006/main">
              <a:ext uri="{FF2B5EF4-FFF2-40B4-BE49-F238E27FC236}">
                <a16:creationId xmlns:a16="http://schemas.microsoft.com/office/drawing/2014/main" id="{C6FBC27B-B5A0-41A5-ACA6-3D50BEB56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C3AED"/>
                </a:solidFill>
              </a:defRPr>
            </a:pPr>
            <a:r>
              <a:rPr sz="1200" b="1">
                <a:solidFill>
                  <a:srgbClr val="7C3AED"/>
                </a:solidFill>
              </a:rPr>
              <a:t>Gate 3</a:t>
            </a:r>
          </a:p>
        </p:txBody>
      </p:sp>
      <p:sp>
        <p:nvSpPr>
          <p:cNvPr id="22" name="gate-title-3">
            <a:extLst xmlns:a="http://schemas.openxmlformats.org/drawingml/2006/main">
              <a:ext uri="{FF2B5EF4-FFF2-40B4-BE49-F238E27FC236}">
                <a16:creationId xmlns:a16="http://schemas.microsoft.com/office/drawing/2014/main" id="{30304D02-0E2A-48C5-86BF-E1524EEC4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3867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릴리즈 후보</a:t>
            </a:r>
          </a:p>
        </p:txBody>
      </p:sp>
      <p:sp>
        <p:nvSpPr>
          <p:cNvPr id="23" name="gate-body-3">
            <a:extLst xmlns:a="http://schemas.openxmlformats.org/drawingml/2006/main">
              <a:ext uri="{FF2B5EF4-FFF2-40B4-BE49-F238E27FC236}">
                <a16:creationId xmlns:a16="http://schemas.microsoft.com/office/drawing/2014/main" id="{AD1A3E39-0C94-4683-8EA5-328042409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CBD5E1"/>
                </a:solidFill>
              </a:defRPr>
            </a:pPr>
            <a:r>
              <a:rPr sz="1050">
                <a:solidFill>
                  <a:srgbClr val="CBD5E1"/>
                </a:solidFill>
              </a:rPr>
              <a:t>주요 이슈와 잔여 리스크를 분리하고, 배포 가능한 후보 빌드 기준을 고정합니다.</a:t>
            </a:r>
          </a:p>
        </p:txBody>
      </p:sp>
      <p:sp>
        <p:nvSpPr>
          <p:cNvPr id="24" name="decision-title">
            <a:extLst xmlns:a="http://schemas.openxmlformats.org/drawingml/2006/main">
              <a:ext uri="{FF2B5EF4-FFF2-40B4-BE49-F238E27FC236}">
                <a16:creationId xmlns:a16="http://schemas.microsoft.com/office/drawing/2014/main" id="{845C6101-F11F-4092-9FB3-1AC087C2F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526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판정 체크리스트</a:t>
            </a:r>
          </a:p>
        </p:txBody>
      </p:sp>
      <p:sp>
        <p:nvSpPr>
          <p:cNvPr id="25" name="decision-note">
            <a:extLst xmlns:a="http://schemas.openxmlformats.org/drawingml/2006/main">
              <a:ext uri="{FF2B5EF4-FFF2-40B4-BE49-F238E27FC236}">
                <a16:creationId xmlns:a16="http://schemas.microsoft.com/office/drawing/2014/main" id="{32F0E363-5098-4C41-8E65-0FE3DD643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8097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각 항목은 다음 단계 진입 가능성을 기준으로 판단합니다.</a:t>
            </a:r>
          </a:p>
        </p:txBody>
      </p:sp>
      <p:sp>
        <p:nvSpPr>
          <p:cNvPr id="26" name="decision-header">
            <a:extLst xmlns:a="http://schemas.openxmlformats.org/drawingml/2006/main">
              <a:ext uri="{FF2B5EF4-FFF2-40B4-BE49-F238E27FC236}">
                <a16:creationId xmlns:a16="http://schemas.microsoft.com/office/drawing/2014/main" id="{E3E863F3-C878-4A48-89C1-57AE5BA15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33600"/>
            <a:ext cx="6705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0">
            <a:solidFill>
              <a:srgbClr val="00B8D9"/>
            </a:solidFill>
            <a:prstDash val="solid"/>
          </a:ln>
        </p:spPr>
      </p:sp>
      <p:sp>
        <p:nvSpPr>
          <p:cNvPr id="27" name="decision-th-1">
            <a:extLst xmlns:a="http://schemas.openxmlformats.org/drawingml/2006/main">
              <a:ext uri="{FF2B5EF4-FFF2-40B4-BE49-F238E27FC236}">
                <a16:creationId xmlns:a16="http://schemas.microsoft.com/office/drawing/2014/main" id="{3279A369-A326-4450-9F94-B8D5AF27B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2098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6111F"/>
                </a:solidFill>
              </a:defRPr>
            </a:pPr>
            <a:r>
              <a:rPr sz="1050" b="1">
                <a:solidFill>
                  <a:srgbClr val="06111F"/>
                </a:solidFill>
              </a:rPr>
              <a:t>항목</a:t>
            </a:r>
          </a:p>
        </p:txBody>
      </p:sp>
      <p:sp>
        <p:nvSpPr>
          <p:cNvPr id="28" name="decision-th-2">
            <a:extLst xmlns:a="http://schemas.openxmlformats.org/drawingml/2006/main">
              <a:ext uri="{FF2B5EF4-FFF2-40B4-BE49-F238E27FC236}">
                <a16:creationId xmlns:a16="http://schemas.microsoft.com/office/drawing/2014/main" id="{8C2A1CD9-F59D-451E-8F58-F7AD23FCE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2098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6111F"/>
                </a:solidFill>
              </a:defRPr>
            </a:pPr>
            <a:r>
              <a:rPr sz="1050" b="1">
                <a:solidFill>
                  <a:srgbClr val="06111F"/>
                </a:solidFill>
              </a:rPr>
              <a:t>통과 기준</a:t>
            </a:r>
          </a:p>
        </p:txBody>
      </p:sp>
      <p:sp>
        <p:nvSpPr>
          <p:cNvPr id="29" name="decision-th-3">
            <a:extLst xmlns:a="http://schemas.openxmlformats.org/drawingml/2006/main">
              <a:ext uri="{FF2B5EF4-FFF2-40B4-BE49-F238E27FC236}">
                <a16:creationId xmlns:a16="http://schemas.microsoft.com/office/drawing/2014/main" id="{ED9A55B6-C2C7-43FF-A264-153DBA942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2098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6111F"/>
                </a:solidFill>
              </a:defRPr>
            </a:pPr>
            <a:r>
              <a:rPr sz="1050" b="1">
                <a:solidFill>
                  <a:srgbClr val="06111F"/>
                </a:solidFill>
              </a:rPr>
              <a:t>주관</a:t>
            </a:r>
          </a:p>
        </p:txBody>
      </p:sp>
      <p:sp>
        <p:nvSpPr>
          <p:cNvPr id="30" name="decision-row-1">
            <a:extLst xmlns:a="http://schemas.openxmlformats.org/drawingml/2006/main">
              <a:ext uri="{FF2B5EF4-FFF2-40B4-BE49-F238E27FC236}">
                <a16:creationId xmlns:a16="http://schemas.microsoft.com/office/drawing/2014/main" id="{0078B63F-8C94-48B6-B335-9798DB1A9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57450"/>
            <a:ext cx="6705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F34"/>
          </a:solidFill>
          <a:ln xmlns:a="http://schemas.openxmlformats.org/drawingml/2006/main" w="9525">
            <a:solidFill>
              <a:srgbClr val="2F3B55"/>
            </a:solidFill>
            <a:prstDash val="solid"/>
          </a:ln>
        </p:spPr>
      </p:sp>
      <p:sp>
        <p:nvSpPr>
          <p:cNvPr id="31" name="decision-item-1">
            <a:extLst xmlns:a="http://schemas.openxmlformats.org/drawingml/2006/main">
              <a:ext uri="{FF2B5EF4-FFF2-40B4-BE49-F238E27FC236}">
                <a16:creationId xmlns:a16="http://schemas.microsoft.com/office/drawing/2014/main" id="{02F3DB7A-6429-4A79-B205-DF6B6F9FD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6193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B8D9"/>
                </a:solidFill>
              </a:defRPr>
            </a:pPr>
            <a:r>
              <a:rPr sz="1125" b="1">
                <a:solidFill>
                  <a:srgbClr val="00B8D9"/>
                </a:solidFill>
              </a:rPr>
              <a:t>서비스 범위</a:t>
            </a:r>
          </a:p>
        </p:txBody>
      </p:sp>
      <p:sp>
        <p:nvSpPr>
          <p:cNvPr id="32" name="decision-gate-1">
            <a:extLst xmlns:a="http://schemas.openxmlformats.org/drawingml/2006/main">
              <a:ext uri="{FF2B5EF4-FFF2-40B4-BE49-F238E27FC236}">
                <a16:creationId xmlns:a16="http://schemas.microsoft.com/office/drawing/2014/main" id="{37A93B14-9417-4F61-8F1A-F6AEE15F9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571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FFFFFF"/>
                </a:solidFill>
              </a:defRPr>
            </a:pPr>
            <a:r>
              <a:rPr sz="1013">
                <a:solidFill>
                  <a:srgbClr val="FFFFFF"/>
                </a:solidFill>
              </a:rPr>
              <a:t>런칭 포함·제외 범위와 변경 승인 기준 확정</a:t>
            </a:r>
          </a:p>
        </p:txBody>
      </p:sp>
      <p:sp>
        <p:nvSpPr>
          <p:cNvPr id="33" name="decision-owner-1">
            <a:extLst xmlns:a="http://schemas.openxmlformats.org/drawingml/2006/main">
              <a:ext uri="{FF2B5EF4-FFF2-40B4-BE49-F238E27FC236}">
                <a16:creationId xmlns:a16="http://schemas.microsoft.com/office/drawing/2014/main" id="{8B17E5CE-43F0-4367-B8ED-E300925CE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61937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BD5E1"/>
                </a:solidFill>
              </a:defRPr>
            </a:pPr>
            <a:r>
              <a:rPr sz="1050" b="1">
                <a:solidFill>
                  <a:srgbClr val="CBD5E1"/>
                </a:solidFill>
              </a:rPr>
              <a:t>PM</a:t>
            </a:r>
          </a:p>
        </p:txBody>
      </p:sp>
      <p:sp>
        <p:nvSpPr>
          <p:cNvPr id="34" name="decision-row-2">
            <a:extLst xmlns:a="http://schemas.openxmlformats.org/drawingml/2006/main">
              <a:ext uri="{FF2B5EF4-FFF2-40B4-BE49-F238E27FC236}">
                <a16:creationId xmlns:a16="http://schemas.microsoft.com/office/drawing/2014/main" id="{39AB7B13-5573-4176-A17A-240E02FCC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009900"/>
            <a:ext cx="6705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F3B55"/>
            </a:solidFill>
            <a:prstDash val="solid"/>
          </a:ln>
        </p:spPr>
      </p:sp>
      <p:sp>
        <p:nvSpPr>
          <p:cNvPr id="35" name="decision-item-2">
            <a:extLst xmlns:a="http://schemas.openxmlformats.org/drawingml/2006/main">
              <a:ext uri="{FF2B5EF4-FFF2-40B4-BE49-F238E27FC236}">
                <a16:creationId xmlns:a16="http://schemas.microsoft.com/office/drawing/2014/main" id="{3A06068D-32B5-4AA4-837D-76FD60F1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1718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6B35"/>
                </a:solidFill>
              </a:defRPr>
            </a:pPr>
            <a:r>
              <a:rPr sz="1125" b="1">
                <a:solidFill>
                  <a:srgbClr val="FF6B35"/>
                </a:solidFill>
              </a:rPr>
              <a:t>빌드·버전</a:t>
            </a:r>
          </a:p>
        </p:txBody>
      </p:sp>
      <p:sp>
        <p:nvSpPr>
          <p:cNvPr id="36" name="decision-gate-2">
            <a:extLst xmlns:a="http://schemas.openxmlformats.org/drawingml/2006/main">
              <a:ext uri="{FF2B5EF4-FFF2-40B4-BE49-F238E27FC236}">
                <a16:creationId xmlns:a16="http://schemas.microsoft.com/office/drawing/2014/main" id="{0784043E-7881-4034-95A7-CA63E0DFE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1242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FFFFFF"/>
                </a:solidFill>
              </a:defRPr>
            </a:pPr>
            <a:r>
              <a:rPr sz="1013">
                <a:solidFill>
                  <a:srgbClr val="FFFFFF"/>
                </a:solidFill>
              </a:rPr>
              <a:t>Perforce 브랜치와 후보 빌드 태그 기준 합의</a:t>
            </a:r>
          </a:p>
        </p:txBody>
      </p:sp>
      <p:sp>
        <p:nvSpPr>
          <p:cNvPr id="37" name="decision-owner-2">
            <a:extLst xmlns:a="http://schemas.openxmlformats.org/drawingml/2006/main">
              <a:ext uri="{FF2B5EF4-FFF2-40B4-BE49-F238E27FC236}">
                <a16:creationId xmlns:a16="http://schemas.microsoft.com/office/drawing/2014/main" id="{16080DEC-AF24-41C2-A791-A8D16EC17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1718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BD5E1"/>
                </a:solidFill>
              </a:defRPr>
            </a:pPr>
            <a:r>
              <a:rPr sz="1050" b="1">
                <a:solidFill>
                  <a:srgbClr val="CBD5E1"/>
                </a:solidFill>
              </a:rPr>
              <a:t>개발</a:t>
            </a:r>
          </a:p>
        </p:txBody>
      </p:sp>
      <p:sp>
        <p:nvSpPr>
          <p:cNvPr id="38" name="decision-row-3">
            <a:extLst xmlns:a="http://schemas.openxmlformats.org/drawingml/2006/main">
              <a:ext uri="{FF2B5EF4-FFF2-40B4-BE49-F238E27FC236}">
                <a16:creationId xmlns:a16="http://schemas.microsoft.com/office/drawing/2014/main" id="{88A1870A-6CAE-4B93-BF37-6527D3C67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62350"/>
            <a:ext cx="6705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F34"/>
          </a:solidFill>
          <a:ln xmlns:a="http://schemas.openxmlformats.org/drawingml/2006/main" w="9525">
            <a:solidFill>
              <a:srgbClr val="2F3B55"/>
            </a:solidFill>
            <a:prstDash val="solid"/>
          </a:ln>
        </p:spPr>
      </p:sp>
      <p:sp>
        <p:nvSpPr>
          <p:cNvPr id="39" name="decision-item-3">
            <a:extLst xmlns:a="http://schemas.openxmlformats.org/drawingml/2006/main">
              <a:ext uri="{FF2B5EF4-FFF2-40B4-BE49-F238E27FC236}">
                <a16:creationId xmlns:a16="http://schemas.microsoft.com/office/drawing/2014/main" id="{DEABC419-63DE-4EB0-963D-F97FDDA17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7242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7C3AED"/>
                </a:solidFill>
              </a:defRPr>
            </a:pPr>
            <a:r>
              <a:rPr sz="1125" b="1">
                <a:solidFill>
                  <a:srgbClr val="7C3AED"/>
                </a:solidFill>
              </a:rPr>
              <a:t>QA 안정성</a:t>
            </a:r>
          </a:p>
        </p:txBody>
      </p:sp>
      <p:sp>
        <p:nvSpPr>
          <p:cNvPr id="40" name="decision-gate-3">
            <a:extLst xmlns:a="http://schemas.openxmlformats.org/drawingml/2006/main">
              <a:ext uri="{FF2B5EF4-FFF2-40B4-BE49-F238E27FC236}">
                <a16:creationId xmlns:a16="http://schemas.microsoft.com/office/drawing/2014/main" id="{FB3F5876-5F9B-4017-A45C-6075B49AC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6766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FFFFFF"/>
                </a:solidFill>
              </a:defRPr>
            </a:pPr>
            <a:r>
              <a:rPr sz="1013">
                <a:solidFill>
                  <a:srgbClr val="FFFFFF"/>
                </a:solidFill>
              </a:rPr>
              <a:t>주요 이슈 수정 계획과 잔여 리스크 공유</a:t>
            </a:r>
          </a:p>
        </p:txBody>
      </p:sp>
      <p:sp>
        <p:nvSpPr>
          <p:cNvPr id="41" name="decision-owner-3">
            <a:extLst xmlns:a="http://schemas.openxmlformats.org/drawingml/2006/main">
              <a:ext uri="{FF2B5EF4-FFF2-40B4-BE49-F238E27FC236}">
                <a16:creationId xmlns:a16="http://schemas.microsoft.com/office/drawing/2014/main" id="{70E4539C-9C11-475E-81B8-4D59EE5BD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72427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BD5E1"/>
                </a:solidFill>
              </a:defRPr>
            </a:pPr>
            <a:r>
              <a:rPr sz="1050" b="1">
                <a:solidFill>
                  <a:srgbClr val="CBD5E1"/>
                </a:solidFill>
              </a:rPr>
              <a:t>QA</a:t>
            </a:r>
          </a:p>
        </p:txBody>
      </p:sp>
      <p:sp>
        <p:nvSpPr>
          <p:cNvPr id="42" name="decision-row-4">
            <a:extLst xmlns:a="http://schemas.openxmlformats.org/drawingml/2006/main">
              <a:ext uri="{FF2B5EF4-FFF2-40B4-BE49-F238E27FC236}">
                <a16:creationId xmlns:a16="http://schemas.microsoft.com/office/drawing/2014/main" id="{139C464C-B4F2-4F33-A8F9-A94FC2E67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114800"/>
            <a:ext cx="6705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F3B55"/>
            </a:solidFill>
            <a:prstDash val="solid"/>
          </a:ln>
        </p:spPr>
      </p:sp>
      <p:sp>
        <p:nvSpPr>
          <p:cNvPr id="43" name="decision-item-4">
            <a:extLst xmlns:a="http://schemas.openxmlformats.org/drawingml/2006/main">
              <a:ext uri="{FF2B5EF4-FFF2-40B4-BE49-F238E27FC236}">
                <a16:creationId xmlns:a16="http://schemas.microsoft.com/office/drawing/2014/main" id="{E37F0AE2-4661-4D29-98B3-B33AF9156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2767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8BD9E8"/>
                </a:solidFill>
              </a:defRPr>
            </a:pPr>
            <a:r>
              <a:rPr sz="1125" b="1">
                <a:solidFill>
                  <a:srgbClr val="8BD9E8"/>
                </a:solidFill>
              </a:rPr>
              <a:t>퍼블리셔 대응</a:t>
            </a:r>
          </a:p>
        </p:txBody>
      </p:sp>
      <p:sp>
        <p:nvSpPr>
          <p:cNvPr id="44" name="decision-gate-4">
            <a:extLst xmlns:a="http://schemas.openxmlformats.org/drawingml/2006/main">
              <a:ext uri="{FF2B5EF4-FFF2-40B4-BE49-F238E27FC236}">
                <a16:creationId xmlns:a16="http://schemas.microsoft.com/office/drawing/2014/main" id="{8494A5EA-EBF3-499D-A3FE-4F85097A9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2291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FFFFFF"/>
                </a:solidFill>
              </a:defRPr>
            </a:pPr>
            <a:r>
              <a:rPr sz="1013">
                <a:solidFill>
                  <a:srgbClr val="FFFFFF"/>
                </a:solidFill>
              </a:rPr>
              <a:t>검수 요청, 피드백, 재전달 일정 추적</a:t>
            </a:r>
          </a:p>
        </p:txBody>
      </p:sp>
      <p:sp>
        <p:nvSpPr>
          <p:cNvPr id="45" name="decision-owner-4">
            <a:extLst xmlns:a="http://schemas.openxmlformats.org/drawingml/2006/main">
              <a:ext uri="{FF2B5EF4-FFF2-40B4-BE49-F238E27FC236}">
                <a16:creationId xmlns:a16="http://schemas.microsoft.com/office/drawing/2014/main" id="{4641D92C-5EA3-47E7-AFF1-4061CE015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2767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BD5E1"/>
                </a:solidFill>
              </a:defRPr>
            </a:pPr>
            <a:r>
              <a:rPr sz="1050" b="1">
                <a:solidFill>
                  <a:srgbClr val="CBD5E1"/>
                </a:solidFill>
              </a:rPr>
              <a:t>PM</a:t>
            </a:r>
          </a:p>
        </p:txBody>
      </p:sp>
      <p:sp>
        <p:nvSpPr>
          <p:cNvPr id="46" name="decision-row-5">
            <a:extLst xmlns:a="http://schemas.openxmlformats.org/drawingml/2006/main">
              <a:ext uri="{FF2B5EF4-FFF2-40B4-BE49-F238E27FC236}">
                <a16:creationId xmlns:a16="http://schemas.microsoft.com/office/drawing/2014/main" id="{94B3FB14-8819-4662-91EE-9D3EE6508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667250"/>
            <a:ext cx="6705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F34"/>
          </a:solidFill>
          <a:ln xmlns:a="http://schemas.openxmlformats.org/drawingml/2006/main" w="9525">
            <a:solidFill>
              <a:srgbClr val="2F3B55"/>
            </a:solidFill>
            <a:prstDash val="solid"/>
          </a:ln>
        </p:spPr>
      </p:sp>
      <p:sp>
        <p:nvSpPr>
          <p:cNvPr id="47" name="decision-item-5">
            <a:extLst xmlns:a="http://schemas.openxmlformats.org/drawingml/2006/main">
              <a:ext uri="{FF2B5EF4-FFF2-40B4-BE49-F238E27FC236}">
                <a16:creationId xmlns:a16="http://schemas.microsoft.com/office/drawing/2014/main" id="{A91CED1B-74DC-4207-A7A3-7822C80A2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8291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6B35"/>
                </a:solidFill>
              </a:defRPr>
            </a:pPr>
            <a:r>
              <a:rPr sz="1125" b="1">
                <a:solidFill>
                  <a:srgbClr val="FF6B35"/>
                </a:solidFill>
              </a:rPr>
              <a:t>Live 릴리즈</a:t>
            </a:r>
          </a:p>
        </p:txBody>
      </p:sp>
      <p:sp>
        <p:nvSpPr>
          <p:cNvPr id="48" name="decision-gate-5">
            <a:extLst xmlns:a="http://schemas.openxmlformats.org/drawingml/2006/main">
              <a:ext uri="{FF2B5EF4-FFF2-40B4-BE49-F238E27FC236}">
                <a16:creationId xmlns:a16="http://schemas.microsoft.com/office/drawing/2014/main" id="{0D9A1F29-DE95-4630-90CF-44777E16D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7815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FFFFFF"/>
                </a:solidFill>
              </a:defRPr>
            </a:pPr>
            <a:r>
              <a:rPr sz="1013">
                <a:solidFill>
                  <a:srgbClr val="FFFFFF"/>
                </a:solidFill>
              </a:rPr>
              <a:t>배포·공지·장애 대응 담당자 확인</a:t>
            </a:r>
          </a:p>
        </p:txBody>
      </p:sp>
      <p:sp>
        <p:nvSpPr>
          <p:cNvPr id="49" name="decision-owner-5">
            <a:extLst xmlns:a="http://schemas.openxmlformats.org/drawingml/2006/main">
              <a:ext uri="{FF2B5EF4-FFF2-40B4-BE49-F238E27FC236}">
                <a16:creationId xmlns:a16="http://schemas.microsoft.com/office/drawing/2014/main" id="{44563B5F-924A-4470-818D-CEBB79ACA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82917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BD5E1"/>
                </a:solidFill>
              </a:defRPr>
            </a:pPr>
            <a:r>
              <a:rPr sz="1050" b="1">
                <a:solidFill>
                  <a:srgbClr val="CBD5E1"/>
                </a:solidFill>
              </a:rPr>
              <a:t>운영</a:t>
            </a:r>
          </a:p>
        </p:txBody>
      </p:sp>
      <p:sp>
        <p:nvSpPr>
          <p:cNvPr id="50" name="principle-panel">
            <a:extLst xmlns:a="http://schemas.openxmlformats.org/drawingml/2006/main">
              <a:ext uri="{FF2B5EF4-FFF2-40B4-BE49-F238E27FC236}">
                <a16:creationId xmlns:a16="http://schemas.microsoft.com/office/drawing/2014/main" id="{B9F7C0A1-EE92-4A98-8F37-BEBD5B083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91200"/>
            <a:ext cx="108775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0192E"/>
          </a:solidFill>
          <a:ln xmlns:a="http://schemas.openxmlformats.org/drawingml/2006/main" w="9525">
            <a:solidFill>
              <a:srgbClr val="22304E"/>
            </a:solidFill>
            <a:prstDash val="solid"/>
          </a:ln>
        </p:spPr>
      </p:sp>
      <p:sp>
        <p:nvSpPr>
          <p:cNvPr id="51" name="principle-label">
            <a:extLst xmlns:a="http://schemas.openxmlformats.org/drawingml/2006/main">
              <a:ext uri="{FF2B5EF4-FFF2-40B4-BE49-F238E27FC236}">
                <a16:creationId xmlns:a16="http://schemas.microsoft.com/office/drawing/2014/main" id="{D9191CD0-9703-48A4-A0A1-740619285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BD9E8"/>
                </a:solidFill>
              </a:defRPr>
            </a:pPr>
            <a:r>
              <a:rPr sz="1200" b="1">
                <a:solidFill>
                  <a:srgbClr val="8BD9E8"/>
                </a:solidFill>
              </a:rPr>
              <a:t>운영 원칙</a:t>
            </a:r>
          </a:p>
        </p:txBody>
      </p:sp>
      <p:sp>
        <p:nvSpPr>
          <p:cNvPr id="52" name="principle-body">
            <a:extLst xmlns:a="http://schemas.openxmlformats.org/drawingml/2006/main">
              <a:ext uri="{FF2B5EF4-FFF2-40B4-BE49-F238E27FC236}">
                <a16:creationId xmlns:a16="http://schemas.microsoft.com/office/drawing/2014/main" id="{0C7EF4DC-864D-4B0D-8EA1-57D410544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90550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FFFFFF"/>
                </a:solidFill>
              </a:defRPr>
            </a:pPr>
            <a:r>
              <a:rPr sz="1125">
                <a:solidFill>
                  <a:srgbClr val="FFFFFF"/>
                </a:solidFill>
              </a:rPr>
              <a:t>미통과 항목은 일정 지연이 아니라 의사결정 이슈로 분리해, 영향도와 대안을 함께 보고합니다.</a:t>
            </a:r>
          </a:p>
        </p:txBody>
      </p:sp>
    </p:spTree>
    <p:extLst>
      <p:ext uri="{BB962C8B-B14F-4D97-AF65-F5344CB8AC3E}">
        <p14:creationId xmlns:p14="http://schemas.microsoft.com/office/powerpoint/2010/main" val="21085574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accent">
            <a:extLst xmlns:a="http://schemas.openxmlformats.org/drawingml/2006/main">
              <a:ext uri="{FF2B5EF4-FFF2-40B4-BE49-F238E27FC236}">
                <a16:creationId xmlns:a16="http://schemas.microsoft.com/office/drawing/2014/main" id="{5598F297-60FB-4261-81CB-B222C24DC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0">
            <a:solidFill>
              <a:srgbClr val="00B8D9"/>
            </a:solidFill>
            <a:prstDash val="solid"/>
          </a:ln>
        </p:spPr>
      </p:sp>
      <p:sp>
        <p:nvSpPr>
          <p:cNvPr id="2" name="left-accent">
            <a:extLst xmlns:a="http://schemas.openxmlformats.org/drawingml/2006/main">
              <a:ext uri="{FF2B5EF4-FFF2-40B4-BE49-F238E27FC236}">
                <a16:creationId xmlns:a16="http://schemas.microsoft.com/office/drawing/2014/main" id="{9A7C5779-8631-475E-A80E-15C890557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E42C498B-20FC-4495-9D33-C7BD864A8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8BD9E8"/>
                </a:solidFill>
              </a:defRPr>
            </a:pPr>
            <a:r>
              <a:rPr sz="1125" b="1">
                <a:solidFill>
                  <a:srgbClr val="8BD9E8"/>
                </a:solidFill>
              </a:rPr>
              <a:t>RISK RESPONSE SYSTEM | PAGE 04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E570A599-8BA2-4E73-B8C6-89405A9EE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94A3B8"/>
                </a:solidFill>
              </a:defRPr>
            </a:pPr>
            <a:r>
              <a:rPr sz="1125">
                <a:solidFill>
                  <a:srgbClr val="94A3B8"/>
                </a:solidFill>
              </a:rPr>
              <a:t>HIT2 일본 서비스 런칭 6개월 전 로드맵</a:t>
            </a:r>
          </a:p>
        </p:txBody>
      </p:sp>
      <p:sp>
        <p:nvSpPr>
          <p:cNvPr id="5" name="page-no">
            <a:extLst xmlns:a="http://schemas.openxmlformats.org/drawingml/2006/main">
              <a:ext uri="{FF2B5EF4-FFF2-40B4-BE49-F238E27FC236}">
                <a16:creationId xmlns:a16="http://schemas.microsoft.com/office/drawing/2014/main" id="{16731244-85E4-4A23-8550-AAB66CF5D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94A3B8"/>
                </a:solidFill>
              </a:defRPr>
            </a:pPr>
            <a:r>
              <a:rPr sz="1200" b="1">
                <a:solidFill>
                  <a:srgbClr val="94A3B8"/>
                </a:solidFill>
              </a:rPr>
              <a:t>04</a:t>
            </a:r>
          </a:p>
        </p:txBody>
      </p:sp>
      <p:sp>
        <p:nvSpPr>
          <p:cNvPr id="6" name="title-04">
            <a:extLst xmlns:a="http://schemas.openxmlformats.org/drawingml/2006/main">
              <a:ext uri="{FF2B5EF4-FFF2-40B4-BE49-F238E27FC236}">
                <a16:creationId xmlns:a16="http://schemas.microsoft.com/office/drawing/2014/main" id="{3045BF0B-0F80-4FC8-8C22-BE1853BBA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런칭 리스크는 조기 분리와 이슈 대응으로 관리합니다</a:t>
            </a:r>
          </a:p>
        </p:txBody>
      </p:sp>
      <p:sp>
        <p:nvSpPr>
          <p:cNvPr id="7" name="subtitle-04">
            <a:extLst xmlns:a="http://schemas.openxmlformats.org/drawingml/2006/main">
              <a:ext uri="{FF2B5EF4-FFF2-40B4-BE49-F238E27FC236}">
                <a16:creationId xmlns:a16="http://schemas.microsoft.com/office/drawing/2014/main" id="{607308B7-2C2D-4C51-A742-97C64B0B1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CBD5E1"/>
                </a:solidFill>
              </a:defRPr>
            </a:pPr>
            <a:r>
              <a:rPr sz="1275">
                <a:solidFill>
                  <a:srgbClr val="CBD5E1"/>
                </a:solidFill>
              </a:rPr>
              <a:t>일정·범위·빌드·버전·QA에 미치는 영향을 먼저 보이게 만들어야 의사결정이 빨라집니다.</a:t>
            </a:r>
          </a:p>
        </p:txBody>
      </p:sp>
      <p:sp>
        <p:nvSpPr>
          <p:cNvPr id="8" name="risk-title">
            <a:extLst xmlns:a="http://schemas.openxmlformats.org/drawingml/2006/main">
              <a:ext uri="{FF2B5EF4-FFF2-40B4-BE49-F238E27FC236}">
                <a16:creationId xmlns:a16="http://schemas.microsoft.com/office/drawing/2014/main" id="{2B244777-16CD-47ED-B27F-D2468E8A8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주요 리스크</a:t>
            </a:r>
          </a:p>
        </p:txBody>
      </p:sp>
      <p:sp>
        <p:nvSpPr>
          <p:cNvPr id="9" name="risk-header">
            <a:extLst xmlns:a="http://schemas.openxmlformats.org/drawingml/2006/main">
              <a:ext uri="{FF2B5EF4-FFF2-40B4-BE49-F238E27FC236}">
                <a16:creationId xmlns:a16="http://schemas.microsoft.com/office/drawing/2014/main" id="{80F4A867-FA4E-4B12-BCD0-E07F0B111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57400"/>
            <a:ext cx="6572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0">
            <a:solidFill>
              <a:srgbClr val="00B8D9"/>
            </a:solidFill>
            <a:prstDash val="solid"/>
          </a:ln>
        </p:spPr>
      </p:sp>
      <p:sp>
        <p:nvSpPr>
          <p:cNvPr id="10" name="risk-th-1">
            <a:extLst xmlns:a="http://schemas.openxmlformats.org/drawingml/2006/main">
              <a:ext uri="{FF2B5EF4-FFF2-40B4-BE49-F238E27FC236}">
                <a16:creationId xmlns:a16="http://schemas.microsoft.com/office/drawing/2014/main" id="{2229E4BD-CD28-409C-843C-50F233C5A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05025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6111F"/>
                </a:solidFill>
              </a:defRPr>
            </a:pPr>
            <a:r>
              <a:rPr sz="975" b="1">
                <a:solidFill>
                  <a:srgbClr val="06111F"/>
                </a:solidFill>
              </a:rPr>
              <a:t>리스크</a:t>
            </a:r>
          </a:p>
        </p:txBody>
      </p:sp>
      <p:sp>
        <p:nvSpPr>
          <p:cNvPr id="11" name="risk-th-2">
            <a:extLst xmlns:a="http://schemas.openxmlformats.org/drawingml/2006/main">
              <a:ext uri="{FF2B5EF4-FFF2-40B4-BE49-F238E27FC236}">
                <a16:creationId xmlns:a16="http://schemas.microsoft.com/office/drawing/2014/main" id="{8DD61028-8F18-4E74-BE53-1FAE0B688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10502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6111F"/>
                </a:solidFill>
              </a:defRPr>
            </a:pPr>
            <a:r>
              <a:rPr sz="975" b="1">
                <a:solidFill>
                  <a:srgbClr val="06111F"/>
                </a:solidFill>
              </a:rPr>
              <a:t>영향</a:t>
            </a:r>
          </a:p>
        </p:txBody>
      </p:sp>
      <p:sp>
        <p:nvSpPr>
          <p:cNvPr id="12" name="risk-th-3">
            <a:extLst xmlns:a="http://schemas.openxmlformats.org/drawingml/2006/main">
              <a:ext uri="{FF2B5EF4-FFF2-40B4-BE49-F238E27FC236}">
                <a16:creationId xmlns:a16="http://schemas.microsoft.com/office/drawing/2014/main" id="{CFFC2B78-28CE-4A59-8384-C0DBD4A5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0502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6111F"/>
                </a:solidFill>
              </a:defRPr>
            </a:pPr>
            <a:r>
              <a:rPr sz="975" b="1">
                <a:solidFill>
                  <a:srgbClr val="06111F"/>
                </a:solidFill>
              </a:rPr>
              <a:t>대응</a:t>
            </a:r>
          </a:p>
        </p:txBody>
      </p:sp>
      <p:sp>
        <p:nvSpPr>
          <p:cNvPr id="13" name="risk-row-1">
            <a:extLst xmlns:a="http://schemas.openxmlformats.org/drawingml/2006/main">
              <a:ext uri="{FF2B5EF4-FFF2-40B4-BE49-F238E27FC236}">
                <a16:creationId xmlns:a16="http://schemas.microsoft.com/office/drawing/2014/main" id="{45153C32-6469-4CEC-8A0B-0CE34046C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05050"/>
            <a:ext cx="6572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F34"/>
          </a:solidFill>
          <a:ln xmlns:a="http://schemas.openxmlformats.org/drawingml/2006/main" w="9525">
            <a:solidFill>
              <a:srgbClr val="2F3B55"/>
            </a:solidFill>
            <a:prstDash val="solid"/>
          </a:ln>
        </p:spPr>
      </p:sp>
      <p:sp>
        <p:nvSpPr>
          <p:cNvPr id="14" name="risk-name-1">
            <a:extLst xmlns:a="http://schemas.openxmlformats.org/drawingml/2006/main">
              <a:ext uri="{FF2B5EF4-FFF2-40B4-BE49-F238E27FC236}">
                <a16:creationId xmlns:a16="http://schemas.microsoft.com/office/drawing/2014/main" id="{F75476A3-D6F5-458A-8CAB-56D8D330F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955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B8D9"/>
                </a:solidFill>
              </a:defRPr>
            </a:pPr>
            <a:r>
              <a:rPr sz="1125" b="1">
                <a:solidFill>
                  <a:srgbClr val="00B8D9"/>
                </a:solidFill>
              </a:rPr>
              <a:t>현지화 지연</a:t>
            </a:r>
          </a:p>
        </p:txBody>
      </p:sp>
      <p:sp>
        <p:nvSpPr>
          <p:cNvPr id="15" name="risk-impact-1">
            <a:extLst xmlns:a="http://schemas.openxmlformats.org/drawingml/2006/main">
              <a:ext uri="{FF2B5EF4-FFF2-40B4-BE49-F238E27FC236}">
                <a16:creationId xmlns:a16="http://schemas.microsoft.com/office/drawing/2014/main" id="{D0058333-4211-4392-B4D9-5C29C8037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4288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CBD5E1"/>
                </a:solidFill>
              </a:defRPr>
            </a:pPr>
            <a:r>
              <a:rPr sz="975">
                <a:solidFill>
                  <a:srgbClr val="CBD5E1"/>
                </a:solidFill>
              </a:rPr>
              <a:t>번역·리소스 반영 지연으로 검수 일정 압박</a:t>
            </a:r>
          </a:p>
        </p:txBody>
      </p:sp>
      <p:sp>
        <p:nvSpPr>
          <p:cNvPr id="16" name="risk-response-1">
            <a:extLst xmlns:a="http://schemas.openxmlformats.org/drawingml/2006/main">
              <a:ext uri="{FF2B5EF4-FFF2-40B4-BE49-F238E27FC236}">
                <a16:creationId xmlns:a16="http://schemas.microsoft.com/office/drawing/2014/main" id="{D5C34D59-216A-4DC9-B57D-F04C3B741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2887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반영 범위와 우선순위 재정렬</a:t>
            </a:r>
          </a:p>
        </p:txBody>
      </p:sp>
      <p:sp>
        <p:nvSpPr>
          <p:cNvPr id="17" name="risk-row-2">
            <a:extLst xmlns:a="http://schemas.openxmlformats.org/drawingml/2006/main">
              <a:ext uri="{FF2B5EF4-FFF2-40B4-BE49-F238E27FC236}">
                <a16:creationId xmlns:a16="http://schemas.microsoft.com/office/drawing/2014/main" id="{431D04C2-4FF9-43A0-A1E8-6E0216CFC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33700"/>
            <a:ext cx="6572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F3B55"/>
            </a:solidFill>
            <a:prstDash val="solid"/>
          </a:ln>
        </p:spPr>
      </p:sp>
      <p:sp>
        <p:nvSpPr>
          <p:cNvPr id="18" name="risk-name-2">
            <a:extLst xmlns:a="http://schemas.openxmlformats.org/drawingml/2006/main">
              <a:ext uri="{FF2B5EF4-FFF2-40B4-BE49-F238E27FC236}">
                <a16:creationId xmlns:a16="http://schemas.microsoft.com/office/drawing/2014/main" id="{A6509169-703E-4C0F-BBC6-594643C96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242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6B35"/>
                </a:solidFill>
              </a:defRPr>
            </a:pPr>
            <a:r>
              <a:rPr sz="1125" b="1">
                <a:solidFill>
                  <a:srgbClr val="FF6B35"/>
                </a:solidFill>
              </a:rPr>
              <a:t>빌드 불안정</a:t>
            </a:r>
          </a:p>
        </p:txBody>
      </p:sp>
      <p:sp>
        <p:nvSpPr>
          <p:cNvPr id="19" name="risk-impact-2">
            <a:extLst xmlns:a="http://schemas.openxmlformats.org/drawingml/2006/main">
              <a:ext uri="{FF2B5EF4-FFF2-40B4-BE49-F238E27FC236}">
                <a16:creationId xmlns:a16="http://schemas.microsoft.com/office/drawing/2014/main" id="{C1C481E0-E186-4E1A-AA96-E65E93AA1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05752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CBD5E1"/>
                </a:solidFill>
              </a:defRPr>
            </a:pPr>
            <a:r>
              <a:rPr sz="975">
                <a:solidFill>
                  <a:srgbClr val="CBD5E1"/>
                </a:solidFill>
              </a:rPr>
              <a:t>후보 빌드 기준 미고정과 긴급 수정 누적</a:t>
            </a:r>
          </a:p>
        </p:txBody>
      </p:sp>
      <p:sp>
        <p:nvSpPr>
          <p:cNvPr id="20" name="risk-response-2">
            <a:extLst xmlns:a="http://schemas.openxmlformats.org/drawingml/2006/main">
              <a:ext uri="{FF2B5EF4-FFF2-40B4-BE49-F238E27FC236}">
                <a16:creationId xmlns:a16="http://schemas.microsoft.com/office/drawing/2014/main" id="{F87B4F42-AA66-46B6-99E2-D93CB2447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5752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브랜치·태그 기준 고정</a:t>
            </a:r>
          </a:p>
        </p:txBody>
      </p:sp>
      <p:sp>
        <p:nvSpPr>
          <p:cNvPr id="21" name="risk-row-3">
            <a:extLst xmlns:a="http://schemas.openxmlformats.org/drawingml/2006/main">
              <a:ext uri="{FF2B5EF4-FFF2-40B4-BE49-F238E27FC236}">
                <a16:creationId xmlns:a16="http://schemas.microsoft.com/office/drawing/2014/main" id="{5F716B16-9D5E-4EA0-8ED5-0459E4479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62350"/>
            <a:ext cx="6572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F34"/>
          </a:solidFill>
          <a:ln xmlns:a="http://schemas.openxmlformats.org/drawingml/2006/main" w="9525">
            <a:solidFill>
              <a:srgbClr val="2F3B55"/>
            </a:solidFill>
            <a:prstDash val="solid"/>
          </a:ln>
        </p:spPr>
      </p:sp>
      <p:sp>
        <p:nvSpPr>
          <p:cNvPr id="22" name="risk-name-3">
            <a:extLst xmlns:a="http://schemas.openxmlformats.org/drawingml/2006/main">
              <a:ext uri="{FF2B5EF4-FFF2-40B4-BE49-F238E27FC236}">
                <a16:creationId xmlns:a16="http://schemas.microsoft.com/office/drawing/2014/main" id="{29622FBB-2278-4412-BE83-B9C7978D9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7C3AED"/>
                </a:solidFill>
              </a:defRPr>
            </a:pPr>
            <a:r>
              <a:rPr sz="1125" b="1">
                <a:solidFill>
                  <a:srgbClr val="7C3AED"/>
                </a:solidFill>
              </a:rPr>
              <a:t>QA 병목</a:t>
            </a:r>
          </a:p>
        </p:txBody>
      </p:sp>
      <p:sp>
        <p:nvSpPr>
          <p:cNvPr id="23" name="risk-impact-3">
            <a:extLst xmlns:a="http://schemas.openxmlformats.org/drawingml/2006/main">
              <a:ext uri="{FF2B5EF4-FFF2-40B4-BE49-F238E27FC236}">
                <a16:creationId xmlns:a16="http://schemas.microsoft.com/office/drawing/2014/main" id="{1E335576-656B-4EB7-B41E-8D122B543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6861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CBD5E1"/>
                </a:solidFill>
              </a:defRPr>
            </a:pPr>
            <a:r>
              <a:rPr sz="975">
                <a:solidFill>
                  <a:srgbClr val="CBD5E1"/>
                </a:solidFill>
              </a:rPr>
              <a:t>이슈 분류 지연과 수정 검증 대기 증가</a:t>
            </a:r>
          </a:p>
        </p:txBody>
      </p:sp>
      <p:sp>
        <p:nvSpPr>
          <p:cNvPr id="24" name="risk-response-3">
            <a:extLst xmlns:a="http://schemas.openxmlformats.org/drawingml/2006/main">
              <a:ext uri="{FF2B5EF4-FFF2-40B4-BE49-F238E27FC236}">
                <a16:creationId xmlns:a16="http://schemas.microsoft.com/office/drawing/2014/main" id="{4796CF2A-12FD-43D7-9F90-94A40F0B4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8617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재현 정보와 수정 일정 추적</a:t>
            </a:r>
          </a:p>
        </p:txBody>
      </p:sp>
      <p:sp>
        <p:nvSpPr>
          <p:cNvPr id="25" name="risk-row-4">
            <a:extLst xmlns:a="http://schemas.openxmlformats.org/drawingml/2006/main">
              <a:ext uri="{FF2B5EF4-FFF2-40B4-BE49-F238E27FC236}">
                <a16:creationId xmlns:a16="http://schemas.microsoft.com/office/drawing/2014/main" id="{497BB222-411E-4DF4-A85D-A04998CB8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0"/>
            <a:ext cx="6572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F3B55"/>
            </a:solidFill>
            <a:prstDash val="solid"/>
          </a:ln>
        </p:spPr>
      </p:sp>
      <p:sp>
        <p:nvSpPr>
          <p:cNvPr id="26" name="risk-name-4">
            <a:extLst xmlns:a="http://schemas.openxmlformats.org/drawingml/2006/main">
              <a:ext uri="{FF2B5EF4-FFF2-40B4-BE49-F238E27FC236}">
                <a16:creationId xmlns:a16="http://schemas.microsoft.com/office/drawing/2014/main" id="{B9DE8712-5664-4FF5-B400-C7EAB2144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8BD9E8"/>
                </a:solidFill>
              </a:defRPr>
            </a:pPr>
            <a:r>
              <a:rPr sz="1125" b="1">
                <a:solidFill>
                  <a:srgbClr val="8BD9E8"/>
                </a:solidFill>
              </a:rPr>
              <a:t>피드백 지연</a:t>
            </a:r>
          </a:p>
        </p:txBody>
      </p:sp>
      <p:sp>
        <p:nvSpPr>
          <p:cNvPr id="27" name="risk-impact-4">
            <a:extLst xmlns:a="http://schemas.openxmlformats.org/drawingml/2006/main">
              <a:ext uri="{FF2B5EF4-FFF2-40B4-BE49-F238E27FC236}">
                <a16:creationId xmlns:a16="http://schemas.microsoft.com/office/drawing/2014/main" id="{D092BC23-40EA-47D1-BD7C-EEF12E340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31482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CBD5E1"/>
                </a:solidFill>
              </a:defRPr>
            </a:pPr>
            <a:r>
              <a:rPr sz="975">
                <a:solidFill>
                  <a:srgbClr val="CBD5E1"/>
                </a:solidFill>
              </a:rPr>
              <a:t>퍼블리셔 검수 의견 회신과 재전달 일정 불명확</a:t>
            </a:r>
          </a:p>
        </p:txBody>
      </p:sp>
      <p:sp>
        <p:nvSpPr>
          <p:cNvPr id="28" name="risk-response-4">
            <a:extLst xmlns:a="http://schemas.openxmlformats.org/drawingml/2006/main">
              <a:ext uri="{FF2B5EF4-FFF2-40B4-BE49-F238E27FC236}">
                <a16:creationId xmlns:a16="http://schemas.microsoft.com/office/drawing/2014/main" id="{3CD7C106-5083-4B86-8684-EC222DB9E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31482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요청·회신·재전달 상태 관리</a:t>
            </a:r>
          </a:p>
        </p:txBody>
      </p:sp>
      <p:sp>
        <p:nvSpPr>
          <p:cNvPr id="29" name="risk-row-5">
            <a:extLst xmlns:a="http://schemas.openxmlformats.org/drawingml/2006/main">
              <a:ext uri="{FF2B5EF4-FFF2-40B4-BE49-F238E27FC236}">
                <a16:creationId xmlns:a16="http://schemas.microsoft.com/office/drawing/2014/main" id="{03A545E8-0F09-4A15-B761-7B02C68CD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9650"/>
            <a:ext cx="6572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F34"/>
          </a:solidFill>
          <a:ln xmlns:a="http://schemas.openxmlformats.org/drawingml/2006/main" w="9525">
            <a:solidFill>
              <a:srgbClr val="2F3B55"/>
            </a:solidFill>
            <a:prstDash val="solid"/>
          </a:ln>
        </p:spPr>
      </p:sp>
      <p:sp>
        <p:nvSpPr>
          <p:cNvPr id="30" name="risk-name-5">
            <a:extLst xmlns:a="http://schemas.openxmlformats.org/drawingml/2006/main">
              <a:ext uri="{FF2B5EF4-FFF2-40B4-BE49-F238E27FC236}">
                <a16:creationId xmlns:a16="http://schemas.microsoft.com/office/drawing/2014/main" id="{8EB7D1CA-2CA5-4A02-AA31-C80BDF010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101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6B35"/>
                </a:solidFill>
              </a:defRPr>
            </a:pPr>
            <a:r>
              <a:rPr sz="1125" b="1">
                <a:solidFill>
                  <a:srgbClr val="FF6B35"/>
                </a:solidFill>
              </a:rPr>
              <a:t>직전 변경</a:t>
            </a:r>
          </a:p>
        </p:txBody>
      </p:sp>
      <p:sp>
        <p:nvSpPr>
          <p:cNvPr id="31" name="risk-impact-5">
            <a:extLst xmlns:a="http://schemas.openxmlformats.org/drawingml/2006/main">
              <a:ext uri="{FF2B5EF4-FFF2-40B4-BE49-F238E27FC236}">
                <a16:creationId xmlns:a16="http://schemas.microsoft.com/office/drawing/2014/main" id="{F19CA585-E583-4B9F-9FCE-E6B110A05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9434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CBD5E1"/>
                </a:solidFill>
              </a:defRPr>
            </a:pPr>
            <a:r>
              <a:rPr sz="975">
                <a:solidFill>
                  <a:srgbClr val="CBD5E1"/>
                </a:solidFill>
              </a:rPr>
              <a:t>서비스 범위와 운영 정책 변경으로 품질 흔들림</a:t>
            </a:r>
          </a:p>
        </p:txBody>
      </p:sp>
      <p:sp>
        <p:nvSpPr>
          <p:cNvPr id="32" name="risk-response-5">
            <a:extLst xmlns:a="http://schemas.openxmlformats.org/drawingml/2006/main">
              <a:ext uri="{FF2B5EF4-FFF2-40B4-BE49-F238E27FC236}">
                <a16:creationId xmlns:a16="http://schemas.microsoft.com/office/drawing/2014/main" id="{20A39B6F-A07E-46FB-9386-330939B01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94347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영향도 검토 후 반영·보류 결정</a:t>
            </a:r>
          </a:p>
        </p:txBody>
      </p:sp>
      <p:sp>
        <p:nvSpPr>
          <p:cNvPr id="33" name="process-title">
            <a:extLst xmlns:a="http://schemas.openxmlformats.org/drawingml/2006/main">
              <a:ext uri="{FF2B5EF4-FFF2-40B4-BE49-F238E27FC236}">
                <a16:creationId xmlns:a16="http://schemas.microsoft.com/office/drawing/2014/main" id="{4D3B033C-EB40-48EF-B395-7CED2BDFC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526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대응 프로세스</a:t>
            </a:r>
          </a:p>
        </p:txBody>
      </p:sp>
      <p:sp>
        <p:nvSpPr>
          <p:cNvPr id="34" name="process-note">
            <a:extLst xmlns:a="http://schemas.openxmlformats.org/drawingml/2006/main">
              <a:ext uri="{FF2B5EF4-FFF2-40B4-BE49-F238E27FC236}">
                <a16:creationId xmlns:a16="http://schemas.microsoft.com/office/drawing/2014/main" id="{66BADF33-9E3E-4A66-9978-56BA19148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8097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94A3B8"/>
                </a:solidFill>
              </a:defRPr>
            </a:pPr>
            <a:r>
              <a:rPr sz="975">
                <a:solidFill>
                  <a:srgbClr val="94A3B8"/>
                </a:solidFill>
              </a:rPr>
              <a:t>먼저 분류·담당을 잡습니다.</a:t>
            </a:r>
          </a:p>
        </p:txBody>
      </p:sp>
      <p:sp>
        <p:nvSpPr>
          <p:cNvPr id="35" name="process-step-1">
            <a:extLst xmlns:a="http://schemas.openxmlformats.org/drawingml/2006/main">
              <a:ext uri="{FF2B5EF4-FFF2-40B4-BE49-F238E27FC236}">
                <a16:creationId xmlns:a16="http://schemas.microsoft.com/office/drawing/2014/main" id="{D84FC7D3-3BBC-444D-AE87-B720546C6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47900"/>
            <a:ext cx="3714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F3B55"/>
            </a:solidFill>
            <a:prstDash val="solid"/>
          </a:ln>
        </p:spPr>
      </p:sp>
      <p:sp>
        <p:nvSpPr>
          <p:cNvPr id="36" name="process-step-bar-1">
            <a:extLst xmlns:a="http://schemas.openxmlformats.org/drawingml/2006/main">
              <a:ext uri="{FF2B5EF4-FFF2-40B4-BE49-F238E27FC236}">
                <a16:creationId xmlns:a16="http://schemas.microsoft.com/office/drawing/2014/main" id="{975402FD-B16D-437F-A995-9331663CA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4790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0">
            <a:solidFill>
              <a:srgbClr val="00B8D9"/>
            </a:solidFill>
            <a:prstDash val="solid"/>
          </a:ln>
        </p:spPr>
      </p:sp>
      <p:sp>
        <p:nvSpPr>
          <p:cNvPr id="37" name="process-step-no-1">
            <a:extLst xmlns:a="http://schemas.openxmlformats.org/drawingml/2006/main">
              <a:ext uri="{FF2B5EF4-FFF2-40B4-BE49-F238E27FC236}">
                <a16:creationId xmlns:a16="http://schemas.microsoft.com/office/drawing/2014/main" id="{1A91AC8C-EAE6-48BF-B74B-54C1D0EDE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419350"/>
            <a:ext cx="5524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6111F"/>
                </a:solidFill>
              </a:defRPr>
            </a:pPr>
            <a:r>
              <a:rPr sz="1125" b="1">
                <a:solidFill>
                  <a:srgbClr val="06111F"/>
                </a:solidFill>
              </a:rPr>
              <a:t>01</a:t>
            </a:r>
          </a:p>
        </p:txBody>
      </p:sp>
      <p:sp>
        <p:nvSpPr>
          <p:cNvPr id="38" name="process-step-title-1">
            <a:extLst xmlns:a="http://schemas.openxmlformats.org/drawingml/2006/main">
              <a:ext uri="{FF2B5EF4-FFF2-40B4-BE49-F238E27FC236}">
                <a16:creationId xmlns:a16="http://schemas.microsoft.com/office/drawing/2014/main" id="{C309C938-4C52-4294-9559-9275ED9E0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622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이슈 등록</a:t>
            </a:r>
          </a:p>
        </p:txBody>
      </p:sp>
      <p:sp>
        <p:nvSpPr>
          <p:cNvPr id="39" name="process-step-body-1">
            <a:extLst xmlns:a="http://schemas.openxmlformats.org/drawingml/2006/main">
              <a:ext uri="{FF2B5EF4-FFF2-40B4-BE49-F238E27FC236}">
                <a16:creationId xmlns:a16="http://schemas.microsoft.com/office/drawing/2014/main" id="{5ACBBB59-5018-4DF1-A833-DDC5F6F65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193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CBD5E1"/>
                </a:solidFill>
              </a:defRPr>
            </a:pPr>
            <a:r>
              <a:rPr sz="938">
                <a:solidFill>
                  <a:srgbClr val="CBD5E1"/>
                </a:solidFill>
              </a:rPr>
              <a:t>일정·빌드·QA·퍼블리셔 항목 분류</a:t>
            </a:r>
          </a:p>
        </p:txBody>
      </p:sp>
      <p:sp>
        <p:nvSpPr>
          <p:cNvPr id="40" name="process-step-2">
            <a:extLst xmlns:a="http://schemas.openxmlformats.org/drawingml/2006/main">
              <a:ext uri="{FF2B5EF4-FFF2-40B4-BE49-F238E27FC236}">
                <a16:creationId xmlns:a16="http://schemas.microsoft.com/office/drawing/2014/main" id="{77F098CB-3A57-4FBA-9AC9-B5E1DE16F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67050"/>
            <a:ext cx="3714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F3B55"/>
            </a:solidFill>
            <a:prstDash val="solid"/>
          </a:ln>
        </p:spPr>
      </p:sp>
      <p:sp>
        <p:nvSpPr>
          <p:cNvPr id="41" name="process-step-bar-2">
            <a:extLst xmlns:a="http://schemas.openxmlformats.org/drawingml/2006/main">
              <a:ext uri="{FF2B5EF4-FFF2-40B4-BE49-F238E27FC236}">
                <a16:creationId xmlns:a16="http://schemas.microsoft.com/office/drawing/2014/main" id="{791B40FB-0717-4087-B151-27DD8820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6705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42" name="process-step-no-2">
            <a:extLst xmlns:a="http://schemas.openxmlformats.org/drawingml/2006/main">
              <a:ext uri="{FF2B5EF4-FFF2-40B4-BE49-F238E27FC236}">
                <a16:creationId xmlns:a16="http://schemas.microsoft.com/office/drawing/2014/main" id="{C26FB469-E7FC-4B3B-92FC-534E9FDE4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238500"/>
            <a:ext cx="5524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43" name="process-step-title-2">
            <a:extLst xmlns:a="http://schemas.openxmlformats.org/drawingml/2006/main">
              <a:ext uri="{FF2B5EF4-FFF2-40B4-BE49-F238E27FC236}">
                <a16:creationId xmlns:a16="http://schemas.microsoft.com/office/drawing/2014/main" id="{A356D546-169B-4D68-8343-C39384A63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813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영향도 판단</a:t>
            </a:r>
          </a:p>
        </p:txBody>
      </p:sp>
      <p:sp>
        <p:nvSpPr>
          <p:cNvPr id="44" name="process-step-body-2">
            <a:extLst xmlns:a="http://schemas.openxmlformats.org/drawingml/2006/main">
              <a:ext uri="{FF2B5EF4-FFF2-40B4-BE49-F238E27FC236}">
                <a16:creationId xmlns:a16="http://schemas.microsoft.com/office/drawing/2014/main" id="{5F9746E8-0C96-466B-8FF7-BFF23F132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4385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CBD5E1"/>
                </a:solidFill>
              </a:defRPr>
            </a:pPr>
            <a:r>
              <a:rPr sz="938">
                <a:solidFill>
                  <a:srgbClr val="CBD5E1"/>
                </a:solidFill>
              </a:rPr>
              <a:t>일정·범위·품질 영향도 확인</a:t>
            </a:r>
          </a:p>
        </p:txBody>
      </p:sp>
      <p:sp>
        <p:nvSpPr>
          <p:cNvPr id="45" name="process-step-3">
            <a:extLst xmlns:a="http://schemas.openxmlformats.org/drawingml/2006/main">
              <a:ext uri="{FF2B5EF4-FFF2-40B4-BE49-F238E27FC236}">
                <a16:creationId xmlns:a16="http://schemas.microsoft.com/office/drawing/2014/main" id="{E358508B-E4CF-4627-AC82-A084FC17A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86200"/>
            <a:ext cx="3714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F3B55"/>
            </a:solidFill>
            <a:prstDash val="solid"/>
          </a:ln>
        </p:spPr>
      </p:sp>
      <p:sp>
        <p:nvSpPr>
          <p:cNvPr id="46" name="process-step-bar-3">
            <a:extLst xmlns:a="http://schemas.openxmlformats.org/drawingml/2006/main">
              <a:ext uri="{FF2B5EF4-FFF2-40B4-BE49-F238E27FC236}">
                <a16:creationId xmlns:a16="http://schemas.microsoft.com/office/drawing/2014/main" id="{CB5DA6A3-E6C7-4E6F-B3F6-6AC8A1925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8620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47" name="process-step-no-3">
            <a:extLst xmlns:a="http://schemas.openxmlformats.org/drawingml/2006/main">
              <a:ext uri="{FF2B5EF4-FFF2-40B4-BE49-F238E27FC236}">
                <a16:creationId xmlns:a16="http://schemas.microsoft.com/office/drawing/2014/main" id="{5C7C69AC-DFE3-46C2-B5F9-9B7E800C2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057650"/>
            <a:ext cx="5524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48" name="process-step-title-3">
            <a:extLst xmlns:a="http://schemas.openxmlformats.org/drawingml/2006/main">
              <a:ext uri="{FF2B5EF4-FFF2-40B4-BE49-F238E27FC236}">
                <a16:creationId xmlns:a16="http://schemas.microsoft.com/office/drawing/2014/main" id="{2D143EB5-D82B-482C-82EE-483B0C871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000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담당·기한 지정</a:t>
            </a:r>
          </a:p>
        </p:txBody>
      </p:sp>
      <p:sp>
        <p:nvSpPr>
          <p:cNvPr id="49" name="process-step-body-3">
            <a:extLst xmlns:a="http://schemas.openxmlformats.org/drawingml/2006/main">
              <a:ext uri="{FF2B5EF4-FFF2-40B4-BE49-F238E27FC236}">
                <a16:creationId xmlns:a16="http://schemas.microsoft.com/office/drawing/2014/main" id="{7AFD1F56-E357-498A-8C5F-32011BD3E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2576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CBD5E1"/>
                </a:solidFill>
              </a:defRPr>
            </a:pPr>
            <a:r>
              <a:rPr sz="938">
                <a:solidFill>
                  <a:srgbClr val="CBD5E1"/>
                </a:solidFill>
              </a:rPr>
              <a:t>개발·QA·퍼블리셔 담당 확정</a:t>
            </a:r>
          </a:p>
        </p:txBody>
      </p:sp>
      <p:sp>
        <p:nvSpPr>
          <p:cNvPr id="50" name="process-step-4">
            <a:extLst xmlns:a="http://schemas.openxmlformats.org/drawingml/2006/main">
              <a:ext uri="{FF2B5EF4-FFF2-40B4-BE49-F238E27FC236}">
                <a16:creationId xmlns:a16="http://schemas.microsoft.com/office/drawing/2014/main" id="{E123EEFC-7596-4EC4-8B9C-3F6B3D962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705350"/>
            <a:ext cx="3714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F3B55"/>
            </a:solidFill>
            <a:prstDash val="solid"/>
          </a:ln>
        </p:spPr>
      </p:sp>
      <p:sp>
        <p:nvSpPr>
          <p:cNvPr id="51" name="process-step-bar-4">
            <a:extLst xmlns:a="http://schemas.openxmlformats.org/drawingml/2006/main">
              <a:ext uri="{FF2B5EF4-FFF2-40B4-BE49-F238E27FC236}">
                <a16:creationId xmlns:a16="http://schemas.microsoft.com/office/drawing/2014/main" id="{D043167F-9B33-4460-BB2A-7C816C0F0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70535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D9E8"/>
          </a:solidFill>
          <a:ln xmlns:a="http://schemas.openxmlformats.org/drawingml/2006/main" w="0">
            <a:solidFill>
              <a:srgbClr val="8BD9E8"/>
            </a:solidFill>
            <a:prstDash val="solid"/>
          </a:ln>
        </p:spPr>
      </p:sp>
      <p:sp>
        <p:nvSpPr>
          <p:cNvPr id="52" name="process-step-no-4">
            <a:extLst xmlns:a="http://schemas.openxmlformats.org/drawingml/2006/main">
              <a:ext uri="{FF2B5EF4-FFF2-40B4-BE49-F238E27FC236}">
                <a16:creationId xmlns:a16="http://schemas.microsoft.com/office/drawing/2014/main" id="{0DFF67E8-603C-43F3-994E-6FCA7726A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876800"/>
            <a:ext cx="5524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8BD9E8"/>
          </a:solidFill>
          <a:ln xmlns:a="http://schemas.openxmlformats.org/drawingml/2006/main" w="9525">
            <a:solidFill>
              <a:srgbClr val="8BD9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53" name="process-step-title-4">
            <a:extLst xmlns:a="http://schemas.openxmlformats.org/drawingml/2006/main">
              <a:ext uri="{FF2B5EF4-FFF2-40B4-BE49-F238E27FC236}">
                <a16:creationId xmlns:a16="http://schemas.microsoft.com/office/drawing/2014/main" id="{A40D73F8-2FBE-41E2-8436-E09715005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8196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마일스톤 재판정</a:t>
            </a:r>
          </a:p>
        </p:txBody>
      </p:sp>
      <p:sp>
        <p:nvSpPr>
          <p:cNvPr id="54" name="process-step-body-4">
            <a:extLst xmlns:a="http://schemas.openxmlformats.org/drawingml/2006/main">
              <a:ext uri="{FF2B5EF4-FFF2-40B4-BE49-F238E27FC236}">
                <a16:creationId xmlns:a16="http://schemas.microsoft.com/office/drawing/2014/main" id="{4402F9E0-E585-4E00-A937-1655D9F87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0768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CBD5E1"/>
                </a:solidFill>
              </a:defRPr>
            </a:pPr>
            <a:r>
              <a:rPr sz="938">
                <a:solidFill>
                  <a:srgbClr val="CBD5E1"/>
                </a:solidFill>
              </a:rPr>
              <a:t>해결·보류·제외 기준 정리</a:t>
            </a:r>
          </a:p>
        </p:txBody>
      </p:sp>
      <p:sp>
        <p:nvSpPr>
          <p:cNvPr id="55" name="risk-principle-panel">
            <a:extLst xmlns:a="http://schemas.openxmlformats.org/drawingml/2006/main">
              <a:ext uri="{FF2B5EF4-FFF2-40B4-BE49-F238E27FC236}">
                <a16:creationId xmlns:a16="http://schemas.microsoft.com/office/drawing/2014/main" id="{8A41CE75-F7B5-4EF0-855E-2760BE776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91200"/>
            <a:ext cx="108775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0192E"/>
          </a:solidFill>
          <a:ln xmlns:a="http://schemas.openxmlformats.org/drawingml/2006/main" w="9525">
            <a:solidFill>
              <a:srgbClr val="22304E"/>
            </a:solidFill>
            <a:prstDash val="solid"/>
          </a:ln>
        </p:spPr>
      </p:sp>
      <p:sp>
        <p:nvSpPr>
          <p:cNvPr id="56" name="risk-principle-label">
            <a:extLst xmlns:a="http://schemas.openxmlformats.org/drawingml/2006/main">
              <a:ext uri="{FF2B5EF4-FFF2-40B4-BE49-F238E27FC236}">
                <a16:creationId xmlns:a16="http://schemas.microsoft.com/office/drawing/2014/main" id="{8E4DB6C8-9E79-4DDC-B7F9-5A868A7C0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BD9E8"/>
                </a:solidFill>
              </a:defRPr>
            </a:pPr>
            <a:r>
              <a:rPr sz="1200" b="1">
                <a:solidFill>
                  <a:srgbClr val="8BD9E8"/>
                </a:solidFill>
              </a:rPr>
              <a:t>PM 역할</a:t>
            </a:r>
          </a:p>
        </p:txBody>
      </p:sp>
      <p:sp>
        <p:nvSpPr>
          <p:cNvPr id="57" name="risk-principle-body">
            <a:extLst xmlns:a="http://schemas.openxmlformats.org/drawingml/2006/main">
              <a:ext uri="{FF2B5EF4-FFF2-40B4-BE49-F238E27FC236}">
                <a16:creationId xmlns:a16="http://schemas.microsoft.com/office/drawing/2014/main" id="{A5A08EB5-40BE-45F6-A5BC-4CF42FBC9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90550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FFFFFF"/>
                </a:solidFill>
              </a:defRPr>
            </a:pPr>
            <a:r>
              <a:rPr sz="1125">
                <a:solidFill>
                  <a:srgbClr val="FFFFFF"/>
                </a:solidFill>
              </a:rPr>
              <a:t>리스크를 직접 해결하기보다, 일정·버전·이슈를 의사결정 가능한 상태로 정리하는 것이 핵심입니다.</a:t>
            </a:r>
          </a:p>
        </p:txBody>
      </p:sp>
    </p:spTree>
    <p:extLst>
      <p:ext uri="{BB962C8B-B14F-4D97-AF65-F5344CB8AC3E}">
        <p14:creationId xmlns:p14="http://schemas.microsoft.com/office/powerpoint/2010/main" val="15859929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accent">
            <a:extLst xmlns:a="http://schemas.openxmlformats.org/drawingml/2006/main">
              <a:ext uri="{FF2B5EF4-FFF2-40B4-BE49-F238E27FC236}">
                <a16:creationId xmlns:a16="http://schemas.microsoft.com/office/drawing/2014/main" id="{B7BA4F86-DBBD-44B3-8F3B-AE93607A7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0">
            <a:solidFill>
              <a:srgbClr val="00B8D9"/>
            </a:solidFill>
            <a:prstDash val="solid"/>
          </a:ln>
        </p:spPr>
      </p:sp>
      <p:sp>
        <p:nvSpPr>
          <p:cNvPr id="2" name="left-accent">
            <a:extLst xmlns:a="http://schemas.openxmlformats.org/drawingml/2006/main">
              <a:ext uri="{FF2B5EF4-FFF2-40B4-BE49-F238E27FC236}">
                <a16:creationId xmlns:a16="http://schemas.microsoft.com/office/drawing/2014/main" id="{910F5FF8-B253-4829-B9D2-116A61DA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434F399A-641F-4544-A9A0-6E74FD9C4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8BD9E8"/>
                </a:solidFill>
              </a:defRPr>
            </a:pPr>
            <a:r>
              <a:rPr sz="1125" b="1">
                <a:solidFill>
                  <a:srgbClr val="8BD9E8"/>
                </a:solidFill>
              </a:rPr>
              <a:t>PUBLISHER COMMUNICATION | PAGE 05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7E4EAC49-BEFC-4A76-91D6-F3804E042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94A3B8"/>
                </a:solidFill>
              </a:defRPr>
            </a:pPr>
            <a:r>
              <a:rPr sz="1125">
                <a:solidFill>
                  <a:srgbClr val="94A3B8"/>
                </a:solidFill>
              </a:rPr>
              <a:t>HIT2 일본 서비스 런칭 6개월 전 로드맵</a:t>
            </a:r>
          </a:p>
        </p:txBody>
      </p:sp>
      <p:sp>
        <p:nvSpPr>
          <p:cNvPr id="5" name="page-no">
            <a:extLst xmlns:a="http://schemas.openxmlformats.org/drawingml/2006/main">
              <a:ext uri="{FF2B5EF4-FFF2-40B4-BE49-F238E27FC236}">
                <a16:creationId xmlns:a16="http://schemas.microsoft.com/office/drawing/2014/main" id="{87A98F15-45C6-47D1-A421-7CDEA26A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94A3B8"/>
                </a:solidFill>
              </a:defRPr>
            </a:pPr>
            <a:r>
              <a:rPr sz="1200" b="1">
                <a:solidFill>
                  <a:srgbClr val="94A3B8"/>
                </a:solidFill>
              </a:rPr>
              <a:t>05</a:t>
            </a:r>
          </a:p>
        </p:txBody>
      </p:sp>
      <p:sp>
        <p:nvSpPr>
          <p:cNvPr id="6" name="title-05">
            <a:extLst xmlns:a="http://schemas.openxmlformats.org/drawingml/2006/main">
              <a:ext uri="{FF2B5EF4-FFF2-40B4-BE49-F238E27FC236}">
                <a16:creationId xmlns:a16="http://schemas.microsoft.com/office/drawing/2014/main" id="{9F27C330-965A-4321-921A-E648A1815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퍼블리셔 대응은 일정·버전·이슈 기준을 하나로 맞춰 운영합니다</a:t>
            </a:r>
          </a:p>
        </p:txBody>
      </p:sp>
      <p:sp>
        <p:nvSpPr>
          <p:cNvPr id="7" name="subtitle-05">
            <a:extLst xmlns:a="http://schemas.openxmlformats.org/drawingml/2006/main">
              <a:ext uri="{FF2B5EF4-FFF2-40B4-BE49-F238E27FC236}">
                <a16:creationId xmlns:a16="http://schemas.microsoft.com/office/drawing/2014/main" id="{F42A4B53-51A2-44E7-BDC7-B04363D69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CBD5E1"/>
                </a:solidFill>
              </a:defRPr>
            </a:pPr>
            <a:r>
              <a:rPr sz="1275">
                <a:solidFill>
                  <a:srgbClr val="CBD5E1"/>
                </a:solidFill>
              </a:rPr>
              <a:t>한·일 협업 구간에서는 요청과 피드백을 분리하지 않고, 마일스톤 판단에 필요한 상태값으로 정리해야 합니다.</a:t>
            </a:r>
          </a:p>
        </p:txBody>
      </p:sp>
      <p:sp>
        <p:nvSpPr>
          <p:cNvPr id="8" name="stakeholder-title">
            <a:extLst xmlns:a="http://schemas.openxmlformats.org/drawingml/2006/main">
              <a:ext uri="{FF2B5EF4-FFF2-40B4-BE49-F238E27FC236}">
                <a16:creationId xmlns:a16="http://schemas.microsoft.com/office/drawing/2014/main" id="{BB039524-B0BA-4303-94DF-43A09A7B2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협업 대상</a:t>
            </a:r>
          </a:p>
        </p:txBody>
      </p:sp>
      <p:sp>
        <p:nvSpPr>
          <p:cNvPr id="9" name="stakeholder-note">
            <a:extLst xmlns:a="http://schemas.openxmlformats.org/drawingml/2006/main">
              <a:ext uri="{FF2B5EF4-FFF2-40B4-BE49-F238E27FC236}">
                <a16:creationId xmlns:a16="http://schemas.microsoft.com/office/drawing/2014/main" id="{995B5933-AFD9-4CC6-83ED-7E2B21750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8097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94A3B8"/>
                </a:solidFill>
              </a:defRPr>
            </a:pPr>
            <a:r>
              <a:rPr sz="975">
                <a:solidFill>
                  <a:srgbClr val="94A3B8"/>
                </a:solidFill>
              </a:rPr>
              <a:t>역할별 확인 기준을 고정해 커뮤니케이션 누락을 줄입니다.</a:t>
            </a:r>
          </a:p>
        </p:txBody>
      </p:sp>
      <p:sp>
        <p:nvSpPr>
          <p:cNvPr id="10" name="stakeholder-card-1">
            <a:extLst xmlns:a="http://schemas.openxmlformats.org/drawingml/2006/main">
              <a:ext uri="{FF2B5EF4-FFF2-40B4-BE49-F238E27FC236}">
                <a16:creationId xmlns:a16="http://schemas.microsoft.com/office/drawing/2014/main" id="{30CB89A1-37A1-425E-84B0-C44AF567B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52650"/>
            <a:ext cx="1238250" cy="108585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F3B55"/>
            </a:solidFill>
            <a:prstDash val="solid"/>
          </a:ln>
        </p:spPr>
      </p:sp>
      <p:sp>
        <p:nvSpPr>
          <p:cNvPr id="11" name="stakeholder-bar-1">
            <a:extLst xmlns:a="http://schemas.openxmlformats.org/drawingml/2006/main">
              <a:ext uri="{FF2B5EF4-FFF2-40B4-BE49-F238E27FC236}">
                <a16:creationId xmlns:a16="http://schemas.microsoft.com/office/drawing/2014/main" id="{5710F474-3D2F-4BA2-B183-594F2A439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52650"/>
            <a:ext cx="1238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0">
            <a:solidFill>
              <a:srgbClr val="00B8D9"/>
            </a:solidFill>
            <a:prstDash val="solid"/>
          </a:ln>
        </p:spPr>
      </p:sp>
      <p:sp>
        <p:nvSpPr>
          <p:cNvPr id="12" name="stakeholder-role-1">
            <a:extLst xmlns:a="http://schemas.openxmlformats.org/drawingml/2006/main">
              <a:ext uri="{FF2B5EF4-FFF2-40B4-BE49-F238E27FC236}">
                <a16:creationId xmlns:a16="http://schemas.microsoft.com/office/drawing/2014/main" id="{E58C1E39-8073-46C0-8F70-39203CB26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81250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개발 PM</a:t>
            </a:r>
          </a:p>
        </p:txBody>
      </p:sp>
      <p:sp>
        <p:nvSpPr>
          <p:cNvPr id="13" name="stakeholder-focus-1">
            <a:extLst xmlns:a="http://schemas.openxmlformats.org/drawingml/2006/main">
              <a:ext uri="{FF2B5EF4-FFF2-40B4-BE49-F238E27FC236}">
                <a16:creationId xmlns:a16="http://schemas.microsoft.com/office/drawing/2014/main" id="{1BA09A18-8DC4-415C-ABEF-8C9AA15E9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05100"/>
            <a:ext cx="1009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>
                <a:solidFill>
                  <a:srgbClr val="CBD5E1"/>
                </a:solidFill>
              </a:defRPr>
            </a:pPr>
            <a:r>
              <a:rPr sz="863">
                <a:solidFill>
                  <a:srgbClr val="CBD5E1"/>
                </a:solidFill>
              </a:rPr>
              <a:t>일정·범위 통제</a:t>
            </a:r>
          </a:p>
          <a:p xmlns:a="http://schemas.openxmlformats.org/drawingml/2006/main">
            <a:pPr algn="ctr">
              <a:defRPr sz="863">
                <a:solidFill>
                  <a:srgbClr val="CBD5E1"/>
                </a:solidFill>
              </a:defRPr>
            </a:pPr>
            <a:r>
              <a:rPr sz="863">
                <a:solidFill>
                  <a:srgbClr val="CBD5E1"/>
                </a:solidFill>
              </a:rPr>
              <a:t>이슈 우선순위</a:t>
            </a:r>
          </a:p>
        </p:txBody>
      </p:sp>
      <p:sp>
        <p:nvSpPr>
          <p:cNvPr id="14" name="stakeholder-card-2">
            <a:extLst xmlns:a="http://schemas.openxmlformats.org/drawingml/2006/main">
              <a:ext uri="{FF2B5EF4-FFF2-40B4-BE49-F238E27FC236}">
                <a16:creationId xmlns:a16="http://schemas.microsoft.com/office/drawing/2014/main" id="{55A9FF6F-E5D7-405A-BAD6-761A198FF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152650"/>
            <a:ext cx="1238250" cy="108585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F3B55"/>
            </a:solidFill>
            <a:prstDash val="solid"/>
          </a:ln>
        </p:spPr>
      </p:sp>
      <p:sp>
        <p:nvSpPr>
          <p:cNvPr id="15" name="stakeholder-bar-2">
            <a:extLst xmlns:a="http://schemas.openxmlformats.org/drawingml/2006/main">
              <a:ext uri="{FF2B5EF4-FFF2-40B4-BE49-F238E27FC236}">
                <a16:creationId xmlns:a16="http://schemas.microsoft.com/office/drawing/2014/main" id="{3C83B317-4798-478C-94CD-3D55BD167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152650"/>
            <a:ext cx="1238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16" name="stakeholder-role-2">
            <a:extLst xmlns:a="http://schemas.openxmlformats.org/drawingml/2006/main">
              <a:ext uri="{FF2B5EF4-FFF2-40B4-BE49-F238E27FC236}">
                <a16:creationId xmlns:a16="http://schemas.microsoft.com/office/drawing/2014/main" id="{0F7AFAA3-64B6-40D5-AAB8-7875BD7C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381250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개발</a:t>
            </a:r>
          </a:p>
        </p:txBody>
      </p:sp>
      <p:sp>
        <p:nvSpPr>
          <p:cNvPr id="17" name="stakeholder-focus-2">
            <a:extLst xmlns:a="http://schemas.openxmlformats.org/drawingml/2006/main">
              <a:ext uri="{FF2B5EF4-FFF2-40B4-BE49-F238E27FC236}">
                <a16:creationId xmlns:a16="http://schemas.microsoft.com/office/drawing/2014/main" id="{DB4DDB17-419F-43A3-B9A3-A47B439BC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705100"/>
            <a:ext cx="1009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>
                <a:solidFill>
                  <a:srgbClr val="CBD5E1"/>
                </a:solidFill>
              </a:defRPr>
            </a:pPr>
            <a:r>
              <a:rPr sz="863">
                <a:solidFill>
                  <a:srgbClr val="CBD5E1"/>
                </a:solidFill>
              </a:rPr>
              <a:t>빌드 반영</a:t>
            </a:r>
          </a:p>
          <a:p xmlns:a="http://schemas.openxmlformats.org/drawingml/2006/main">
            <a:pPr algn="ctr">
              <a:defRPr sz="863">
                <a:solidFill>
                  <a:srgbClr val="CBD5E1"/>
                </a:solidFill>
              </a:defRPr>
            </a:pPr>
            <a:r>
              <a:rPr sz="863">
                <a:solidFill>
                  <a:srgbClr val="CBD5E1"/>
                </a:solidFill>
              </a:rPr>
              <a:t>버전 기준 관리</a:t>
            </a:r>
          </a:p>
        </p:txBody>
      </p:sp>
      <p:sp>
        <p:nvSpPr>
          <p:cNvPr id="18" name="stakeholder-card-3">
            <a:extLst xmlns:a="http://schemas.openxmlformats.org/drawingml/2006/main">
              <a:ext uri="{FF2B5EF4-FFF2-40B4-BE49-F238E27FC236}">
                <a16:creationId xmlns:a16="http://schemas.microsoft.com/office/drawing/2014/main" id="{FB2DBA7E-E304-498A-B33D-6849B15DD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152650"/>
            <a:ext cx="1238250" cy="108585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F3B55"/>
            </a:solidFill>
            <a:prstDash val="solid"/>
          </a:ln>
        </p:spPr>
      </p:sp>
      <p:sp>
        <p:nvSpPr>
          <p:cNvPr id="19" name="stakeholder-bar-3">
            <a:extLst xmlns:a="http://schemas.openxmlformats.org/drawingml/2006/main">
              <a:ext uri="{FF2B5EF4-FFF2-40B4-BE49-F238E27FC236}">
                <a16:creationId xmlns:a16="http://schemas.microsoft.com/office/drawing/2014/main" id="{2E993D69-DA78-4141-9FB7-EA686C2EC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152650"/>
            <a:ext cx="1238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20" name="stakeholder-role-3">
            <a:extLst xmlns:a="http://schemas.openxmlformats.org/drawingml/2006/main">
              <a:ext uri="{FF2B5EF4-FFF2-40B4-BE49-F238E27FC236}">
                <a16:creationId xmlns:a16="http://schemas.microsoft.com/office/drawing/2014/main" id="{8046A7E3-EE16-4A6A-A344-ABE7A5FEB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81250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QA</a:t>
            </a:r>
          </a:p>
        </p:txBody>
      </p:sp>
      <p:sp>
        <p:nvSpPr>
          <p:cNvPr id="21" name="stakeholder-focus-3">
            <a:extLst xmlns:a="http://schemas.openxmlformats.org/drawingml/2006/main">
              <a:ext uri="{FF2B5EF4-FFF2-40B4-BE49-F238E27FC236}">
                <a16:creationId xmlns:a16="http://schemas.microsoft.com/office/drawing/2014/main" id="{127F3C56-D712-4523-8EE3-C60F3AFDD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705100"/>
            <a:ext cx="1009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>
                <a:solidFill>
                  <a:srgbClr val="CBD5E1"/>
                </a:solidFill>
              </a:defRPr>
            </a:pPr>
            <a:r>
              <a:rPr sz="863">
                <a:solidFill>
                  <a:srgbClr val="CBD5E1"/>
                </a:solidFill>
              </a:rPr>
              <a:t>검수 결과</a:t>
            </a:r>
          </a:p>
          <a:p xmlns:a="http://schemas.openxmlformats.org/drawingml/2006/main">
            <a:pPr algn="ctr">
              <a:defRPr sz="863">
                <a:solidFill>
                  <a:srgbClr val="CBD5E1"/>
                </a:solidFill>
              </a:defRPr>
            </a:pPr>
            <a:r>
              <a:rPr sz="863">
                <a:solidFill>
                  <a:srgbClr val="CBD5E1"/>
                </a:solidFill>
              </a:rPr>
              <a:t>수정 반영 추적</a:t>
            </a:r>
          </a:p>
        </p:txBody>
      </p:sp>
      <p:sp>
        <p:nvSpPr>
          <p:cNvPr id="22" name="stakeholder-card-4">
            <a:extLst xmlns:a="http://schemas.openxmlformats.org/drawingml/2006/main">
              <a:ext uri="{FF2B5EF4-FFF2-40B4-BE49-F238E27FC236}">
                <a16:creationId xmlns:a16="http://schemas.microsoft.com/office/drawing/2014/main" id="{4704B625-7F60-4CB5-B706-E2B6A0819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152650"/>
            <a:ext cx="1238250" cy="108585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F3B55"/>
            </a:solidFill>
            <a:prstDash val="solid"/>
          </a:ln>
        </p:spPr>
      </p:sp>
      <p:sp>
        <p:nvSpPr>
          <p:cNvPr id="23" name="stakeholder-bar-4">
            <a:extLst xmlns:a="http://schemas.openxmlformats.org/drawingml/2006/main">
              <a:ext uri="{FF2B5EF4-FFF2-40B4-BE49-F238E27FC236}">
                <a16:creationId xmlns:a16="http://schemas.microsoft.com/office/drawing/2014/main" id="{BE3A2CD2-1545-44B2-B207-C724A1CFC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152650"/>
            <a:ext cx="1238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D9E8"/>
          </a:solidFill>
          <a:ln xmlns:a="http://schemas.openxmlformats.org/drawingml/2006/main" w="0">
            <a:solidFill>
              <a:srgbClr val="8BD9E8"/>
            </a:solidFill>
            <a:prstDash val="solid"/>
          </a:ln>
        </p:spPr>
      </p:sp>
      <p:sp>
        <p:nvSpPr>
          <p:cNvPr id="24" name="stakeholder-role-4">
            <a:extLst xmlns:a="http://schemas.openxmlformats.org/drawingml/2006/main">
              <a:ext uri="{FF2B5EF4-FFF2-40B4-BE49-F238E27FC236}">
                <a16:creationId xmlns:a16="http://schemas.microsoft.com/office/drawing/2014/main" id="{C106AAC2-0958-4A6C-9E24-FCDE2C5EC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381250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운영</a:t>
            </a:r>
          </a:p>
        </p:txBody>
      </p:sp>
      <p:sp>
        <p:nvSpPr>
          <p:cNvPr id="25" name="stakeholder-focus-4">
            <a:extLst xmlns:a="http://schemas.openxmlformats.org/drawingml/2006/main">
              <a:ext uri="{FF2B5EF4-FFF2-40B4-BE49-F238E27FC236}">
                <a16:creationId xmlns:a16="http://schemas.microsoft.com/office/drawing/2014/main" id="{A7D1A309-BB68-4F37-947D-7006DB011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705100"/>
            <a:ext cx="1009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>
                <a:solidFill>
                  <a:srgbClr val="CBD5E1"/>
                </a:solidFill>
              </a:defRPr>
            </a:pPr>
            <a:r>
              <a:rPr sz="863">
                <a:solidFill>
                  <a:srgbClr val="CBD5E1"/>
                </a:solidFill>
              </a:rPr>
              <a:t>공지·이벤트</a:t>
            </a:r>
          </a:p>
          <a:p xmlns:a="http://schemas.openxmlformats.org/drawingml/2006/main">
            <a:pPr algn="ctr">
              <a:defRPr sz="863">
                <a:solidFill>
                  <a:srgbClr val="CBD5E1"/>
                </a:solidFill>
              </a:defRPr>
            </a:pPr>
            <a:r>
              <a:rPr sz="863">
                <a:solidFill>
                  <a:srgbClr val="CBD5E1"/>
                </a:solidFill>
              </a:rPr>
              <a:t>Live 준비</a:t>
            </a:r>
          </a:p>
        </p:txBody>
      </p:sp>
      <p:sp>
        <p:nvSpPr>
          <p:cNvPr id="26" name="stakeholder-card-5">
            <a:extLst xmlns:a="http://schemas.openxmlformats.org/drawingml/2006/main">
              <a:ext uri="{FF2B5EF4-FFF2-40B4-BE49-F238E27FC236}">
                <a16:creationId xmlns:a16="http://schemas.microsoft.com/office/drawing/2014/main" id="{650767C8-280B-4DF5-ABAC-728595E18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52650"/>
            <a:ext cx="1238250" cy="108585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F3B55"/>
            </a:solidFill>
            <a:prstDash val="solid"/>
          </a:ln>
        </p:spPr>
      </p:sp>
      <p:sp>
        <p:nvSpPr>
          <p:cNvPr id="27" name="stakeholder-bar-5">
            <a:extLst xmlns:a="http://schemas.openxmlformats.org/drawingml/2006/main">
              <a:ext uri="{FF2B5EF4-FFF2-40B4-BE49-F238E27FC236}">
                <a16:creationId xmlns:a16="http://schemas.microsoft.com/office/drawing/2014/main" id="{A042F7DA-D390-4E25-8659-6D7967C6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52650"/>
            <a:ext cx="1238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28" name="stakeholder-role-5">
            <a:extLst xmlns:a="http://schemas.openxmlformats.org/drawingml/2006/main">
              <a:ext uri="{FF2B5EF4-FFF2-40B4-BE49-F238E27FC236}">
                <a16:creationId xmlns:a16="http://schemas.microsoft.com/office/drawing/2014/main" id="{67609F9D-0269-4523-82B8-13FB7FCAB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81250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일본 퍼블리셔</a:t>
            </a:r>
          </a:p>
        </p:txBody>
      </p:sp>
      <p:sp>
        <p:nvSpPr>
          <p:cNvPr id="29" name="stakeholder-focus-5">
            <a:extLst xmlns:a="http://schemas.openxmlformats.org/drawingml/2006/main">
              <a:ext uri="{FF2B5EF4-FFF2-40B4-BE49-F238E27FC236}">
                <a16:creationId xmlns:a16="http://schemas.microsoft.com/office/drawing/2014/main" id="{C3D13DDE-DC85-47FF-B729-1C4A32C00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05100"/>
            <a:ext cx="1009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>
                <a:solidFill>
                  <a:srgbClr val="CBD5E1"/>
                </a:solidFill>
              </a:defRPr>
            </a:pPr>
            <a:r>
              <a:rPr sz="863">
                <a:solidFill>
                  <a:srgbClr val="CBD5E1"/>
                </a:solidFill>
              </a:rPr>
              <a:t>검수 피드백</a:t>
            </a:r>
          </a:p>
          <a:p xmlns:a="http://schemas.openxmlformats.org/drawingml/2006/main">
            <a:pPr algn="ctr">
              <a:defRPr sz="863">
                <a:solidFill>
                  <a:srgbClr val="CBD5E1"/>
                </a:solidFill>
              </a:defRPr>
            </a:pPr>
            <a:r>
              <a:rPr sz="863">
                <a:solidFill>
                  <a:srgbClr val="CBD5E1"/>
                </a:solidFill>
              </a:rPr>
              <a:t>사업 요청사항</a:t>
            </a:r>
          </a:p>
        </p:txBody>
      </p:sp>
      <p:sp>
        <p:nvSpPr>
          <p:cNvPr id="30" name="flow-title">
            <a:extLst xmlns:a="http://schemas.openxmlformats.org/drawingml/2006/main">
              <a:ext uri="{FF2B5EF4-FFF2-40B4-BE49-F238E27FC236}">
                <a16:creationId xmlns:a16="http://schemas.microsoft.com/office/drawing/2014/main" id="{1D7C9ABB-6E75-4126-A88B-6E7796036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385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주간 커뮤니케이션 흐름</a:t>
            </a:r>
          </a:p>
        </p:txBody>
      </p:sp>
      <p:sp>
        <p:nvSpPr>
          <p:cNvPr id="31" name="flow-note">
            <a:extLst xmlns:a="http://schemas.openxmlformats.org/drawingml/2006/main">
              <a:ext uri="{FF2B5EF4-FFF2-40B4-BE49-F238E27FC236}">
                <a16:creationId xmlns:a16="http://schemas.microsoft.com/office/drawing/2014/main" id="{3E7EFC4D-4179-4935-BE19-017FED4A6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69570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94A3B8"/>
                </a:solidFill>
              </a:defRPr>
            </a:pPr>
            <a:r>
              <a:rPr sz="975">
                <a:solidFill>
                  <a:srgbClr val="94A3B8"/>
                </a:solidFill>
              </a:rPr>
              <a:t>공유 목적은 보고가 아니라 다음 마일스톤 진입 가능 여부 판단입니다.</a:t>
            </a:r>
          </a:p>
        </p:txBody>
      </p:sp>
      <p:sp>
        <p:nvSpPr>
          <p:cNvPr id="32" name="collab-flow-step-1">
            <a:extLst xmlns:a="http://schemas.openxmlformats.org/drawingml/2006/main">
              <a:ext uri="{FF2B5EF4-FFF2-40B4-BE49-F238E27FC236}">
                <a16:creationId xmlns:a16="http://schemas.microsoft.com/office/drawing/2014/main" id="{DCC82B2C-6C8D-4EC1-A618-1650BAA71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19550"/>
            <a:ext cx="11620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51F34"/>
          </a:solidFill>
          <a:ln xmlns:a="http://schemas.openxmlformats.org/drawingml/2006/main" w="9525">
            <a:solidFill>
              <a:srgbClr val="2F3B55"/>
            </a:solidFill>
            <a:prstDash val="solid"/>
          </a:ln>
        </p:spPr>
      </p:sp>
      <p:sp>
        <p:nvSpPr>
          <p:cNvPr id="33" name="collab-flow-no-1">
            <a:extLst xmlns:a="http://schemas.openxmlformats.org/drawingml/2006/main">
              <a:ext uri="{FF2B5EF4-FFF2-40B4-BE49-F238E27FC236}">
                <a16:creationId xmlns:a16="http://schemas.microsoft.com/office/drawing/2014/main" id="{CD885F0B-F299-4B79-9184-20E2C2485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133850"/>
            <a:ext cx="495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6111F"/>
                </a:solidFill>
              </a:defRPr>
            </a:pPr>
            <a:r>
              <a:rPr sz="1125" b="1">
                <a:solidFill>
                  <a:srgbClr val="06111F"/>
                </a:solidFill>
              </a:rPr>
              <a:t>01</a:t>
            </a:r>
          </a:p>
        </p:txBody>
      </p:sp>
      <p:sp>
        <p:nvSpPr>
          <p:cNvPr id="34" name="collab-flow-title-1">
            <a:extLst xmlns:a="http://schemas.openxmlformats.org/drawingml/2006/main">
              <a:ext uri="{FF2B5EF4-FFF2-40B4-BE49-F238E27FC236}">
                <a16:creationId xmlns:a16="http://schemas.microsoft.com/office/drawing/2014/main" id="{BD5F008C-D4C7-4C86-9C78-E5E0A7038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48175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점검</a:t>
            </a:r>
          </a:p>
        </p:txBody>
      </p:sp>
      <p:sp>
        <p:nvSpPr>
          <p:cNvPr id="35" name="collab-flow-body-1">
            <a:extLst xmlns:a="http://schemas.openxmlformats.org/drawingml/2006/main">
              <a:ext uri="{FF2B5EF4-FFF2-40B4-BE49-F238E27FC236}">
                <a16:creationId xmlns:a16="http://schemas.microsoft.com/office/drawing/2014/main" id="{6F43E07F-4BEA-4475-B42B-F81FEA338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100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CBD5E1"/>
                </a:solidFill>
              </a:defRPr>
            </a:pPr>
            <a:r>
              <a:rPr sz="675">
                <a:solidFill>
                  <a:srgbClr val="CBD5E1"/>
                </a:solidFill>
              </a:rPr>
              <a:t>마일스톤 진행률</a:t>
            </a:r>
          </a:p>
          <a:p xmlns:a="http://schemas.openxmlformats.org/drawingml/2006/main">
            <a:pPr algn="ctr">
              <a:defRPr sz="675">
                <a:solidFill>
                  <a:srgbClr val="CBD5E1"/>
                </a:solidFill>
              </a:defRPr>
            </a:pPr>
            <a:r>
              <a:rPr sz="675">
                <a:solidFill>
                  <a:srgbClr val="CBD5E1"/>
                </a:solidFill>
              </a:rPr>
              <a:t>및 지연 항목 확인</a:t>
            </a:r>
          </a:p>
        </p:txBody>
      </p:sp>
      <p:sp>
        <p:nvSpPr>
          <p:cNvPr id="36" name="collab-flow-arrow-1">
            <a:extLst xmlns:a="http://schemas.openxmlformats.org/drawingml/2006/main">
              <a:ext uri="{FF2B5EF4-FFF2-40B4-BE49-F238E27FC236}">
                <a16:creationId xmlns:a16="http://schemas.microsoft.com/office/drawing/2014/main" id="{04E2F5D1-3AAB-43D5-AAF8-AEE8E0891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381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4A3B8"/>
                </a:solidFill>
              </a:defRPr>
            </a:pPr>
            <a:r>
              <a:rPr sz="1350" b="1">
                <a:solidFill>
                  <a:srgbClr val="94A3B8"/>
                </a:solidFill>
              </a:rPr>
              <a:t>&gt;</a:t>
            </a:r>
          </a:p>
        </p:txBody>
      </p:sp>
      <p:sp>
        <p:nvSpPr>
          <p:cNvPr id="37" name="collab-flow-step-2">
            <a:extLst xmlns:a="http://schemas.openxmlformats.org/drawingml/2006/main">
              <a:ext uri="{FF2B5EF4-FFF2-40B4-BE49-F238E27FC236}">
                <a16:creationId xmlns:a16="http://schemas.microsoft.com/office/drawing/2014/main" id="{4534EF5E-22D3-49B6-8724-2B1C1A996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019550"/>
            <a:ext cx="11620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51F34"/>
          </a:solidFill>
          <a:ln xmlns:a="http://schemas.openxmlformats.org/drawingml/2006/main" w="9525">
            <a:solidFill>
              <a:srgbClr val="2F3B55"/>
            </a:solidFill>
            <a:prstDash val="solid"/>
          </a:ln>
        </p:spPr>
      </p:sp>
      <p:sp>
        <p:nvSpPr>
          <p:cNvPr id="38" name="collab-flow-no-2">
            <a:extLst xmlns:a="http://schemas.openxmlformats.org/drawingml/2006/main">
              <a:ext uri="{FF2B5EF4-FFF2-40B4-BE49-F238E27FC236}">
                <a16:creationId xmlns:a16="http://schemas.microsoft.com/office/drawing/2014/main" id="{21E802AB-1174-467B-9A00-1313DD825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133850"/>
            <a:ext cx="495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39" name="collab-flow-title-2">
            <a:extLst xmlns:a="http://schemas.openxmlformats.org/drawingml/2006/main">
              <a:ext uri="{FF2B5EF4-FFF2-40B4-BE49-F238E27FC236}">
                <a16:creationId xmlns:a16="http://schemas.microsoft.com/office/drawing/2014/main" id="{125B3102-AE0F-4961-A1D4-B4FCDFFCB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448175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전달</a:t>
            </a:r>
          </a:p>
        </p:txBody>
      </p:sp>
      <p:sp>
        <p:nvSpPr>
          <p:cNvPr id="40" name="collab-flow-body-2">
            <a:extLst xmlns:a="http://schemas.openxmlformats.org/drawingml/2006/main">
              <a:ext uri="{FF2B5EF4-FFF2-40B4-BE49-F238E27FC236}">
                <a16:creationId xmlns:a16="http://schemas.microsoft.com/office/drawing/2014/main" id="{969C5AB7-6AA7-4A24-A123-ADD67EFA0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667250"/>
            <a:ext cx="100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CBD5E1"/>
                </a:solidFill>
              </a:defRPr>
            </a:pPr>
            <a:r>
              <a:rPr sz="675">
                <a:solidFill>
                  <a:srgbClr val="CBD5E1"/>
                </a:solidFill>
              </a:rPr>
              <a:t>Perforce 기준</a:t>
            </a:r>
          </a:p>
          <a:p xmlns:a="http://schemas.openxmlformats.org/drawingml/2006/main">
            <a:pPr algn="ctr">
              <a:defRPr sz="675">
                <a:solidFill>
                  <a:srgbClr val="CBD5E1"/>
                </a:solidFill>
              </a:defRPr>
            </a:pPr>
            <a:r>
              <a:rPr sz="675">
                <a:solidFill>
                  <a:srgbClr val="CBD5E1"/>
                </a:solidFill>
              </a:rPr>
              <a:t>빌드·버전 공유</a:t>
            </a:r>
          </a:p>
        </p:txBody>
      </p:sp>
      <p:sp>
        <p:nvSpPr>
          <p:cNvPr id="41" name="collab-flow-arrow-2">
            <a:extLst xmlns:a="http://schemas.openxmlformats.org/drawingml/2006/main">
              <a:ext uri="{FF2B5EF4-FFF2-40B4-BE49-F238E27FC236}">
                <a16:creationId xmlns:a16="http://schemas.microsoft.com/office/drawing/2014/main" id="{CB397057-51CE-45C3-B68C-1045F8853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381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4A3B8"/>
                </a:solidFill>
              </a:defRPr>
            </a:pPr>
            <a:r>
              <a:rPr sz="1350" b="1">
                <a:solidFill>
                  <a:srgbClr val="94A3B8"/>
                </a:solidFill>
              </a:rPr>
              <a:t>&gt;</a:t>
            </a:r>
          </a:p>
        </p:txBody>
      </p:sp>
      <p:sp>
        <p:nvSpPr>
          <p:cNvPr id="42" name="collab-flow-step-3">
            <a:extLst xmlns:a="http://schemas.openxmlformats.org/drawingml/2006/main">
              <a:ext uri="{FF2B5EF4-FFF2-40B4-BE49-F238E27FC236}">
                <a16:creationId xmlns:a16="http://schemas.microsoft.com/office/drawing/2014/main" id="{46847F1C-9F06-4B1B-B26A-11E3A427C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019550"/>
            <a:ext cx="11620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51F34"/>
          </a:solidFill>
          <a:ln xmlns:a="http://schemas.openxmlformats.org/drawingml/2006/main" w="9525">
            <a:solidFill>
              <a:srgbClr val="2F3B55"/>
            </a:solidFill>
            <a:prstDash val="solid"/>
          </a:ln>
        </p:spPr>
      </p:sp>
      <p:sp>
        <p:nvSpPr>
          <p:cNvPr id="43" name="collab-flow-no-3">
            <a:extLst xmlns:a="http://schemas.openxmlformats.org/drawingml/2006/main">
              <a:ext uri="{FF2B5EF4-FFF2-40B4-BE49-F238E27FC236}">
                <a16:creationId xmlns:a16="http://schemas.microsoft.com/office/drawing/2014/main" id="{82E3BDFA-930B-4DFA-8328-17C0F971D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133850"/>
            <a:ext cx="495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44" name="collab-flow-title-3">
            <a:extLst xmlns:a="http://schemas.openxmlformats.org/drawingml/2006/main">
              <a:ext uri="{FF2B5EF4-FFF2-40B4-BE49-F238E27FC236}">
                <a16:creationId xmlns:a16="http://schemas.microsoft.com/office/drawing/2014/main" id="{B466603D-8583-40EF-AFBE-5A811F0D5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448175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수집</a:t>
            </a:r>
          </a:p>
        </p:txBody>
      </p:sp>
      <p:sp>
        <p:nvSpPr>
          <p:cNvPr id="45" name="collab-flow-body-3">
            <a:extLst xmlns:a="http://schemas.openxmlformats.org/drawingml/2006/main">
              <a:ext uri="{FF2B5EF4-FFF2-40B4-BE49-F238E27FC236}">
                <a16:creationId xmlns:a16="http://schemas.microsoft.com/office/drawing/2014/main" id="{B7D66E13-894F-40AC-8DA7-31B940724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667250"/>
            <a:ext cx="100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CBD5E1"/>
                </a:solidFill>
              </a:defRPr>
            </a:pPr>
            <a:r>
              <a:rPr sz="675">
                <a:solidFill>
                  <a:srgbClr val="CBD5E1"/>
                </a:solidFill>
              </a:rPr>
              <a:t>퍼블리셔 검수</a:t>
            </a:r>
          </a:p>
          <a:p xmlns:a="http://schemas.openxmlformats.org/drawingml/2006/main">
            <a:pPr algn="ctr">
              <a:defRPr sz="675">
                <a:solidFill>
                  <a:srgbClr val="CBD5E1"/>
                </a:solidFill>
              </a:defRPr>
            </a:pPr>
            <a:r>
              <a:rPr sz="675">
                <a:solidFill>
                  <a:srgbClr val="CBD5E1"/>
                </a:solidFill>
              </a:rPr>
              <a:t>피드백 정리</a:t>
            </a:r>
          </a:p>
        </p:txBody>
      </p:sp>
      <p:sp>
        <p:nvSpPr>
          <p:cNvPr id="46" name="collab-flow-arrow-3">
            <a:extLst xmlns:a="http://schemas.openxmlformats.org/drawingml/2006/main">
              <a:ext uri="{FF2B5EF4-FFF2-40B4-BE49-F238E27FC236}">
                <a16:creationId xmlns:a16="http://schemas.microsoft.com/office/drawing/2014/main" id="{CF790700-AB9B-42EB-A2A2-CDC729A03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381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4A3B8"/>
                </a:solidFill>
              </a:defRPr>
            </a:pPr>
            <a:r>
              <a:rPr sz="1350" b="1">
                <a:solidFill>
                  <a:srgbClr val="94A3B8"/>
                </a:solidFill>
              </a:rPr>
              <a:t>&gt;</a:t>
            </a:r>
          </a:p>
        </p:txBody>
      </p:sp>
      <p:sp>
        <p:nvSpPr>
          <p:cNvPr id="47" name="collab-flow-step-4">
            <a:extLst xmlns:a="http://schemas.openxmlformats.org/drawingml/2006/main">
              <a:ext uri="{FF2B5EF4-FFF2-40B4-BE49-F238E27FC236}">
                <a16:creationId xmlns:a16="http://schemas.microsoft.com/office/drawing/2014/main" id="{5704B333-6FAB-40A1-B292-CC913E50F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019550"/>
            <a:ext cx="11620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51F34"/>
          </a:solidFill>
          <a:ln xmlns:a="http://schemas.openxmlformats.org/drawingml/2006/main" w="9525">
            <a:solidFill>
              <a:srgbClr val="2F3B55"/>
            </a:solidFill>
            <a:prstDash val="solid"/>
          </a:ln>
        </p:spPr>
      </p:sp>
      <p:sp>
        <p:nvSpPr>
          <p:cNvPr id="48" name="collab-flow-no-4">
            <a:extLst xmlns:a="http://schemas.openxmlformats.org/drawingml/2006/main">
              <a:ext uri="{FF2B5EF4-FFF2-40B4-BE49-F238E27FC236}">
                <a16:creationId xmlns:a16="http://schemas.microsoft.com/office/drawing/2014/main" id="{D2A1AFA7-581D-4FD2-8142-263B2B560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4133850"/>
            <a:ext cx="495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8BD9E8"/>
          </a:solidFill>
          <a:ln xmlns:a="http://schemas.openxmlformats.org/drawingml/2006/main" w="9525">
            <a:solidFill>
              <a:srgbClr val="8BD9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49" name="collab-flow-title-4">
            <a:extLst xmlns:a="http://schemas.openxmlformats.org/drawingml/2006/main">
              <a:ext uri="{FF2B5EF4-FFF2-40B4-BE49-F238E27FC236}">
                <a16:creationId xmlns:a16="http://schemas.microsoft.com/office/drawing/2014/main" id="{D44B0A20-8EAF-4AFA-BA11-92C94A4E1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448175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조정</a:t>
            </a:r>
          </a:p>
        </p:txBody>
      </p:sp>
      <p:sp>
        <p:nvSpPr>
          <p:cNvPr id="50" name="collab-flow-body-4">
            <a:extLst xmlns:a="http://schemas.openxmlformats.org/drawingml/2006/main">
              <a:ext uri="{FF2B5EF4-FFF2-40B4-BE49-F238E27FC236}">
                <a16:creationId xmlns:a16="http://schemas.microsoft.com/office/drawing/2014/main" id="{43B79919-671A-4D0F-AA95-FD8765D43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667250"/>
            <a:ext cx="100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CBD5E1"/>
                </a:solidFill>
              </a:defRPr>
            </a:pPr>
            <a:r>
              <a:rPr sz="675">
                <a:solidFill>
                  <a:srgbClr val="CBD5E1"/>
                </a:solidFill>
              </a:rPr>
              <a:t>일정·범위 영향도</a:t>
            </a:r>
          </a:p>
          <a:p xmlns:a="http://schemas.openxmlformats.org/drawingml/2006/main">
            <a:pPr algn="ctr">
              <a:defRPr sz="675">
                <a:solidFill>
                  <a:srgbClr val="CBD5E1"/>
                </a:solidFill>
              </a:defRPr>
            </a:pPr>
            <a:r>
              <a:rPr sz="675">
                <a:solidFill>
                  <a:srgbClr val="CBD5E1"/>
                </a:solidFill>
              </a:rPr>
              <a:t>우선순위 판단</a:t>
            </a:r>
          </a:p>
        </p:txBody>
      </p:sp>
      <p:sp>
        <p:nvSpPr>
          <p:cNvPr id="51" name="collab-flow-arrow-4">
            <a:extLst xmlns:a="http://schemas.openxmlformats.org/drawingml/2006/main">
              <a:ext uri="{FF2B5EF4-FFF2-40B4-BE49-F238E27FC236}">
                <a16:creationId xmlns:a16="http://schemas.microsoft.com/office/drawing/2014/main" id="{C91A0096-FB28-45C6-B9A5-2C8799501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381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4A3B8"/>
                </a:solidFill>
              </a:defRPr>
            </a:pPr>
            <a:r>
              <a:rPr sz="1350" b="1">
                <a:solidFill>
                  <a:srgbClr val="94A3B8"/>
                </a:solidFill>
              </a:rPr>
              <a:t>&gt;</a:t>
            </a:r>
          </a:p>
        </p:txBody>
      </p:sp>
      <p:sp>
        <p:nvSpPr>
          <p:cNvPr id="52" name="collab-flow-step-5">
            <a:extLst xmlns:a="http://schemas.openxmlformats.org/drawingml/2006/main">
              <a:ext uri="{FF2B5EF4-FFF2-40B4-BE49-F238E27FC236}">
                <a16:creationId xmlns:a16="http://schemas.microsoft.com/office/drawing/2014/main" id="{4771CF3C-A458-4231-9E7A-E2C09E1B0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19550"/>
            <a:ext cx="11620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51F34"/>
          </a:solidFill>
          <a:ln xmlns:a="http://schemas.openxmlformats.org/drawingml/2006/main" w="9525">
            <a:solidFill>
              <a:srgbClr val="2F3B55"/>
            </a:solidFill>
            <a:prstDash val="solid"/>
          </a:ln>
        </p:spPr>
      </p:sp>
      <p:sp>
        <p:nvSpPr>
          <p:cNvPr id="53" name="collab-flow-no-5">
            <a:extLst xmlns:a="http://schemas.openxmlformats.org/drawingml/2006/main">
              <a:ext uri="{FF2B5EF4-FFF2-40B4-BE49-F238E27FC236}">
                <a16:creationId xmlns:a16="http://schemas.microsoft.com/office/drawing/2014/main" id="{2383A6A3-D12C-4B07-9B04-2F214326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133850"/>
            <a:ext cx="495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54" name="collab-flow-title-5">
            <a:extLst xmlns:a="http://schemas.openxmlformats.org/drawingml/2006/main">
              <a:ext uri="{FF2B5EF4-FFF2-40B4-BE49-F238E27FC236}">
                <a16:creationId xmlns:a16="http://schemas.microsoft.com/office/drawing/2014/main" id="{BBB3EE9D-BB81-4380-A572-3F3F88890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48175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판단</a:t>
            </a:r>
          </a:p>
        </p:txBody>
      </p:sp>
      <p:sp>
        <p:nvSpPr>
          <p:cNvPr id="55" name="collab-flow-body-5">
            <a:extLst xmlns:a="http://schemas.openxmlformats.org/drawingml/2006/main">
              <a:ext uri="{FF2B5EF4-FFF2-40B4-BE49-F238E27FC236}">
                <a16:creationId xmlns:a16="http://schemas.microsoft.com/office/drawing/2014/main" id="{D9268798-0C2D-4D99-BFAD-EF8F32532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667250"/>
            <a:ext cx="100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CBD5E1"/>
                </a:solidFill>
              </a:defRPr>
            </a:pPr>
            <a:r>
              <a:rPr sz="675">
                <a:solidFill>
                  <a:srgbClr val="CBD5E1"/>
                </a:solidFill>
              </a:rPr>
              <a:t>릴리즈 후보</a:t>
            </a:r>
          </a:p>
          <a:p xmlns:a="http://schemas.openxmlformats.org/drawingml/2006/main">
            <a:pPr algn="ctr">
              <a:defRPr sz="675">
                <a:solidFill>
                  <a:srgbClr val="CBD5E1"/>
                </a:solidFill>
              </a:defRPr>
            </a:pPr>
            <a:r>
              <a:rPr sz="675">
                <a:solidFill>
                  <a:srgbClr val="CBD5E1"/>
                </a:solidFill>
              </a:rPr>
              <a:t>진입 여부 확정</a:t>
            </a:r>
          </a:p>
        </p:txBody>
      </p:sp>
      <p:sp>
        <p:nvSpPr>
          <p:cNvPr id="56" name="pm-points-title">
            <a:extLst xmlns:a="http://schemas.openxmlformats.org/drawingml/2006/main">
              <a:ext uri="{FF2B5EF4-FFF2-40B4-BE49-F238E27FC236}">
                <a16:creationId xmlns:a16="http://schemas.microsoft.com/office/drawing/2014/main" id="{BA0D61FD-2FB8-4657-93D3-A2890845F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526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PM 관리 포인트</a:t>
            </a:r>
          </a:p>
        </p:txBody>
      </p:sp>
      <p:sp>
        <p:nvSpPr>
          <p:cNvPr id="57" name="pm-point-1">
            <a:extLst xmlns:a="http://schemas.openxmlformats.org/drawingml/2006/main">
              <a:ext uri="{FF2B5EF4-FFF2-40B4-BE49-F238E27FC236}">
                <a16:creationId xmlns:a16="http://schemas.microsoft.com/office/drawing/2014/main" id="{6B47073D-39A3-4359-818E-E3938F249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52650"/>
            <a:ext cx="32956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F3B55"/>
            </a:solidFill>
            <a:prstDash val="solid"/>
          </a:ln>
        </p:spPr>
      </p:sp>
      <p:sp>
        <p:nvSpPr>
          <p:cNvPr id="58" name="pm-point-bar-1">
            <a:extLst xmlns:a="http://schemas.openxmlformats.org/drawingml/2006/main">
              <a:ext uri="{FF2B5EF4-FFF2-40B4-BE49-F238E27FC236}">
                <a16:creationId xmlns:a16="http://schemas.microsoft.com/office/drawing/2014/main" id="{FD6D9794-B950-4F5A-A1BD-35C9B40B4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52650"/>
            <a:ext cx="57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0">
            <a:solidFill>
              <a:srgbClr val="00B8D9"/>
            </a:solidFill>
            <a:prstDash val="solid"/>
          </a:ln>
        </p:spPr>
      </p:sp>
      <p:sp>
        <p:nvSpPr>
          <p:cNvPr id="59" name="pm-point-label-1">
            <a:extLst xmlns:a="http://schemas.openxmlformats.org/drawingml/2006/main">
              <a:ext uri="{FF2B5EF4-FFF2-40B4-BE49-F238E27FC236}">
                <a16:creationId xmlns:a16="http://schemas.microsoft.com/office/drawing/2014/main" id="{F8E8A94E-C269-4FA1-85BE-12CFF868B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57425"/>
            <a:ext cx="2495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요청사항 단일화</a:t>
            </a:r>
          </a:p>
        </p:txBody>
      </p:sp>
      <p:sp>
        <p:nvSpPr>
          <p:cNvPr id="60" name="pm-point-body-1">
            <a:extLst xmlns:a="http://schemas.openxmlformats.org/drawingml/2006/main">
              <a:ext uri="{FF2B5EF4-FFF2-40B4-BE49-F238E27FC236}">
                <a16:creationId xmlns:a16="http://schemas.microsoft.com/office/drawing/2014/main" id="{2BC89429-E242-42F9-96E4-85BD8982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95550"/>
            <a:ext cx="2647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CBD5E1"/>
                </a:solidFill>
              </a:defRPr>
            </a:pPr>
            <a:r>
              <a:rPr sz="938">
                <a:solidFill>
                  <a:srgbClr val="CBD5E1"/>
                </a:solidFill>
              </a:rPr>
              <a:t>퍼블리셔 요청을 일정·범위·이슈로 재분류</a:t>
            </a:r>
          </a:p>
        </p:txBody>
      </p:sp>
      <p:sp>
        <p:nvSpPr>
          <p:cNvPr id="61" name="pm-point-2">
            <a:extLst xmlns:a="http://schemas.openxmlformats.org/drawingml/2006/main">
              <a:ext uri="{FF2B5EF4-FFF2-40B4-BE49-F238E27FC236}">
                <a16:creationId xmlns:a16="http://schemas.microsoft.com/office/drawing/2014/main" id="{D1876C62-1CFD-4AEF-A47A-C6027076C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33700"/>
            <a:ext cx="32956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F3B55"/>
            </a:solidFill>
            <a:prstDash val="solid"/>
          </a:ln>
        </p:spPr>
      </p:sp>
      <p:sp>
        <p:nvSpPr>
          <p:cNvPr id="62" name="pm-point-bar-2">
            <a:extLst xmlns:a="http://schemas.openxmlformats.org/drawingml/2006/main">
              <a:ext uri="{FF2B5EF4-FFF2-40B4-BE49-F238E27FC236}">
                <a16:creationId xmlns:a16="http://schemas.microsoft.com/office/drawing/2014/main" id="{E3914884-34C0-40C1-94D7-7606FD653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33700"/>
            <a:ext cx="57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63" name="pm-point-label-2">
            <a:extLst xmlns:a="http://schemas.openxmlformats.org/drawingml/2006/main">
              <a:ext uri="{FF2B5EF4-FFF2-40B4-BE49-F238E27FC236}">
                <a16:creationId xmlns:a16="http://schemas.microsoft.com/office/drawing/2014/main" id="{3205F012-A741-458D-9D35-2D8188331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38475"/>
            <a:ext cx="2495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버전 기준 고정</a:t>
            </a:r>
          </a:p>
        </p:txBody>
      </p:sp>
      <p:sp>
        <p:nvSpPr>
          <p:cNvPr id="64" name="pm-point-body-2">
            <a:extLst xmlns:a="http://schemas.openxmlformats.org/drawingml/2006/main">
              <a:ext uri="{FF2B5EF4-FFF2-40B4-BE49-F238E27FC236}">
                <a16:creationId xmlns:a16="http://schemas.microsoft.com/office/drawing/2014/main" id="{4762CA77-7B6B-4D2E-AC11-9CABB91A5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76600"/>
            <a:ext cx="2647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CBD5E1"/>
                </a:solidFill>
              </a:defRPr>
            </a:pPr>
            <a:r>
              <a:rPr sz="938">
                <a:solidFill>
                  <a:srgbClr val="CBD5E1"/>
                </a:solidFill>
              </a:rPr>
              <a:t>빌드 전달 시점과 검수 대상 버전을 명확화</a:t>
            </a:r>
          </a:p>
        </p:txBody>
      </p:sp>
      <p:sp>
        <p:nvSpPr>
          <p:cNvPr id="65" name="pm-point-3">
            <a:extLst xmlns:a="http://schemas.openxmlformats.org/drawingml/2006/main">
              <a:ext uri="{FF2B5EF4-FFF2-40B4-BE49-F238E27FC236}">
                <a16:creationId xmlns:a16="http://schemas.microsoft.com/office/drawing/2014/main" id="{96A27567-6AFD-4971-8EBC-D35CD1FE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14750"/>
            <a:ext cx="32956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F3B55"/>
            </a:solidFill>
            <a:prstDash val="solid"/>
          </a:ln>
        </p:spPr>
      </p:sp>
      <p:sp>
        <p:nvSpPr>
          <p:cNvPr id="66" name="pm-point-bar-3">
            <a:extLst xmlns:a="http://schemas.openxmlformats.org/drawingml/2006/main">
              <a:ext uri="{FF2B5EF4-FFF2-40B4-BE49-F238E27FC236}">
                <a16:creationId xmlns:a16="http://schemas.microsoft.com/office/drawing/2014/main" id="{681C3C38-A5E1-4E0E-A70D-92842DCDB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14750"/>
            <a:ext cx="57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67" name="pm-point-label-3">
            <a:extLst xmlns:a="http://schemas.openxmlformats.org/drawingml/2006/main">
              <a:ext uri="{FF2B5EF4-FFF2-40B4-BE49-F238E27FC236}">
                <a16:creationId xmlns:a16="http://schemas.microsoft.com/office/drawing/2014/main" id="{22651C25-683A-4EAD-8C7C-4C4A20930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819525"/>
            <a:ext cx="2495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의사결정 이슈 분리</a:t>
            </a:r>
          </a:p>
        </p:txBody>
      </p:sp>
      <p:sp>
        <p:nvSpPr>
          <p:cNvPr id="68" name="pm-point-body-3">
            <a:extLst xmlns:a="http://schemas.openxmlformats.org/drawingml/2006/main">
              <a:ext uri="{FF2B5EF4-FFF2-40B4-BE49-F238E27FC236}">
                <a16:creationId xmlns:a16="http://schemas.microsoft.com/office/drawing/2014/main" id="{44C23B2C-672D-4B6C-A4CE-EA08F9069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057650"/>
            <a:ext cx="2647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CBD5E1"/>
                </a:solidFill>
              </a:defRPr>
            </a:pPr>
            <a:r>
              <a:rPr sz="938">
                <a:solidFill>
                  <a:srgbClr val="CBD5E1"/>
                </a:solidFill>
              </a:rPr>
              <a:t>지연 가능 항목은 마일스톤 판단 안건으로 전환</a:t>
            </a:r>
          </a:p>
        </p:txBody>
      </p:sp>
      <p:sp>
        <p:nvSpPr>
          <p:cNvPr id="69" name="pm-point-4">
            <a:extLst xmlns:a="http://schemas.openxmlformats.org/drawingml/2006/main">
              <a:ext uri="{FF2B5EF4-FFF2-40B4-BE49-F238E27FC236}">
                <a16:creationId xmlns:a16="http://schemas.microsoft.com/office/drawing/2014/main" id="{F70786F9-E1DB-46FA-BA08-F282C9199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95800"/>
            <a:ext cx="32956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F3B55"/>
            </a:solidFill>
            <a:prstDash val="solid"/>
          </a:ln>
        </p:spPr>
      </p:sp>
      <p:sp>
        <p:nvSpPr>
          <p:cNvPr id="70" name="pm-point-bar-4">
            <a:extLst xmlns:a="http://schemas.openxmlformats.org/drawingml/2006/main">
              <a:ext uri="{FF2B5EF4-FFF2-40B4-BE49-F238E27FC236}">
                <a16:creationId xmlns:a16="http://schemas.microsoft.com/office/drawing/2014/main" id="{E50F909E-EC18-4815-802A-1BDB540BE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95800"/>
            <a:ext cx="57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D9E8"/>
          </a:solidFill>
          <a:ln xmlns:a="http://schemas.openxmlformats.org/drawingml/2006/main" w="0">
            <a:solidFill>
              <a:srgbClr val="8BD9E8"/>
            </a:solidFill>
            <a:prstDash val="solid"/>
          </a:ln>
        </p:spPr>
      </p:sp>
      <p:sp>
        <p:nvSpPr>
          <p:cNvPr id="71" name="pm-point-label-4">
            <a:extLst xmlns:a="http://schemas.openxmlformats.org/drawingml/2006/main">
              <a:ext uri="{FF2B5EF4-FFF2-40B4-BE49-F238E27FC236}">
                <a16:creationId xmlns:a16="http://schemas.microsoft.com/office/drawing/2014/main" id="{72E7DD99-3ADD-4CD1-BFBE-E375D7E59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600575"/>
            <a:ext cx="2495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Live 릴리즈 준비</a:t>
            </a:r>
          </a:p>
        </p:txBody>
      </p:sp>
      <p:sp>
        <p:nvSpPr>
          <p:cNvPr id="72" name="pm-point-body-4">
            <a:extLst xmlns:a="http://schemas.openxmlformats.org/drawingml/2006/main">
              <a:ext uri="{FF2B5EF4-FFF2-40B4-BE49-F238E27FC236}">
                <a16:creationId xmlns:a16="http://schemas.microsoft.com/office/drawing/2014/main" id="{5DA4F347-76F7-4E46-B61F-45F39B6B9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838700"/>
            <a:ext cx="2647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CBD5E1"/>
                </a:solidFill>
              </a:defRPr>
            </a:pPr>
            <a:r>
              <a:rPr sz="938">
                <a:solidFill>
                  <a:srgbClr val="CBD5E1"/>
                </a:solidFill>
              </a:rPr>
              <a:t>배포·공지·운영 대응 항목을 같은 기준으로 확인</a:t>
            </a:r>
          </a:p>
        </p:txBody>
      </p:sp>
      <p:sp>
        <p:nvSpPr>
          <p:cNvPr id="73" name="collab-principle-panel">
            <a:extLst xmlns:a="http://schemas.openxmlformats.org/drawingml/2006/main">
              <a:ext uri="{FF2B5EF4-FFF2-40B4-BE49-F238E27FC236}">
                <a16:creationId xmlns:a16="http://schemas.microsoft.com/office/drawing/2014/main" id="{EDC3A41F-291D-4B7B-B455-8BF02BAEB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91200"/>
            <a:ext cx="108775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0192E"/>
          </a:solidFill>
          <a:ln xmlns:a="http://schemas.openxmlformats.org/drawingml/2006/main" w="9525">
            <a:solidFill>
              <a:srgbClr val="22304E"/>
            </a:solidFill>
            <a:prstDash val="solid"/>
          </a:ln>
        </p:spPr>
      </p:sp>
      <p:sp>
        <p:nvSpPr>
          <p:cNvPr id="74" name="collab-principle-label">
            <a:extLst xmlns:a="http://schemas.openxmlformats.org/drawingml/2006/main">
              <a:ext uri="{FF2B5EF4-FFF2-40B4-BE49-F238E27FC236}">
                <a16:creationId xmlns:a16="http://schemas.microsoft.com/office/drawing/2014/main" id="{D016C2AB-8000-4167-9120-F6944A2F3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BD9E8"/>
                </a:solidFill>
              </a:defRPr>
            </a:pPr>
            <a:r>
              <a:rPr sz="1200" b="1">
                <a:solidFill>
                  <a:srgbClr val="8BD9E8"/>
                </a:solidFill>
              </a:rPr>
              <a:t>운영 원칙</a:t>
            </a:r>
          </a:p>
        </p:txBody>
      </p:sp>
      <p:sp>
        <p:nvSpPr>
          <p:cNvPr id="75" name="collab-principle-body">
            <a:extLst xmlns:a="http://schemas.openxmlformats.org/drawingml/2006/main">
              <a:ext uri="{FF2B5EF4-FFF2-40B4-BE49-F238E27FC236}">
                <a16:creationId xmlns:a16="http://schemas.microsoft.com/office/drawing/2014/main" id="{DF4A6D04-192E-43F5-B52F-9BFD427B9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905500"/>
            <a:ext cx="819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FFFFFF"/>
                </a:solidFill>
              </a:defRPr>
            </a:pPr>
            <a:r>
              <a:rPr sz="1125">
                <a:solidFill>
                  <a:srgbClr val="FFFFFF"/>
                </a:solidFill>
              </a:rPr>
              <a:t>퍼블리셔 대응은 별도 보고가 아니라 일정·버전·이슈를 통합 관리하는 PM 운영 흐름 안에서 처리합니다.</a:t>
            </a:r>
          </a:p>
        </p:txBody>
      </p:sp>
    </p:spTree>
    <p:extLst>
      <p:ext uri="{BB962C8B-B14F-4D97-AF65-F5344CB8AC3E}">
        <p14:creationId xmlns:p14="http://schemas.microsoft.com/office/powerpoint/2010/main" val="6745554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accent">
            <a:extLst xmlns:a="http://schemas.openxmlformats.org/drawingml/2006/main">
              <a:ext uri="{FF2B5EF4-FFF2-40B4-BE49-F238E27FC236}">
                <a16:creationId xmlns:a16="http://schemas.microsoft.com/office/drawing/2014/main" id="{9FE1A36E-5AD6-4FB6-8EC8-2DA387AB1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0">
            <a:solidFill>
              <a:srgbClr val="00B8D9"/>
            </a:solidFill>
            <a:prstDash val="solid"/>
          </a:ln>
        </p:spPr>
      </p:sp>
      <p:sp>
        <p:nvSpPr>
          <p:cNvPr id="2" name="left-accent">
            <a:extLst xmlns:a="http://schemas.openxmlformats.org/drawingml/2006/main">
              <a:ext uri="{FF2B5EF4-FFF2-40B4-BE49-F238E27FC236}">
                <a16:creationId xmlns:a16="http://schemas.microsoft.com/office/drawing/2014/main" id="{7059062C-F983-4EE9-A203-904E3CCA0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07EF28C9-7C48-41A8-BBE9-D83215BFA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8BD9E8"/>
                </a:solidFill>
              </a:defRPr>
            </a:pPr>
            <a:r>
              <a:rPr sz="1125" b="1">
                <a:solidFill>
                  <a:srgbClr val="8BD9E8"/>
                </a:solidFill>
              </a:rPr>
              <a:t>BUILD QA RELEASE FLOW | PAGE 06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A9FBB266-2A5B-44BB-A33F-A8778705A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94A3B8"/>
                </a:solidFill>
              </a:defRPr>
            </a:pPr>
            <a:r>
              <a:rPr sz="1125">
                <a:solidFill>
                  <a:srgbClr val="94A3B8"/>
                </a:solidFill>
              </a:rPr>
              <a:t>HIT2 일본 서비스 런칭 6개월 전 로드맵</a:t>
            </a:r>
          </a:p>
        </p:txBody>
      </p:sp>
      <p:sp>
        <p:nvSpPr>
          <p:cNvPr id="5" name="page-no">
            <a:extLst xmlns:a="http://schemas.openxmlformats.org/drawingml/2006/main">
              <a:ext uri="{FF2B5EF4-FFF2-40B4-BE49-F238E27FC236}">
                <a16:creationId xmlns:a16="http://schemas.microsoft.com/office/drawing/2014/main" id="{985A60D2-B976-4032-9AED-C0E77DBE1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94A3B8"/>
                </a:solidFill>
              </a:defRPr>
            </a:pPr>
            <a:r>
              <a:rPr sz="1200" b="1">
                <a:solidFill>
                  <a:srgbClr val="94A3B8"/>
                </a:solidFill>
              </a:rPr>
              <a:t>06</a:t>
            </a:r>
          </a:p>
        </p:txBody>
      </p:sp>
      <p:sp>
        <p:nvSpPr>
          <p:cNvPr id="6" name="title-06">
            <a:extLst xmlns:a="http://schemas.openxmlformats.org/drawingml/2006/main">
              <a:ext uri="{FF2B5EF4-FFF2-40B4-BE49-F238E27FC236}">
                <a16:creationId xmlns:a16="http://schemas.microsoft.com/office/drawing/2014/main" id="{6F1A3AAB-E39C-4FF1-9DFD-B9973BF27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릴리즈 운영은 빌드·QA·검수 상태를 같은 기준으로 묶어 판단합니다</a:t>
            </a:r>
          </a:p>
        </p:txBody>
      </p:sp>
      <p:sp>
        <p:nvSpPr>
          <p:cNvPr id="7" name="subtitle-06">
            <a:extLst xmlns:a="http://schemas.openxmlformats.org/drawingml/2006/main">
              <a:ext uri="{FF2B5EF4-FFF2-40B4-BE49-F238E27FC236}">
                <a16:creationId xmlns:a16="http://schemas.microsoft.com/office/drawing/2014/main" id="{B4E1D7C4-B072-4262-9F15-19F7CCDAE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CBD5E1"/>
                </a:solidFill>
              </a:defRPr>
            </a:pPr>
            <a:r>
              <a:rPr sz="1275">
                <a:solidFill>
                  <a:srgbClr val="CBD5E1"/>
                </a:solidFill>
              </a:rPr>
              <a:t>Perforce 기반 버전 관리와 QA 결과, 퍼블리셔 검수 피드백을 연결해 릴리즈 후보 판단 기준을 고정합니다.</a:t>
            </a:r>
          </a:p>
        </p:txBody>
      </p:sp>
      <p:sp>
        <p:nvSpPr>
          <p:cNvPr id="8" name="release-flow-title">
            <a:extLst xmlns:a="http://schemas.openxmlformats.org/drawingml/2006/main">
              <a:ext uri="{FF2B5EF4-FFF2-40B4-BE49-F238E27FC236}">
                <a16:creationId xmlns:a16="http://schemas.microsoft.com/office/drawing/2014/main" id="{47F53654-FDD8-4A97-87BE-43D458F84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240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릴리즈 운영 흐름</a:t>
            </a:r>
          </a:p>
        </p:txBody>
      </p:sp>
      <p:sp>
        <p:nvSpPr>
          <p:cNvPr id="9" name="release-flow-note">
            <a:extLst xmlns:a="http://schemas.openxmlformats.org/drawingml/2006/main">
              <a:ext uri="{FF2B5EF4-FFF2-40B4-BE49-F238E27FC236}">
                <a16:creationId xmlns:a16="http://schemas.microsoft.com/office/drawing/2014/main" id="{A8382150-C147-455A-B29B-07A40145F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9812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94A3B8"/>
                </a:solidFill>
              </a:defRPr>
            </a:pPr>
            <a:r>
              <a:rPr sz="975">
                <a:solidFill>
                  <a:srgbClr val="94A3B8"/>
                </a:solidFill>
              </a:rPr>
              <a:t>각 단계는 완료 여부보다 다음 단계로 넘길 수 있는 기준을 확인합니다.</a:t>
            </a:r>
          </a:p>
        </p:txBody>
      </p:sp>
      <p:sp>
        <p:nvSpPr>
          <p:cNvPr id="10" name="release-flow-step-1">
            <a:extLst xmlns:a="http://schemas.openxmlformats.org/drawingml/2006/main">
              <a:ext uri="{FF2B5EF4-FFF2-40B4-BE49-F238E27FC236}">
                <a16:creationId xmlns:a16="http://schemas.microsoft.com/office/drawing/2014/main" id="{25733F75-FB48-4CCB-B41D-07412118D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57450"/>
            <a:ext cx="12001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F3B55"/>
            </a:solidFill>
            <a:prstDash val="solid"/>
          </a:ln>
        </p:spPr>
      </p:sp>
      <p:sp>
        <p:nvSpPr>
          <p:cNvPr id="11" name="release-flow-bar-1">
            <a:extLst xmlns:a="http://schemas.openxmlformats.org/drawingml/2006/main">
              <a:ext uri="{FF2B5EF4-FFF2-40B4-BE49-F238E27FC236}">
                <a16:creationId xmlns:a16="http://schemas.microsoft.com/office/drawing/2014/main" id="{F173E0F8-421D-4ECD-A010-F1B91A1B7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57450"/>
            <a:ext cx="1200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0">
            <a:solidFill>
              <a:srgbClr val="00B8D9"/>
            </a:solidFill>
            <a:prstDash val="solid"/>
          </a:ln>
        </p:spPr>
      </p:sp>
      <p:sp>
        <p:nvSpPr>
          <p:cNvPr id="12" name="release-flow-no-1">
            <a:extLst xmlns:a="http://schemas.openxmlformats.org/drawingml/2006/main">
              <a:ext uri="{FF2B5EF4-FFF2-40B4-BE49-F238E27FC236}">
                <a16:creationId xmlns:a16="http://schemas.microsoft.com/office/drawing/2014/main" id="{808734E7-82DF-4188-9349-5454EC63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5143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6111F"/>
                </a:solidFill>
              </a:defRPr>
            </a:pPr>
            <a:r>
              <a:rPr sz="1125" b="1">
                <a:solidFill>
                  <a:srgbClr val="06111F"/>
                </a:solidFill>
              </a:rPr>
              <a:t>01</a:t>
            </a:r>
          </a:p>
        </p:txBody>
      </p:sp>
      <p:sp>
        <p:nvSpPr>
          <p:cNvPr id="13" name="release-flow-title-1">
            <a:extLst xmlns:a="http://schemas.openxmlformats.org/drawingml/2006/main">
              <a:ext uri="{FF2B5EF4-FFF2-40B4-BE49-F238E27FC236}">
                <a16:creationId xmlns:a16="http://schemas.microsoft.com/office/drawing/2014/main" id="{AB1DCC5B-3656-401E-9CE0-5048A815F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0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버전 고정</a:t>
            </a:r>
          </a:p>
        </p:txBody>
      </p:sp>
      <p:sp>
        <p:nvSpPr>
          <p:cNvPr id="14" name="release-flow-body-1">
            <a:extLst xmlns:a="http://schemas.openxmlformats.org/drawingml/2006/main">
              <a:ext uri="{FF2B5EF4-FFF2-40B4-BE49-F238E27FC236}">
                <a16:creationId xmlns:a16="http://schemas.microsoft.com/office/drawing/2014/main" id="{8DEBA8F2-E696-4C61-8BBA-94DE0C281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>
                <a:solidFill>
                  <a:srgbClr val="CBD5E1"/>
                </a:solidFill>
              </a:defRPr>
            </a:pPr>
            <a:r>
              <a:rPr sz="750">
                <a:solidFill>
                  <a:srgbClr val="CBD5E1"/>
                </a:solidFill>
              </a:rPr>
              <a:t>Perforce 브랜치</a:t>
            </a:r>
          </a:p>
          <a:p xmlns:a="http://schemas.openxmlformats.org/drawingml/2006/main">
            <a:pPr algn="ctr">
              <a:defRPr sz="750">
                <a:solidFill>
                  <a:srgbClr val="CBD5E1"/>
                </a:solidFill>
              </a:defRPr>
            </a:pPr>
            <a:r>
              <a:rPr sz="750">
                <a:solidFill>
                  <a:srgbClr val="CBD5E1"/>
                </a:solidFill>
              </a:rPr>
              <a:t>태그 기준 확정</a:t>
            </a:r>
          </a:p>
        </p:txBody>
      </p:sp>
      <p:sp>
        <p:nvSpPr>
          <p:cNvPr id="15" name="release-flow-arrow-1">
            <a:extLst xmlns:a="http://schemas.openxmlformats.org/drawingml/2006/main">
              <a:ext uri="{FF2B5EF4-FFF2-40B4-BE49-F238E27FC236}">
                <a16:creationId xmlns:a16="http://schemas.microsoft.com/office/drawing/2014/main" id="{7B225864-3E45-4064-9B7C-7816F636B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9146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4A3B8"/>
                </a:solidFill>
              </a:defRPr>
            </a:pPr>
            <a:r>
              <a:rPr sz="1500" b="1">
                <a:solidFill>
                  <a:srgbClr val="94A3B8"/>
                </a:solidFill>
              </a:rPr>
              <a:t>&gt;</a:t>
            </a:r>
          </a:p>
        </p:txBody>
      </p:sp>
      <p:sp>
        <p:nvSpPr>
          <p:cNvPr id="16" name="release-flow-step-2">
            <a:extLst xmlns:a="http://schemas.openxmlformats.org/drawingml/2006/main">
              <a:ext uri="{FF2B5EF4-FFF2-40B4-BE49-F238E27FC236}">
                <a16:creationId xmlns:a16="http://schemas.microsoft.com/office/drawing/2014/main" id="{AD032D26-06D1-4FA5-BF16-A2B93AEF8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457450"/>
            <a:ext cx="12001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F3B55"/>
            </a:solidFill>
            <a:prstDash val="solid"/>
          </a:ln>
        </p:spPr>
      </p:sp>
      <p:sp>
        <p:nvSpPr>
          <p:cNvPr id="17" name="release-flow-bar-2">
            <a:extLst xmlns:a="http://schemas.openxmlformats.org/drawingml/2006/main">
              <a:ext uri="{FF2B5EF4-FFF2-40B4-BE49-F238E27FC236}">
                <a16:creationId xmlns:a16="http://schemas.microsoft.com/office/drawing/2014/main" id="{AADBD585-4471-4459-8E42-ECC380440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457450"/>
            <a:ext cx="1200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18" name="release-flow-no-2">
            <a:extLst xmlns:a="http://schemas.openxmlformats.org/drawingml/2006/main">
              <a:ext uri="{FF2B5EF4-FFF2-40B4-BE49-F238E27FC236}">
                <a16:creationId xmlns:a16="http://schemas.microsoft.com/office/drawing/2014/main" id="{1BEFE169-C8D8-475E-8D18-6ED6CF65B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667000"/>
            <a:ext cx="5143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9" name="release-flow-title-2">
            <a:extLst xmlns:a="http://schemas.openxmlformats.org/drawingml/2006/main">
              <a:ext uri="{FF2B5EF4-FFF2-40B4-BE49-F238E27FC236}">
                <a16:creationId xmlns:a16="http://schemas.microsoft.com/office/drawing/2014/main" id="{14873D34-3BF9-4ED9-B1DA-EF673F593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048000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빌드 전달</a:t>
            </a:r>
          </a:p>
        </p:txBody>
      </p:sp>
      <p:sp>
        <p:nvSpPr>
          <p:cNvPr id="20" name="release-flow-body-2">
            <a:extLst xmlns:a="http://schemas.openxmlformats.org/drawingml/2006/main">
              <a:ext uri="{FF2B5EF4-FFF2-40B4-BE49-F238E27FC236}">
                <a16:creationId xmlns:a16="http://schemas.microsoft.com/office/drawing/2014/main" id="{C97C760C-2511-4499-8B6D-8CD62281B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324225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>
                <a:solidFill>
                  <a:srgbClr val="CBD5E1"/>
                </a:solidFill>
              </a:defRPr>
            </a:pPr>
            <a:r>
              <a:rPr sz="750">
                <a:solidFill>
                  <a:srgbClr val="CBD5E1"/>
                </a:solidFill>
              </a:rPr>
              <a:t>QA·검수 대상</a:t>
            </a:r>
          </a:p>
          <a:p xmlns:a="http://schemas.openxmlformats.org/drawingml/2006/main">
            <a:pPr algn="ctr">
              <a:defRPr sz="750">
                <a:solidFill>
                  <a:srgbClr val="CBD5E1"/>
                </a:solidFill>
              </a:defRPr>
            </a:pPr>
            <a:r>
              <a:rPr sz="750">
                <a:solidFill>
                  <a:srgbClr val="CBD5E1"/>
                </a:solidFill>
              </a:rPr>
              <a:t>빌드 공유</a:t>
            </a:r>
          </a:p>
        </p:txBody>
      </p:sp>
      <p:sp>
        <p:nvSpPr>
          <p:cNvPr id="21" name="release-flow-arrow-2">
            <a:extLst xmlns:a="http://schemas.openxmlformats.org/drawingml/2006/main">
              <a:ext uri="{FF2B5EF4-FFF2-40B4-BE49-F238E27FC236}">
                <a16:creationId xmlns:a16="http://schemas.microsoft.com/office/drawing/2014/main" id="{4994E8DE-CCBA-4184-923B-F2E3DFE50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9146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4A3B8"/>
                </a:solidFill>
              </a:defRPr>
            </a:pPr>
            <a:r>
              <a:rPr sz="1500" b="1">
                <a:solidFill>
                  <a:srgbClr val="94A3B8"/>
                </a:solidFill>
              </a:rPr>
              <a:t>&gt;</a:t>
            </a:r>
          </a:p>
        </p:txBody>
      </p:sp>
      <p:sp>
        <p:nvSpPr>
          <p:cNvPr id="22" name="release-flow-step-3">
            <a:extLst xmlns:a="http://schemas.openxmlformats.org/drawingml/2006/main">
              <a:ext uri="{FF2B5EF4-FFF2-40B4-BE49-F238E27FC236}">
                <a16:creationId xmlns:a16="http://schemas.microsoft.com/office/drawing/2014/main" id="{14AE066F-A90A-444D-A1BD-97605BF77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457450"/>
            <a:ext cx="12001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F3B55"/>
            </a:solidFill>
            <a:prstDash val="solid"/>
          </a:ln>
        </p:spPr>
      </p:sp>
      <p:sp>
        <p:nvSpPr>
          <p:cNvPr id="23" name="release-flow-bar-3">
            <a:extLst xmlns:a="http://schemas.openxmlformats.org/drawingml/2006/main">
              <a:ext uri="{FF2B5EF4-FFF2-40B4-BE49-F238E27FC236}">
                <a16:creationId xmlns:a16="http://schemas.microsoft.com/office/drawing/2014/main" id="{D597780D-6454-4313-81F7-B1EA48627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457450"/>
            <a:ext cx="1200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24" name="release-flow-no-3">
            <a:extLst xmlns:a="http://schemas.openxmlformats.org/drawingml/2006/main">
              <a:ext uri="{FF2B5EF4-FFF2-40B4-BE49-F238E27FC236}">
                <a16:creationId xmlns:a16="http://schemas.microsoft.com/office/drawing/2014/main" id="{097E357B-AB7C-4186-A72C-221237EC3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67000"/>
            <a:ext cx="5143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5" name="release-flow-title-3">
            <a:extLst xmlns:a="http://schemas.openxmlformats.org/drawingml/2006/main">
              <a:ext uri="{FF2B5EF4-FFF2-40B4-BE49-F238E27FC236}">
                <a16:creationId xmlns:a16="http://schemas.microsoft.com/office/drawing/2014/main" id="{FC214249-8F9B-4932-B013-BCE59DECA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48000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QA 확인</a:t>
            </a:r>
          </a:p>
        </p:txBody>
      </p:sp>
      <p:sp>
        <p:nvSpPr>
          <p:cNvPr id="26" name="release-flow-body-3">
            <a:extLst xmlns:a="http://schemas.openxmlformats.org/drawingml/2006/main">
              <a:ext uri="{FF2B5EF4-FFF2-40B4-BE49-F238E27FC236}">
                <a16:creationId xmlns:a16="http://schemas.microsoft.com/office/drawing/2014/main" id="{C27D0AC7-E37B-485D-AED4-376C0DEB8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324225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>
                <a:solidFill>
                  <a:srgbClr val="CBD5E1"/>
                </a:solidFill>
              </a:defRPr>
            </a:pPr>
            <a:r>
              <a:rPr sz="750">
                <a:solidFill>
                  <a:srgbClr val="CBD5E1"/>
                </a:solidFill>
              </a:rPr>
              <a:t>주요 이슈와</a:t>
            </a:r>
          </a:p>
          <a:p xmlns:a="http://schemas.openxmlformats.org/drawingml/2006/main">
            <a:pPr algn="ctr">
              <a:defRPr sz="750">
                <a:solidFill>
                  <a:srgbClr val="CBD5E1"/>
                </a:solidFill>
              </a:defRPr>
            </a:pPr>
            <a:r>
              <a:rPr sz="750">
                <a:solidFill>
                  <a:srgbClr val="CBD5E1"/>
                </a:solidFill>
              </a:rPr>
              <a:t>수정 반영 추적</a:t>
            </a:r>
          </a:p>
        </p:txBody>
      </p:sp>
      <p:sp>
        <p:nvSpPr>
          <p:cNvPr id="27" name="release-flow-arrow-3">
            <a:extLst xmlns:a="http://schemas.openxmlformats.org/drawingml/2006/main">
              <a:ext uri="{FF2B5EF4-FFF2-40B4-BE49-F238E27FC236}">
                <a16:creationId xmlns:a16="http://schemas.microsoft.com/office/drawing/2014/main" id="{C6F0DAE6-8225-4E75-A863-21A23FEFB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9146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4A3B8"/>
                </a:solidFill>
              </a:defRPr>
            </a:pPr>
            <a:r>
              <a:rPr sz="1500" b="1">
                <a:solidFill>
                  <a:srgbClr val="94A3B8"/>
                </a:solidFill>
              </a:rPr>
              <a:t>&gt;</a:t>
            </a:r>
          </a:p>
        </p:txBody>
      </p:sp>
      <p:sp>
        <p:nvSpPr>
          <p:cNvPr id="28" name="release-flow-step-4">
            <a:extLst xmlns:a="http://schemas.openxmlformats.org/drawingml/2006/main">
              <a:ext uri="{FF2B5EF4-FFF2-40B4-BE49-F238E27FC236}">
                <a16:creationId xmlns:a16="http://schemas.microsoft.com/office/drawing/2014/main" id="{ABF07530-48FC-444D-9953-5827316CC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457450"/>
            <a:ext cx="12001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F3B55"/>
            </a:solidFill>
            <a:prstDash val="solid"/>
          </a:ln>
        </p:spPr>
      </p:sp>
      <p:sp>
        <p:nvSpPr>
          <p:cNvPr id="29" name="release-flow-bar-4">
            <a:extLst xmlns:a="http://schemas.openxmlformats.org/drawingml/2006/main">
              <a:ext uri="{FF2B5EF4-FFF2-40B4-BE49-F238E27FC236}">
                <a16:creationId xmlns:a16="http://schemas.microsoft.com/office/drawing/2014/main" id="{E1FB955B-57CC-4843-972D-68C951F44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457450"/>
            <a:ext cx="1200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D9E8"/>
          </a:solidFill>
          <a:ln xmlns:a="http://schemas.openxmlformats.org/drawingml/2006/main" w="0">
            <a:solidFill>
              <a:srgbClr val="8BD9E8"/>
            </a:solidFill>
            <a:prstDash val="solid"/>
          </a:ln>
        </p:spPr>
      </p:sp>
      <p:sp>
        <p:nvSpPr>
          <p:cNvPr id="30" name="release-flow-no-4">
            <a:extLst xmlns:a="http://schemas.openxmlformats.org/drawingml/2006/main">
              <a:ext uri="{FF2B5EF4-FFF2-40B4-BE49-F238E27FC236}">
                <a16:creationId xmlns:a16="http://schemas.microsoft.com/office/drawing/2014/main" id="{7424A65D-68DE-45EE-A3E2-C30944A8E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667000"/>
            <a:ext cx="5143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8BD9E8"/>
          </a:solidFill>
          <a:ln xmlns:a="http://schemas.openxmlformats.org/drawingml/2006/main" w="9525">
            <a:solidFill>
              <a:srgbClr val="8BD9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31" name="release-flow-title-4">
            <a:extLst xmlns:a="http://schemas.openxmlformats.org/drawingml/2006/main">
              <a:ext uri="{FF2B5EF4-FFF2-40B4-BE49-F238E27FC236}">
                <a16:creationId xmlns:a16="http://schemas.microsoft.com/office/drawing/2014/main" id="{24B59A91-9145-414C-85C6-760F5A460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048000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검수 반영</a:t>
            </a:r>
          </a:p>
        </p:txBody>
      </p:sp>
      <p:sp>
        <p:nvSpPr>
          <p:cNvPr id="32" name="release-flow-body-4">
            <a:extLst xmlns:a="http://schemas.openxmlformats.org/drawingml/2006/main">
              <a:ext uri="{FF2B5EF4-FFF2-40B4-BE49-F238E27FC236}">
                <a16:creationId xmlns:a16="http://schemas.microsoft.com/office/drawing/2014/main" id="{31E94E52-82DD-4850-A448-1B888A345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324225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>
                <a:solidFill>
                  <a:srgbClr val="CBD5E1"/>
                </a:solidFill>
              </a:defRPr>
            </a:pPr>
            <a:r>
              <a:rPr sz="750">
                <a:solidFill>
                  <a:srgbClr val="CBD5E1"/>
                </a:solidFill>
              </a:rPr>
              <a:t>퍼블리셔 피드백</a:t>
            </a:r>
          </a:p>
          <a:p xmlns:a="http://schemas.openxmlformats.org/drawingml/2006/main">
            <a:pPr algn="ctr">
              <a:defRPr sz="750">
                <a:solidFill>
                  <a:srgbClr val="CBD5E1"/>
                </a:solidFill>
              </a:defRPr>
            </a:pPr>
            <a:r>
              <a:rPr sz="750">
                <a:solidFill>
                  <a:srgbClr val="CBD5E1"/>
                </a:solidFill>
              </a:rPr>
              <a:t>영향도 분리</a:t>
            </a:r>
          </a:p>
        </p:txBody>
      </p:sp>
      <p:sp>
        <p:nvSpPr>
          <p:cNvPr id="33" name="release-flow-arrow-4">
            <a:extLst xmlns:a="http://schemas.openxmlformats.org/drawingml/2006/main">
              <a:ext uri="{FF2B5EF4-FFF2-40B4-BE49-F238E27FC236}">
                <a16:creationId xmlns:a16="http://schemas.microsoft.com/office/drawing/2014/main" id="{466D20DF-578E-4460-94A4-4EF5F640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9146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4A3B8"/>
                </a:solidFill>
              </a:defRPr>
            </a:pPr>
            <a:r>
              <a:rPr sz="1500" b="1">
                <a:solidFill>
                  <a:srgbClr val="94A3B8"/>
                </a:solidFill>
              </a:rPr>
              <a:t>&gt;</a:t>
            </a:r>
          </a:p>
        </p:txBody>
      </p:sp>
      <p:sp>
        <p:nvSpPr>
          <p:cNvPr id="34" name="release-flow-step-5">
            <a:extLst xmlns:a="http://schemas.openxmlformats.org/drawingml/2006/main">
              <a:ext uri="{FF2B5EF4-FFF2-40B4-BE49-F238E27FC236}">
                <a16:creationId xmlns:a16="http://schemas.microsoft.com/office/drawing/2014/main" id="{679EE6F9-14F4-497D-A81A-C195F76D8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57450"/>
            <a:ext cx="12001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F3B55"/>
            </a:solidFill>
            <a:prstDash val="solid"/>
          </a:ln>
        </p:spPr>
      </p:sp>
      <p:sp>
        <p:nvSpPr>
          <p:cNvPr id="35" name="release-flow-bar-5">
            <a:extLst xmlns:a="http://schemas.openxmlformats.org/drawingml/2006/main">
              <a:ext uri="{FF2B5EF4-FFF2-40B4-BE49-F238E27FC236}">
                <a16:creationId xmlns:a16="http://schemas.microsoft.com/office/drawing/2014/main" id="{91D4EC81-65F2-42E9-8A65-0776298E0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57450"/>
            <a:ext cx="1200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36" name="release-flow-no-5">
            <a:extLst xmlns:a="http://schemas.openxmlformats.org/drawingml/2006/main">
              <a:ext uri="{FF2B5EF4-FFF2-40B4-BE49-F238E27FC236}">
                <a16:creationId xmlns:a16="http://schemas.microsoft.com/office/drawing/2014/main" id="{D4F6152F-9257-4862-A148-0215266C0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67000"/>
            <a:ext cx="5143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7" name="release-flow-title-5">
            <a:extLst xmlns:a="http://schemas.openxmlformats.org/drawingml/2006/main">
              <a:ext uri="{FF2B5EF4-FFF2-40B4-BE49-F238E27FC236}">
                <a16:creationId xmlns:a16="http://schemas.microsoft.com/office/drawing/2014/main" id="{7229336C-747A-4229-B216-1B7F9B7DA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48000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RC 판단</a:t>
            </a:r>
          </a:p>
        </p:txBody>
      </p:sp>
      <p:sp>
        <p:nvSpPr>
          <p:cNvPr id="38" name="release-flow-body-5">
            <a:extLst xmlns:a="http://schemas.openxmlformats.org/drawingml/2006/main">
              <a:ext uri="{FF2B5EF4-FFF2-40B4-BE49-F238E27FC236}">
                <a16:creationId xmlns:a16="http://schemas.microsoft.com/office/drawing/2014/main" id="{B263D6D2-6DAB-44BD-A6AF-DA26368F8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24225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>
                <a:solidFill>
                  <a:srgbClr val="CBD5E1"/>
                </a:solidFill>
              </a:defRPr>
            </a:pPr>
            <a:r>
              <a:rPr sz="750">
                <a:solidFill>
                  <a:srgbClr val="CBD5E1"/>
                </a:solidFill>
              </a:rPr>
              <a:t>릴리즈 후보</a:t>
            </a:r>
          </a:p>
          <a:p xmlns:a="http://schemas.openxmlformats.org/drawingml/2006/main">
            <a:pPr algn="ctr">
              <a:defRPr sz="750">
                <a:solidFill>
                  <a:srgbClr val="CBD5E1"/>
                </a:solidFill>
              </a:defRPr>
            </a:pPr>
            <a:r>
              <a:rPr sz="750">
                <a:solidFill>
                  <a:srgbClr val="CBD5E1"/>
                </a:solidFill>
              </a:rPr>
              <a:t>진입 기준 확정</a:t>
            </a:r>
          </a:p>
        </p:txBody>
      </p:sp>
      <p:sp>
        <p:nvSpPr>
          <p:cNvPr id="39" name="ops-table-title">
            <a:extLst xmlns:a="http://schemas.openxmlformats.org/drawingml/2006/main">
              <a:ext uri="{FF2B5EF4-FFF2-40B4-BE49-F238E27FC236}">
                <a16:creationId xmlns:a16="http://schemas.microsoft.com/office/drawing/2014/main" id="{78DF677D-FDE9-462A-9871-31B4AC6EC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671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단계별 확인 기준</a:t>
            </a:r>
          </a:p>
        </p:txBody>
      </p:sp>
      <p:sp>
        <p:nvSpPr>
          <p:cNvPr id="40" name="ops-table-header">
            <a:extLst xmlns:a="http://schemas.openxmlformats.org/drawingml/2006/main">
              <a:ext uri="{FF2B5EF4-FFF2-40B4-BE49-F238E27FC236}">
                <a16:creationId xmlns:a16="http://schemas.microsoft.com/office/drawing/2014/main" id="{37BAC8A5-A454-4CC3-BAEA-915593809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48150"/>
            <a:ext cx="7067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0">
            <a:solidFill>
              <a:srgbClr val="00B8D9"/>
            </a:solidFill>
            <a:prstDash val="solid"/>
          </a:ln>
        </p:spPr>
      </p:sp>
      <p:sp>
        <p:nvSpPr>
          <p:cNvPr id="41" name="ops-th-1">
            <a:extLst xmlns:a="http://schemas.openxmlformats.org/drawingml/2006/main">
              <a:ext uri="{FF2B5EF4-FFF2-40B4-BE49-F238E27FC236}">
                <a16:creationId xmlns:a16="http://schemas.microsoft.com/office/drawing/2014/main" id="{5F3EC813-53E5-4872-B7C9-28362AD43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76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6111F"/>
                </a:solidFill>
              </a:defRPr>
            </a:pPr>
            <a:r>
              <a:rPr sz="900" b="1">
                <a:solidFill>
                  <a:srgbClr val="06111F"/>
                </a:solidFill>
              </a:rPr>
              <a:t>구분</a:t>
            </a:r>
          </a:p>
        </p:txBody>
      </p:sp>
      <p:sp>
        <p:nvSpPr>
          <p:cNvPr id="42" name="ops-th-2">
            <a:extLst xmlns:a="http://schemas.openxmlformats.org/drawingml/2006/main">
              <a:ext uri="{FF2B5EF4-FFF2-40B4-BE49-F238E27FC236}">
                <a16:creationId xmlns:a16="http://schemas.microsoft.com/office/drawing/2014/main" id="{62880520-04DB-4956-8922-D815C20AA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267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6111F"/>
                </a:solidFill>
              </a:defRPr>
            </a:pPr>
            <a:r>
              <a:rPr sz="900" b="1">
                <a:solidFill>
                  <a:srgbClr val="06111F"/>
                </a:solidFill>
              </a:rPr>
              <a:t>확인 기준</a:t>
            </a:r>
          </a:p>
        </p:txBody>
      </p:sp>
      <p:sp>
        <p:nvSpPr>
          <p:cNvPr id="43" name="ops-th-3">
            <a:extLst xmlns:a="http://schemas.openxmlformats.org/drawingml/2006/main">
              <a:ext uri="{FF2B5EF4-FFF2-40B4-BE49-F238E27FC236}">
                <a16:creationId xmlns:a16="http://schemas.microsoft.com/office/drawing/2014/main" id="{EB1FA545-5D73-47E7-98FC-6B5DEA11B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67200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11F"/>
                </a:solidFill>
              </a:defRPr>
            </a:pPr>
            <a:r>
              <a:rPr sz="900" b="1">
                <a:solidFill>
                  <a:srgbClr val="06111F"/>
                </a:solidFill>
              </a:rPr>
              <a:t>주관</a:t>
            </a:r>
          </a:p>
        </p:txBody>
      </p:sp>
      <p:sp>
        <p:nvSpPr>
          <p:cNvPr id="44" name="ops-row-1">
            <a:extLst xmlns:a="http://schemas.openxmlformats.org/drawingml/2006/main">
              <a:ext uri="{FF2B5EF4-FFF2-40B4-BE49-F238E27FC236}">
                <a16:creationId xmlns:a16="http://schemas.microsoft.com/office/drawing/2014/main" id="{66590E3D-4905-484E-A755-6407ED987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7067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F34"/>
          </a:solidFill>
          <a:ln xmlns:a="http://schemas.openxmlformats.org/drawingml/2006/main" w="9525">
            <a:solidFill>
              <a:srgbClr val="2F3B55"/>
            </a:solidFill>
            <a:prstDash val="solid"/>
          </a:ln>
        </p:spPr>
      </p:sp>
      <p:sp>
        <p:nvSpPr>
          <p:cNvPr id="45" name="ops-label-1">
            <a:extLst xmlns:a="http://schemas.openxmlformats.org/drawingml/2006/main">
              <a:ext uri="{FF2B5EF4-FFF2-40B4-BE49-F238E27FC236}">
                <a16:creationId xmlns:a16="http://schemas.microsoft.com/office/drawing/2014/main" id="{F251F284-A197-4576-85B7-11F4ABE23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815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 b="1">
                <a:solidFill>
                  <a:srgbClr val="00B8D9"/>
                </a:solidFill>
              </a:defRPr>
            </a:pPr>
            <a:r>
              <a:rPr sz="1013" b="1">
                <a:solidFill>
                  <a:srgbClr val="00B8D9"/>
                </a:solidFill>
              </a:rPr>
              <a:t>빌드·버전</a:t>
            </a:r>
          </a:p>
        </p:txBody>
      </p:sp>
      <p:sp>
        <p:nvSpPr>
          <p:cNvPr id="46" name="ops-check-1">
            <a:extLst xmlns:a="http://schemas.openxmlformats.org/drawingml/2006/main">
              <a:ext uri="{FF2B5EF4-FFF2-40B4-BE49-F238E27FC236}">
                <a16:creationId xmlns:a16="http://schemas.microsoft.com/office/drawing/2014/main" id="{EEFD8246-76DD-4488-BD83-2140CE181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5720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검수 대상 빌드와 브랜치 기준이 일치하는지 확인</a:t>
            </a:r>
          </a:p>
        </p:txBody>
      </p:sp>
      <p:sp>
        <p:nvSpPr>
          <p:cNvPr id="47" name="ops-owner-1">
            <a:extLst xmlns:a="http://schemas.openxmlformats.org/drawingml/2006/main">
              <a:ext uri="{FF2B5EF4-FFF2-40B4-BE49-F238E27FC236}">
                <a16:creationId xmlns:a16="http://schemas.microsoft.com/office/drawing/2014/main" id="{6858D189-9778-4C4D-90FC-D30BA9D2C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572000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CBD5E1"/>
                </a:solidFill>
              </a:defRPr>
            </a:pPr>
            <a:r>
              <a:rPr sz="938" b="1">
                <a:solidFill>
                  <a:srgbClr val="CBD5E1"/>
                </a:solidFill>
              </a:rPr>
              <a:t>개발 PM</a:t>
            </a:r>
          </a:p>
        </p:txBody>
      </p:sp>
      <p:sp>
        <p:nvSpPr>
          <p:cNvPr id="48" name="ops-row-2">
            <a:extLst xmlns:a="http://schemas.openxmlformats.org/drawingml/2006/main">
              <a:ext uri="{FF2B5EF4-FFF2-40B4-BE49-F238E27FC236}">
                <a16:creationId xmlns:a16="http://schemas.microsoft.com/office/drawing/2014/main" id="{48A07688-DB14-48B6-ACDD-3833DA9E1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76800"/>
            <a:ext cx="7067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F3B55"/>
            </a:solidFill>
            <a:prstDash val="solid"/>
          </a:ln>
        </p:spPr>
      </p:sp>
      <p:sp>
        <p:nvSpPr>
          <p:cNvPr id="49" name="ops-label-2">
            <a:extLst xmlns:a="http://schemas.openxmlformats.org/drawingml/2006/main">
              <a:ext uri="{FF2B5EF4-FFF2-40B4-BE49-F238E27FC236}">
                <a16:creationId xmlns:a16="http://schemas.microsoft.com/office/drawing/2014/main" id="{D997CAA9-A065-4A39-9B8E-66F6279D2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8157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 b="1">
                <a:solidFill>
                  <a:srgbClr val="7C3AED"/>
                </a:solidFill>
              </a:defRPr>
            </a:pPr>
            <a:r>
              <a:rPr sz="1013" b="1">
                <a:solidFill>
                  <a:srgbClr val="7C3AED"/>
                </a:solidFill>
              </a:rPr>
              <a:t>QA 안정성</a:t>
            </a:r>
          </a:p>
        </p:txBody>
      </p:sp>
      <p:sp>
        <p:nvSpPr>
          <p:cNvPr id="50" name="ops-check-2">
            <a:extLst xmlns:a="http://schemas.openxmlformats.org/drawingml/2006/main">
              <a:ext uri="{FF2B5EF4-FFF2-40B4-BE49-F238E27FC236}">
                <a16:creationId xmlns:a16="http://schemas.microsoft.com/office/drawing/2014/main" id="{E0F9B834-ABD5-4619-AF63-0C9C733CD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9720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주요 이슈의 수정 계획과 잔여 리스크를 분리</a:t>
            </a:r>
          </a:p>
        </p:txBody>
      </p:sp>
      <p:sp>
        <p:nvSpPr>
          <p:cNvPr id="51" name="ops-owner-2">
            <a:extLst xmlns:a="http://schemas.openxmlformats.org/drawingml/2006/main">
              <a:ext uri="{FF2B5EF4-FFF2-40B4-BE49-F238E27FC236}">
                <a16:creationId xmlns:a16="http://schemas.microsoft.com/office/drawing/2014/main" id="{FF870683-3CBA-4C02-A6EF-474E76FEE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972050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CBD5E1"/>
                </a:solidFill>
              </a:defRPr>
            </a:pPr>
            <a:r>
              <a:rPr sz="938" b="1">
                <a:solidFill>
                  <a:srgbClr val="CBD5E1"/>
                </a:solidFill>
              </a:rPr>
              <a:t>QA</a:t>
            </a:r>
          </a:p>
        </p:txBody>
      </p:sp>
      <p:sp>
        <p:nvSpPr>
          <p:cNvPr id="52" name="ops-row-3">
            <a:extLst xmlns:a="http://schemas.openxmlformats.org/drawingml/2006/main">
              <a:ext uri="{FF2B5EF4-FFF2-40B4-BE49-F238E27FC236}">
                <a16:creationId xmlns:a16="http://schemas.microsoft.com/office/drawing/2014/main" id="{EB3FC04B-DE1D-4F8D-9967-F054B889C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76850"/>
            <a:ext cx="7067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F34"/>
          </a:solidFill>
          <a:ln xmlns:a="http://schemas.openxmlformats.org/drawingml/2006/main" w="9525">
            <a:solidFill>
              <a:srgbClr val="2F3B55"/>
            </a:solidFill>
            <a:prstDash val="solid"/>
          </a:ln>
        </p:spPr>
      </p:sp>
      <p:sp>
        <p:nvSpPr>
          <p:cNvPr id="53" name="ops-label-3">
            <a:extLst xmlns:a="http://schemas.openxmlformats.org/drawingml/2006/main">
              <a:ext uri="{FF2B5EF4-FFF2-40B4-BE49-F238E27FC236}">
                <a16:creationId xmlns:a16="http://schemas.microsoft.com/office/drawing/2014/main" id="{718FAC35-E4A5-4C5A-8ACF-F6A968B59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8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 b="1">
                <a:solidFill>
                  <a:srgbClr val="FF6B35"/>
                </a:solidFill>
              </a:defRPr>
            </a:pPr>
            <a:r>
              <a:rPr sz="1013" b="1">
                <a:solidFill>
                  <a:srgbClr val="FF6B35"/>
                </a:solidFill>
              </a:rPr>
              <a:t>퍼블리셔 검수</a:t>
            </a:r>
          </a:p>
        </p:txBody>
      </p:sp>
      <p:sp>
        <p:nvSpPr>
          <p:cNvPr id="54" name="ops-check-3">
            <a:extLst xmlns:a="http://schemas.openxmlformats.org/drawingml/2006/main">
              <a:ext uri="{FF2B5EF4-FFF2-40B4-BE49-F238E27FC236}">
                <a16:creationId xmlns:a16="http://schemas.microsoft.com/office/drawing/2014/main" id="{4A18D751-F8AF-496F-90DC-F0C365EDB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3721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피드백 반영·보류·차기 대응 항목을 구분</a:t>
            </a:r>
          </a:p>
        </p:txBody>
      </p:sp>
      <p:sp>
        <p:nvSpPr>
          <p:cNvPr id="55" name="ops-owner-3">
            <a:extLst xmlns:a="http://schemas.openxmlformats.org/drawingml/2006/main">
              <a:ext uri="{FF2B5EF4-FFF2-40B4-BE49-F238E27FC236}">
                <a16:creationId xmlns:a16="http://schemas.microsoft.com/office/drawing/2014/main" id="{B2E36F08-E0BA-4639-B18C-C598C70B9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372100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CBD5E1"/>
                </a:solidFill>
              </a:defRPr>
            </a:pPr>
            <a:r>
              <a:rPr sz="938" b="1">
                <a:solidFill>
                  <a:srgbClr val="CBD5E1"/>
                </a:solidFill>
              </a:rPr>
              <a:t>PM</a:t>
            </a:r>
          </a:p>
        </p:txBody>
      </p:sp>
      <p:sp>
        <p:nvSpPr>
          <p:cNvPr id="56" name="build-control-title">
            <a:extLst xmlns:a="http://schemas.openxmlformats.org/drawingml/2006/main">
              <a:ext uri="{FF2B5EF4-FFF2-40B4-BE49-F238E27FC236}">
                <a16:creationId xmlns:a16="http://schemas.microsoft.com/office/drawing/2014/main" id="{F14FEB12-9FDD-4725-98AC-B86D1815A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240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PM 통제 항목</a:t>
            </a:r>
          </a:p>
        </p:txBody>
      </p:sp>
      <p:sp>
        <p:nvSpPr>
          <p:cNvPr id="57" name="build-control-card-1">
            <a:extLst xmlns:a="http://schemas.openxmlformats.org/drawingml/2006/main">
              <a:ext uri="{FF2B5EF4-FFF2-40B4-BE49-F238E27FC236}">
                <a16:creationId xmlns:a16="http://schemas.microsoft.com/office/drawing/2014/main" id="{E7DB076A-660B-4924-A7F8-5BB64373D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81250"/>
            <a:ext cx="32956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F3B55"/>
            </a:solidFill>
            <a:prstDash val="solid"/>
          </a:ln>
        </p:spPr>
      </p:sp>
      <p:sp>
        <p:nvSpPr>
          <p:cNvPr id="58" name="build-control-bar-1">
            <a:extLst xmlns:a="http://schemas.openxmlformats.org/drawingml/2006/main">
              <a:ext uri="{FF2B5EF4-FFF2-40B4-BE49-F238E27FC236}">
                <a16:creationId xmlns:a16="http://schemas.microsoft.com/office/drawing/2014/main" id="{27DF7B3E-252D-46E0-8182-EF1A4FFD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8125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0">
            <a:solidFill>
              <a:srgbClr val="00B8D9"/>
            </a:solidFill>
            <a:prstDash val="solid"/>
          </a:ln>
        </p:spPr>
      </p:sp>
      <p:sp>
        <p:nvSpPr>
          <p:cNvPr id="59" name="build-control-title-1">
            <a:extLst xmlns:a="http://schemas.openxmlformats.org/drawingml/2006/main">
              <a:ext uri="{FF2B5EF4-FFF2-40B4-BE49-F238E27FC236}">
                <a16:creationId xmlns:a16="http://schemas.microsoft.com/office/drawing/2014/main" id="{2098AAD0-F9F5-4D9C-8FA1-DDE0802DD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765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버전 기준 관리</a:t>
            </a:r>
          </a:p>
        </p:txBody>
      </p:sp>
      <p:sp>
        <p:nvSpPr>
          <p:cNvPr id="60" name="build-control-body-1">
            <a:extLst xmlns:a="http://schemas.openxmlformats.org/drawingml/2006/main">
              <a:ext uri="{FF2B5EF4-FFF2-40B4-BE49-F238E27FC236}">
                <a16:creationId xmlns:a16="http://schemas.microsoft.com/office/drawing/2014/main" id="{41DD256C-4BD8-433D-B0DF-9B205828C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0510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CBD5E1"/>
                </a:solidFill>
              </a:defRPr>
            </a:pPr>
            <a:r>
              <a:rPr sz="900">
                <a:solidFill>
                  <a:srgbClr val="CBD5E1"/>
                </a:solidFill>
              </a:rPr>
              <a:t>빌드 전달 시점, 브랜치, 태그 정보를 하나의 기준으로 관리</a:t>
            </a:r>
          </a:p>
        </p:txBody>
      </p:sp>
      <p:sp>
        <p:nvSpPr>
          <p:cNvPr id="61" name="build-control-card-2">
            <a:extLst xmlns:a="http://schemas.openxmlformats.org/drawingml/2006/main">
              <a:ext uri="{FF2B5EF4-FFF2-40B4-BE49-F238E27FC236}">
                <a16:creationId xmlns:a16="http://schemas.microsoft.com/office/drawing/2014/main" id="{06B1EFFD-2FF5-4BC4-8E60-74FD07C29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71850"/>
            <a:ext cx="32956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F3B55"/>
            </a:solidFill>
            <a:prstDash val="solid"/>
          </a:ln>
        </p:spPr>
      </p:sp>
      <p:sp>
        <p:nvSpPr>
          <p:cNvPr id="62" name="build-control-bar-2">
            <a:extLst xmlns:a="http://schemas.openxmlformats.org/drawingml/2006/main">
              <a:ext uri="{FF2B5EF4-FFF2-40B4-BE49-F238E27FC236}">
                <a16:creationId xmlns:a16="http://schemas.microsoft.com/office/drawing/2014/main" id="{218509C0-F73E-4CDF-98C2-B4D4A272F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7185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63" name="build-control-title-2">
            <a:extLst xmlns:a="http://schemas.openxmlformats.org/drawingml/2006/main">
              <a:ext uri="{FF2B5EF4-FFF2-40B4-BE49-F238E27FC236}">
                <a16:creationId xmlns:a16="http://schemas.microsoft.com/office/drawing/2014/main" id="{D8A86D82-D67D-4609-83E3-61D49A6E5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671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이슈 영향도 분리</a:t>
            </a:r>
          </a:p>
        </p:txBody>
      </p:sp>
      <p:sp>
        <p:nvSpPr>
          <p:cNvPr id="64" name="build-control-body-2">
            <a:extLst xmlns:a="http://schemas.openxmlformats.org/drawingml/2006/main">
              <a:ext uri="{FF2B5EF4-FFF2-40B4-BE49-F238E27FC236}">
                <a16:creationId xmlns:a16="http://schemas.microsoft.com/office/drawing/2014/main" id="{DB6E5543-8877-4E6E-8C00-C90E051C9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9570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CBD5E1"/>
                </a:solidFill>
              </a:defRPr>
            </a:pPr>
            <a:r>
              <a:rPr sz="900">
                <a:solidFill>
                  <a:srgbClr val="CBD5E1"/>
                </a:solidFill>
              </a:rPr>
              <a:t>런칭 영향 이슈와 차기 대응 이슈를 구분해 의사결정</a:t>
            </a:r>
          </a:p>
        </p:txBody>
      </p:sp>
      <p:sp>
        <p:nvSpPr>
          <p:cNvPr id="65" name="build-control-card-3">
            <a:extLst xmlns:a="http://schemas.openxmlformats.org/drawingml/2006/main">
              <a:ext uri="{FF2B5EF4-FFF2-40B4-BE49-F238E27FC236}">
                <a16:creationId xmlns:a16="http://schemas.microsoft.com/office/drawing/2014/main" id="{9F0F9E21-5F25-499E-9EA2-81D3E2005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62450"/>
            <a:ext cx="32956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F3B55"/>
            </a:solidFill>
            <a:prstDash val="solid"/>
          </a:ln>
        </p:spPr>
      </p:sp>
      <p:sp>
        <p:nvSpPr>
          <p:cNvPr id="66" name="build-control-bar-3">
            <a:extLst xmlns:a="http://schemas.openxmlformats.org/drawingml/2006/main">
              <a:ext uri="{FF2B5EF4-FFF2-40B4-BE49-F238E27FC236}">
                <a16:creationId xmlns:a16="http://schemas.microsoft.com/office/drawing/2014/main" id="{7C6ECCC3-207D-4A5C-86DE-33266D8C9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6245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67" name="build-control-title-3">
            <a:extLst xmlns:a="http://schemas.openxmlformats.org/drawingml/2006/main">
              <a:ext uri="{FF2B5EF4-FFF2-40B4-BE49-F238E27FC236}">
                <a16:creationId xmlns:a16="http://schemas.microsoft.com/office/drawing/2014/main" id="{4BCAA5A7-AA76-4EB1-9E67-E8285ACD9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4577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배포 준비 연결</a:t>
            </a:r>
          </a:p>
        </p:txBody>
      </p:sp>
      <p:sp>
        <p:nvSpPr>
          <p:cNvPr id="68" name="build-control-body-3">
            <a:extLst xmlns:a="http://schemas.openxmlformats.org/drawingml/2006/main">
              <a:ext uri="{FF2B5EF4-FFF2-40B4-BE49-F238E27FC236}">
                <a16:creationId xmlns:a16="http://schemas.microsoft.com/office/drawing/2014/main" id="{16FB5B07-0673-4B45-B190-C83B55D9F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68630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CBD5E1"/>
                </a:solidFill>
              </a:defRPr>
            </a:pPr>
            <a:r>
              <a:rPr sz="900">
                <a:solidFill>
                  <a:srgbClr val="CBD5E1"/>
                </a:solidFill>
              </a:rPr>
              <a:t>QA·검수 결과를 Live 릴리즈 준비 항목으로 전환</a:t>
            </a:r>
          </a:p>
        </p:txBody>
      </p:sp>
      <p:sp>
        <p:nvSpPr>
          <p:cNvPr id="69" name="release-principle-panel">
            <a:extLst xmlns:a="http://schemas.openxmlformats.org/drawingml/2006/main">
              <a:ext uri="{FF2B5EF4-FFF2-40B4-BE49-F238E27FC236}">
                <a16:creationId xmlns:a16="http://schemas.microsoft.com/office/drawing/2014/main" id="{0F5B9B27-382C-4221-98A4-D29CFB0EF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0"/>
            <a:ext cx="108775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0192E"/>
          </a:solidFill>
          <a:ln xmlns:a="http://schemas.openxmlformats.org/drawingml/2006/main" w="9525">
            <a:solidFill>
              <a:srgbClr val="22304E"/>
            </a:solidFill>
            <a:prstDash val="solid"/>
          </a:ln>
        </p:spPr>
      </p:sp>
      <p:sp>
        <p:nvSpPr>
          <p:cNvPr id="70" name="release-principle-label">
            <a:extLst xmlns:a="http://schemas.openxmlformats.org/drawingml/2006/main">
              <a:ext uri="{FF2B5EF4-FFF2-40B4-BE49-F238E27FC236}">
                <a16:creationId xmlns:a16="http://schemas.microsoft.com/office/drawing/2014/main" id="{33942DF5-1AEE-4691-93A9-36420D351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198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BD9E8"/>
                </a:solidFill>
              </a:defRPr>
            </a:pPr>
            <a:r>
              <a:rPr sz="1200" b="1">
                <a:solidFill>
                  <a:srgbClr val="8BD9E8"/>
                </a:solidFill>
              </a:rPr>
              <a:t>운영 원칙</a:t>
            </a:r>
          </a:p>
        </p:txBody>
      </p:sp>
      <p:sp>
        <p:nvSpPr>
          <p:cNvPr id="71" name="release-principle-body">
            <a:extLst xmlns:a="http://schemas.openxmlformats.org/drawingml/2006/main">
              <a:ext uri="{FF2B5EF4-FFF2-40B4-BE49-F238E27FC236}">
                <a16:creationId xmlns:a16="http://schemas.microsoft.com/office/drawing/2014/main" id="{FECE0CDF-3820-408A-9670-37FE205CA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6019800"/>
            <a:ext cx="819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FFFFFF"/>
                </a:solidFill>
              </a:defRPr>
            </a:pPr>
            <a:r>
              <a:rPr sz="1125">
                <a:solidFill>
                  <a:srgbClr val="FFFFFF"/>
                </a:solidFill>
              </a:rPr>
              <a:t>빌드가 준비됐는지가 아니라, QA·검수·운영 대응까지 같은 버전 기준으로 설명 가능한지가 핵심입니다.</a:t>
            </a:r>
          </a:p>
        </p:txBody>
      </p:sp>
    </p:spTree>
    <p:extLst>
      <p:ext uri="{BB962C8B-B14F-4D97-AF65-F5344CB8AC3E}">
        <p14:creationId xmlns:p14="http://schemas.microsoft.com/office/powerpoint/2010/main" val="19280156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accent">
            <a:extLst xmlns:a="http://schemas.openxmlformats.org/drawingml/2006/main">
              <a:ext uri="{FF2B5EF4-FFF2-40B4-BE49-F238E27FC236}">
                <a16:creationId xmlns:a16="http://schemas.microsoft.com/office/drawing/2014/main" id="{BCFB32D7-4D07-4027-B8DC-1149B7DFF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0">
            <a:solidFill>
              <a:srgbClr val="00B8D9"/>
            </a:solidFill>
            <a:prstDash val="solid"/>
          </a:ln>
        </p:spPr>
      </p:sp>
      <p:sp>
        <p:nvSpPr>
          <p:cNvPr id="2" name="left-accent">
            <a:extLst xmlns:a="http://schemas.openxmlformats.org/drawingml/2006/main">
              <a:ext uri="{FF2B5EF4-FFF2-40B4-BE49-F238E27FC236}">
                <a16:creationId xmlns:a16="http://schemas.microsoft.com/office/drawing/2014/main" id="{F6A92960-047B-4938-98F3-7E439B909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C5E44BBC-E164-4504-BDAC-3E22260E8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8BD9E8"/>
                </a:solidFill>
              </a:defRPr>
            </a:pPr>
            <a:r>
              <a:rPr sz="1125" b="1">
                <a:solidFill>
                  <a:srgbClr val="8BD9E8"/>
                </a:solidFill>
              </a:rPr>
              <a:t>FINAL LAUNCH READINESS | PAGE 07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9158F89C-5695-4007-98E5-58AEC2407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94A3B8"/>
                </a:solidFill>
              </a:defRPr>
            </a:pPr>
            <a:r>
              <a:rPr sz="1125">
                <a:solidFill>
                  <a:srgbClr val="94A3B8"/>
                </a:solidFill>
              </a:rPr>
              <a:t>HIT2 일본 서비스 런칭 6개월 전 로드맵</a:t>
            </a:r>
          </a:p>
        </p:txBody>
      </p:sp>
      <p:sp>
        <p:nvSpPr>
          <p:cNvPr id="5" name="page-no">
            <a:extLst xmlns:a="http://schemas.openxmlformats.org/drawingml/2006/main">
              <a:ext uri="{FF2B5EF4-FFF2-40B4-BE49-F238E27FC236}">
                <a16:creationId xmlns:a16="http://schemas.microsoft.com/office/drawing/2014/main" id="{1EA95397-D746-4989-B5DD-4D4FBB5C1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94A3B8"/>
                </a:solidFill>
              </a:defRPr>
            </a:pPr>
            <a:r>
              <a:rPr sz="1200" b="1">
                <a:solidFill>
                  <a:srgbClr val="94A3B8"/>
                </a:solidFill>
              </a:rPr>
              <a:t>07</a:t>
            </a:r>
          </a:p>
        </p:txBody>
      </p:sp>
      <p:sp>
        <p:nvSpPr>
          <p:cNvPr id="6" name="title-07">
            <a:extLst xmlns:a="http://schemas.openxmlformats.org/drawingml/2006/main">
              <a:ext uri="{FF2B5EF4-FFF2-40B4-BE49-F238E27FC236}">
                <a16:creationId xmlns:a16="http://schemas.microsoft.com/office/drawing/2014/main" id="{D8E93AF0-0AAD-47DC-BDE6-F88BA5BFE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최종 런칭 판단은 일정·버전·이슈가 설명 가능한 상태에서 진행합니다</a:t>
            </a:r>
          </a:p>
        </p:txBody>
      </p:sp>
      <p:sp>
        <p:nvSpPr>
          <p:cNvPr id="7" name="subtitle-07">
            <a:extLst xmlns:a="http://schemas.openxmlformats.org/drawingml/2006/main">
              <a:ext uri="{FF2B5EF4-FFF2-40B4-BE49-F238E27FC236}">
                <a16:creationId xmlns:a16="http://schemas.microsoft.com/office/drawing/2014/main" id="{95C20752-822E-488F-B27F-B8B79DCC3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CBD5E1"/>
                </a:solidFill>
              </a:defRPr>
            </a:pPr>
            <a:r>
              <a:rPr sz="1275">
                <a:solidFill>
                  <a:srgbClr val="CBD5E1"/>
                </a:solidFill>
              </a:rPr>
              <a:t>6개월 로드맵의 목적은 모든 이슈 제거가 아니라, Live 릴리즈 가능한 기준과 잔여 리스크를 명확히 남기는 것입니다.</a:t>
            </a:r>
          </a:p>
        </p:txBody>
      </p:sp>
      <p:sp>
        <p:nvSpPr>
          <p:cNvPr id="8" name="final-check-title">
            <a:extLst xmlns:a="http://schemas.openxmlformats.org/drawingml/2006/main">
              <a:ext uri="{FF2B5EF4-FFF2-40B4-BE49-F238E27FC236}">
                <a16:creationId xmlns:a16="http://schemas.microsoft.com/office/drawing/2014/main" id="{5F4FE8FE-0B73-49A4-A03F-70AD226D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런칭 전 최종 점검 기준</a:t>
            </a:r>
          </a:p>
        </p:txBody>
      </p:sp>
      <p:sp>
        <p:nvSpPr>
          <p:cNvPr id="9" name="final-check-header">
            <a:extLst xmlns:a="http://schemas.openxmlformats.org/drawingml/2006/main">
              <a:ext uri="{FF2B5EF4-FFF2-40B4-BE49-F238E27FC236}">
                <a16:creationId xmlns:a16="http://schemas.microsoft.com/office/drawing/2014/main" id="{2B143A68-BC3B-4C0D-91B7-9D2829ED9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09800"/>
            <a:ext cx="6800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0">
            <a:solidFill>
              <a:srgbClr val="00B8D9"/>
            </a:solidFill>
            <a:prstDash val="solid"/>
          </a:ln>
        </p:spPr>
      </p:sp>
      <p:sp>
        <p:nvSpPr>
          <p:cNvPr id="10" name="final-th-1">
            <a:extLst xmlns:a="http://schemas.openxmlformats.org/drawingml/2006/main">
              <a:ext uri="{FF2B5EF4-FFF2-40B4-BE49-F238E27FC236}">
                <a16:creationId xmlns:a16="http://schemas.microsoft.com/office/drawing/2014/main" id="{8F4FF304-FD43-4D2D-88A7-D60342E6F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00275"/>
            <a:ext cx="76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6111F"/>
                </a:solidFill>
              </a:defRPr>
            </a:pPr>
            <a:r>
              <a:rPr sz="900" b="1">
                <a:solidFill>
                  <a:srgbClr val="06111F"/>
                </a:solidFill>
              </a:rPr>
              <a:t>항목</a:t>
            </a:r>
          </a:p>
        </p:txBody>
      </p:sp>
      <p:sp>
        <p:nvSpPr>
          <p:cNvPr id="11" name="final-th-2">
            <a:extLst xmlns:a="http://schemas.openxmlformats.org/drawingml/2006/main">
              <a:ext uri="{FF2B5EF4-FFF2-40B4-BE49-F238E27FC236}">
                <a16:creationId xmlns:a16="http://schemas.microsoft.com/office/drawing/2014/main" id="{B93B5448-A2B4-43BA-8F70-1D8FF5737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20027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6111F"/>
                </a:solidFill>
              </a:defRPr>
            </a:pPr>
            <a:r>
              <a:rPr sz="900" b="1">
                <a:solidFill>
                  <a:srgbClr val="06111F"/>
                </a:solidFill>
              </a:rPr>
              <a:t>판단 기준</a:t>
            </a:r>
          </a:p>
        </p:txBody>
      </p:sp>
      <p:sp>
        <p:nvSpPr>
          <p:cNvPr id="12" name="final-th-3">
            <a:extLst xmlns:a="http://schemas.openxmlformats.org/drawingml/2006/main">
              <a:ext uri="{FF2B5EF4-FFF2-40B4-BE49-F238E27FC236}">
                <a16:creationId xmlns:a16="http://schemas.microsoft.com/office/drawing/2014/main" id="{B297917C-7AF0-4C21-94B1-808AD6668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200275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6111F"/>
                </a:solidFill>
              </a:defRPr>
            </a:pPr>
            <a:r>
              <a:rPr sz="900" b="1">
                <a:solidFill>
                  <a:srgbClr val="06111F"/>
                </a:solidFill>
              </a:rPr>
              <a:t>PM 확인</a:t>
            </a:r>
          </a:p>
        </p:txBody>
      </p:sp>
      <p:sp>
        <p:nvSpPr>
          <p:cNvPr id="13" name="final-check-row-1">
            <a:extLst xmlns:a="http://schemas.openxmlformats.org/drawingml/2006/main">
              <a:ext uri="{FF2B5EF4-FFF2-40B4-BE49-F238E27FC236}">
                <a16:creationId xmlns:a16="http://schemas.microsoft.com/office/drawing/2014/main" id="{D7C90FAD-2EB3-4BE2-9A97-404C3EC27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38400"/>
            <a:ext cx="6800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F34"/>
          </a:solidFill>
          <a:ln xmlns:a="http://schemas.openxmlformats.org/drawingml/2006/main" w="9525">
            <a:solidFill>
              <a:srgbClr val="2F3B55"/>
            </a:solidFill>
            <a:prstDash val="solid"/>
          </a:ln>
        </p:spPr>
      </p:sp>
      <p:sp>
        <p:nvSpPr>
          <p:cNvPr id="14" name="final-check-item-1">
            <a:extLst xmlns:a="http://schemas.openxmlformats.org/drawingml/2006/main">
              <a:ext uri="{FF2B5EF4-FFF2-40B4-BE49-F238E27FC236}">
                <a16:creationId xmlns:a16="http://schemas.microsoft.com/office/drawing/2014/main" id="{DE6DDC9E-1559-45FE-9A5E-22648B271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9080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B8D9"/>
                </a:solidFill>
              </a:defRPr>
            </a:pPr>
            <a:r>
              <a:rPr sz="1050" b="1">
                <a:solidFill>
                  <a:srgbClr val="00B8D9"/>
                </a:solidFill>
              </a:rPr>
              <a:t>마일스톤</a:t>
            </a:r>
          </a:p>
        </p:txBody>
      </p:sp>
      <p:sp>
        <p:nvSpPr>
          <p:cNvPr id="15" name="final-check-standard-1">
            <a:extLst xmlns:a="http://schemas.openxmlformats.org/drawingml/2006/main">
              <a:ext uri="{FF2B5EF4-FFF2-40B4-BE49-F238E27FC236}">
                <a16:creationId xmlns:a16="http://schemas.microsoft.com/office/drawing/2014/main" id="{E27BCD5A-2E37-42EC-BB0D-0F384F494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431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런칭 전 필수 범위와 보류 범위가 구분됨</a:t>
            </a:r>
          </a:p>
        </p:txBody>
      </p:sp>
      <p:sp>
        <p:nvSpPr>
          <p:cNvPr id="16" name="final-check-action-1">
            <a:extLst xmlns:a="http://schemas.openxmlformats.org/drawingml/2006/main">
              <a:ext uri="{FF2B5EF4-FFF2-40B4-BE49-F238E27FC236}">
                <a16:creationId xmlns:a16="http://schemas.microsoft.com/office/drawing/2014/main" id="{08F5C667-881D-4821-AFF2-7AF68C025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54317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CBD5E1"/>
                </a:solidFill>
              </a:defRPr>
            </a:pPr>
            <a:r>
              <a:rPr sz="938">
                <a:solidFill>
                  <a:srgbClr val="CBD5E1"/>
                </a:solidFill>
              </a:rPr>
              <a:t>진행률보다 통과 기준 확인</a:t>
            </a:r>
          </a:p>
        </p:txBody>
      </p:sp>
      <p:sp>
        <p:nvSpPr>
          <p:cNvPr id="17" name="final-check-row-2">
            <a:extLst xmlns:a="http://schemas.openxmlformats.org/drawingml/2006/main">
              <a:ext uri="{FF2B5EF4-FFF2-40B4-BE49-F238E27FC236}">
                <a16:creationId xmlns:a16="http://schemas.microsoft.com/office/drawing/2014/main" id="{1A4CB59B-F103-4FFB-8BD9-3679DED4C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71800"/>
            <a:ext cx="6800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F3B55"/>
            </a:solidFill>
            <a:prstDash val="solid"/>
          </a:ln>
        </p:spPr>
      </p:sp>
      <p:sp>
        <p:nvSpPr>
          <p:cNvPr id="18" name="final-check-item-2">
            <a:extLst xmlns:a="http://schemas.openxmlformats.org/drawingml/2006/main">
              <a:ext uri="{FF2B5EF4-FFF2-40B4-BE49-F238E27FC236}">
                <a16:creationId xmlns:a16="http://schemas.microsoft.com/office/drawing/2014/main" id="{044D0E67-2B67-43C2-9D32-5EF00AFEF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2420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빌드·버전</a:t>
            </a:r>
          </a:p>
        </p:txBody>
      </p:sp>
      <p:sp>
        <p:nvSpPr>
          <p:cNvPr id="19" name="final-check-standard-2">
            <a:extLst xmlns:a="http://schemas.openxmlformats.org/drawingml/2006/main">
              <a:ext uri="{FF2B5EF4-FFF2-40B4-BE49-F238E27FC236}">
                <a16:creationId xmlns:a16="http://schemas.microsoft.com/office/drawing/2014/main" id="{912C22F0-6F22-4990-A410-160D76924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0765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Live 후보 빌드 기준과 변경 이력이 정리됨</a:t>
            </a:r>
          </a:p>
        </p:txBody>
      </p:sp>
      <p:sp>
        <p:nvSpPr>
          <p:cNvPr id="20" name="final-check-action-2">
            <a:extLst xmlns:a="http://schemas.openxmlformats.org/drawingml/2006/main">
              <a:ext uri="{FF2B5EF4-FFF2-40B4-BE49-F238E27FC236}">
                <a16:creationId xmlns:a16="http://schemas.microsoft.com/office/drawing/2014/main" id="{F5716A4F-F525-4FDF-BA6C-B7AAFDB4E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07657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CBD5E1"/>
                </a:solidFill>
              </a:defRPr>
            </a:pPr>
            <a:r>
              <a:rPr sz="938">
                <a:solidFill>
                  <a:srgbClr val="CBD5E1"/>
                </a:solidFill>
              </a:rPr>
              <a:t>Perforce 기준 상태 공유</a:t>
            </a:r>
          </a:p>
        </p:txBody>
      </p:sp>
      <p:sp>
        <p:nvSpPr>
          <p:cNvPr id="21" name="final-check-row-3">
            <a:extLst xmlns:a="http://schemas.openxmlformats.org/drawingml/2006/main">
              <a:ext uri="{FF2B5EF4-FFF2-40B4-BE49-F238E27FC236}">
                <a16:creationId xmlns:a16="http://schemas.microsoft.com/office/drawing/2014/main" id="{293EB2C4-63B6-45BF-BC4C-8BF888FA8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05200"/>
            <a:ext cx="6800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F34"/>
          </a:solidFill>
          <a:ln xmlns:a="http://schemas.openxmlformats.org/drawingml/2006/main" w="9525">
            <a:solidFill>
              <a:srgbClr val="2F3B55"/>
            </a:solidFill>
            <a:prstDash val="solid"/>
          </a:ln>
        </p:spPr>
      </p:sp>
      <p:sp>
        <p:nvSpPr>
          <p:cNvPr id="22" name="final-check-item-3">
            <a:extLst xmlns:a="http://schemas.openxmlformats.org/drawingml/2006/main">
              <a:ext uri="{FF2B5EF4-FFF2-40B4-BE49-F238E27FC236}">
                <a16:creationId xmlns:a16="http://schemas.microsoft.com/office/drawing/2014/main" id="{C297F16A-30BB-4A44-A265-2C3D03AE1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5760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QA·검수</a:t>
            </a:r>
          </a:p>
        </p:txBody>
      </p:sp>
      <p:sp>
        <p:nvSpPr>
          <p:cNvPr id="23" name="final-check-standard-3">
            <a:extLst xmlns:a="http://schemas.openxmlformats.org/drawingml/2006/main">
              <a:ext uri="{FF2B5EF4-FFF2-40B4-BE49-F238E27FC236}">
                <a16:creationId xmlns:a16="http://schemas.microsoft.com/office/drawing/2014/main" id="{CA8C3050-E137-448F-8A6D-FC8C6946D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099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주요 이슈의 조치 계획과 잔여 리스크가 분리됨</a:t>
            </a:r>
          </a:p>
        </p:txBody>
      </p:sp>
      <p:sp>
        <p:nvSpPr>
          <p:cNvPr id="24" name="final-check-action-3">
            <a:extLst xmlns:a="http://schemas.openxmlformats.org/drawingml/2006/main">
              <a:ext uri="{FF2B5EF4-FFF2-40B4-BE49-F238E27FC236}">
                <a16:creationId xmlns:a16="http://schemas.microsoft.com/office/drawing/2014/main" id="{FA7D4506-D765-435A-972C-5A473ACD4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60997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CBD5E1"/>
                </a:solidFill>
              </a:defRPr>
            </a:pPr>
            <a:r>
              <a:rPr sz="938">
                <a:solidFill>
                  <a:srgbClr val="CBD5E1"/>
                </a:solidFill>
              </a:rPr>
              <a:t>런칭 영향도 중심 점검</a:t>
            </a:r>
          </a:p>
        </p:txBody>
      </p:sp>
      <p:sp>
        <p:nvSpPr>
          <p:cNvPr id="25" name="final-check-row-4">
            <a:extLst xmlns:a="http://schemas.openxmlformats.org/drawingml/2006/main">
              <a:ext uri="{FF2B5EF4-FFF2-40B4-BE49-F238E27FC236}">
                <a16:creationId xmlns:a16="http://schemas.microsoft.com/office/drawing/2014/main" id="{C3C131C6-01E5-49EA-9920-B70F04C1D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38600"/>
            <a:ext cx="6800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F3B55"/>
            </a:solidFill>
            <a:prstDash val="solid"/>
          </a:ln>
        </p:spPr>
      </p:sp>
      <p:sp>
        <p:nvSpPr>
          <p:cNvPr id="26" name="final-check-item-4">
            <a:extLst xmlns:a="http://schemas.openxmlformats.org/drawingml/2006/main">
              <a:ext uri="{FF2B5EF4-FFF2-40B4-BE49-F238E27FC236}">
                <a16:creationId xmlns:a16="http://schemas.microsoft.com/office/drawing/2014/main" id="{AF24902C-DFC2-443F-B830-1A0F2C58E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9100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BD9E8"/>
                </a:solidFill>
              </a:defRPr>
            </a:pPr>
            <a:r>
              <a:rPr sz="1050" b="1">
                <a:solidFill>
                  <a:srgbClr val="8BD9E8"/>
                </a:solidFill>
              </a:rPr>
              <a:t>퍼블리셔 대응</a:t>
            </a:r>
          </a:p>
        </p:txBody>
      </p:sp>
      <p:sp>
        <p:nvSpPr>
          <p:cNvPr id="27" name="final-check-standard-4">
            <a:extLst xmlns:a="http://schemas.openxmlformats.org/drawingml/2006/main">
              <a:ext uri="{FF2B5EF4-FFF2-40B4-BE49-F238E27FC236}">
                <a16:creationId xmlns:a16="http://schemas.microsoft.com/office/drawing/2014/main" id="{FB9616C7-0F61-4E37-AA38-1BFA35CA4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433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요청사항의 반영·보류·차기 대응 기준이 남음</a:t>
            </a:r>
          </a:p>
        </p:txBody>
      </p:sp>
      <p:sp>
        <p:nvSpPr>
          <p:cNvPr id="28" name="final-check-action-4">
            <a:extLst xmlns:a="http://schemas.openxmlformats.org/drawingml/2006/main">
              <a:ext uri="{FF2B5EF4-FFF2-40B4-BE49-F238E27FC236}">
                <a16:creationId xmlns:a16="http://schemas.microsoft.com/office/drawing/2014/main" id="{0598CD25-DFCF-4FCB-94BF-5DC1B5699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14337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CBD5E1"/>
                </a:solidFill>
              </a:defRPr>
            </a:pPr>
            <a:r>
              <a:rPr sz="938">
                <a:solidFill>
                  <a:srgbClr val="CBD5E1"/>
                </a:solidFill>
              </a:rPr>
              <a:t>의사결정 이력 정리</a:t>
            </a:r>
          </a:p>
        </p:txBody>
      </p:sp>
      <p:sp>
        <p:nvSpPr>
          <p:cNvPr id="29" name="final-check-row-5">
            <a:extLst xmlns:a="http://schemas.openxmlformats.org/drawingml/2006/main">
              <a:ext uri="{FF2B5EF4-FFF2-40B4-BE49-F238E27FC236}">
                <a16:creationId xmlns:a16="http://schemas.microsoft.com/office/drawing/2014/main" id="{E4409FA2-3378-478A-8AB9-2D461F827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0"/>
            <a:ext cx="6800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F34"/>
          </a:solidFill>
          <a:ln xmlns:a="http://schemas.openxmlformats.org/drawingml/2006/main" w="9525">
            <a:solidFill>
              <a:srgbClr val="2F3B55"/>
            </a:solidFill>
            <a:prstDash val="solid"/>
          </a:ln>
        </p:spPr>
      </p:sp>
      <p:sp>
        <p:nvSpPr>
          <p:cNvPr id="30" name="final-check-item-5">
            <a:extLst xmlns:a="http://schemas.openxmlformats.org/drawingml/2006/main">
              <a:ext uri="{FF2B5EF4-FFF2-40B4-BE49-F238E27FC236}">
                <a16:creationId xmlns:a16="http://schemas.microsoft.com/office/drawing/2014/main" id="{A2F2616B-B969-4383-B85A-44A209BBA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2440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운영 준비</a:t>
            </a:r>
          </a:p>
        </p:txBody>
      </p:sp>
      <p:sp>
        <p:nvSpPr>
          <p:cNvPr id="31" name="final-check-standard-5">
            <a:extLst xmlns:a="http://schemas.openxmlformats.org/drawingml/2006/main">
              <a:ext uri="{FF2B5EF4-FFF2-40B4-BE49-F238E27FC236}">
                <a16:creationId xmlns:a16="http://schemas.microsoft.com/office/drawing/2014/main" id="{C0472DBD-F99B-4DE2-8173-591A141CC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6767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배포·공지·운영 대응 항목의 담당이 확정됨</a:t>
            </a:r>
          </a:p>
        </p:txBody>
      </p:sp>
      <p:sp>
        <p:nvSpPr>
          <p:cNvPr id="32" name="final-check-action-5">
            <a:extLst xmlns:a="http://schemas.openxmlformats.org/drawingml/2006/main">
              <a:ext uri="{FF2B5EF4-FFF2-40B4-BE49-F238E27FC236}">
                <a16:creationId xmlns:a16="http://schemas.microsoft.com/office/drawing/2014/main" id="{37C70743-0A6C-4C2A-B2E6-ED2628C92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67677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CBD5E1"/>
                </a:solidFill>
              </a:defRPr>
            </a:pPr>
            <a:r>
              <a:rPr sz="938">
                <a:solidFill>
                  <a:srgbClr val="CBD5E1"/>
                </a:solidFill>
              </a:rPr>
              <a:t>Live 릴리즈 체크</a:t>
            </a:r>
          </a:p>
        </p:txBody>
      </p:sp>
      <p:sp>
        <p:nvSpPr>
          <p:cNvPr id="33" name="effect-title">
            <a:extLst xmlns:a="http://schemas.openxmlformats.org/drawingml/2006/main">
              <a:ext uri="{FF2B5EF4-FFF2-40B4-BE49-F238E27FC236}">
                <a16:creationId xmlns:a16="http://schemas.microsoft.com/office/drawing/2014/main" id="{594337DF-1909-4FAB-BBA6-01908A1B7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240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PM 관점 기대 효과</a:t>
            </a:r>
          </a:p>
        </p:txBody>
      </p:sp>
      <p:sp>
        <p:nvSpPr>
          <p:cNvPr id="34" name="effect-card-1">
            <a:extLst xmlns:a="http://schemas.openxmlformats.org/drawingml/2006/main">
              <a:ext uri="{FF2B5EF4-FFF2-40B4-BE49-F238E27FC236}">
                <a16:creationId xmlns:a16="http://schemas.microsoft.com/office/drawing/2014/main" id="{74C611F0-0534-495B-A39A-335CD4CE1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24100"/>
            <a:ext cx="34861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F3B55"/>
            </a:solidFill>
            <a:prstDash val="solid"/>
          </a:ln>
        </p:spPr>
      </p:sp>
      <p:sp>
        <p:nvSpPr>
          <p:cNvPr id="35" name="effect-card-bar-1">
            <a:extLst xmlns:a="http://schemas.openxmlformats.org/drawingml/2006/main">
              <a:ext uri="{FF2B5EF4-FFF2-40B4-BE49-F238E27FC236}">
                <a16:creationId xmlns:a16="http://schemas.microsoft.com/office/drawing/2014/main" id="{A6D51F0D-A548-4626-A20A-3F3B32707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24100"/>
            <a:ext cx="57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0">
            <a:solidFill>
              <a:srgbClr val="00B8D9"/>
            </a:solidFill>
            <a:prstDash val="solid"/>
          </a:ln>
        </p:spPr>
      </p:sp>
      <p:sp>
        <p:nvSpPr>
          <p:cNvPr id="36" name="effect-label-1">
            <a:extLst xmlns:a="http://schemas.openxmlformats.org/drawingml/2006/main">
              <a:ext uri="{FF2B5EF4-FFF2-40B4-BE49-F238E27FC236}">
                <a16:creationId xmlns:a16="http://schemas.microsoft.com/office/drawing/2014/main" id="{8838B068-7B9E-4988-BE40-075DA774B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9077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일정·범위 통제 강화</a:t>
            </a:r>
          </a:p>
        </p:txBody>
      </p:sp>
      <p:sp>
        <p:nvSpPr>
          <p:cNvPr id="37" name="effect-body-1">
            <a:extLst xmlns:a="http://schemas.openxmlformats.org/drawingml/2006/main">
              <a:ext uri="{FF2B5EF4-FFF2-40B4-BE49-F238E27FC236}">
                <a16:creationId xmlns:a16="http://schemas.microsoft.com/office/drawing/2014/main" id="{69721F98-6EED-46A9-ADB4-0A70ADA13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289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CBD5E1"/>
                </a:solidFill>
              </a:defRPr>
            </a:pPr>
            <a:r>
              <a:rPr sz="900">
                <a:solidFill>
                  <a:srgbClr val="CBD5E1"/>
                </a:solidFill>
              </a:rPr>
              <a:t>변경 요청을 영향도 기준으로 분리해 일정 흔들림을 줄입니다.</a:t>
            </a:r>
          </a:p>
        </p:txBody>
      </p:sp>
      <p:sp>
        <p:nvSpPr>
          <p:cNvPr id="38" name="effect-card-2">
            <a:extLst xmlns:a="http://schemas.openxmlformats.org/drawingml/2006/main">
              <a:ext uri="{FF2B5EF4-FFF2-40B4-BE49-F238E27FC236}">
                <a16:creationId xmlns:a16="http://schemas.microsoft.com/office/drawing/2014/main" id="{967C900A-DDB4-4F70-B744-F9CEEED18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62300"/>
            <a:ext cx="34861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F3B55"/>
            </a:solidFill>
            <a:prstDash val="solid"/>
          </a:ln>
        </p:spPr>
      </p:sp>
      <p:sp>
        <p:nvSpPr>
          <p:cNvPr id="39" name="effect-card-bar-2">
            <a:extLst xmlns:a="http://schemas.openxmlformats.org/drawingml/2006/main">
              <a:ext uri="{FF2B5EF4-FFF2-40B4-BE49-F238E27FC236}">
                <a16:creationId xmlns:a16="http://schemas.microsoft.com/office/drawing/2014/main" id="{56C7FF7A-F60E-4AE5-909C-06171F166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62300"/>
            <a:ext cx="57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40" name="effect-label-2">
            <a:extLst xmlns:a="http://schemas.openxmlformats.org/drawingml/2006/main">
              <a:ext uri="{FF2B5EF4-FFF2-40B4-BE49-F238E27FC236}">
                <a16:creationId xmlns:a16="http://schemas.microsoft.com/office/drawing/2014/main" id="{63018349-1B04-499A-B28A-8741AE94A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2897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버전·이슈 추적성 확보</a:t>
            </a:r>
          </a:p>
        </p:txBody>
      </p:sp>
      <p:sp>
        <p:nvSpPr>
          <p:cNvPr id="41" name="effect-body-2">
            <a:extLst xmlns:a="http://schemas.openxmlformats.org/drawingml/2006/main">
              <a:ext uri="{FF2B5EF4-FFF2-40B4-BE49-F238E27FC236}">
                <a16:creationId xmlns:a16="http://schemas.microsoft.com/office/drawing/2014/main" id="{40D1848E-844B-4E0C-8BC1-23C44ED2D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4671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CBD5E1"/>
                </a:solidFill>
              </a:defRPr>
            </a:pPr>
            <a:r>
              <a:rPr sz="900">
                <a:solidFill>
                  <a:srgbClr val="CBD5E1"/>
                </a:solidFill>
              </a:rPr>
              <a:t>빌드 기준과 이슈 상태를 연결해 의사결정 근거를 남깁니다.</a:t>
            </a:r>
          </a:p>
        </p:txBody>
      </p:sp>
      <p:sp>
        <p:nvSpPr>
          <p:cNvPr id="42" name="effect-card-3">
            <a:extLst xmlns:a="http://schemas.openxmlformats.org/drawingml/2006/main">
              <a:ext uri="{FF2B5EF4-FFF2-40B4-BE49-F238E27FC236}">
                <a16:creationId xmlns:a16="http://schemas.microsoft.com/office/drawing/2014/main" id="{B095F5A8-9E3C-46A4-A70C-FF695A46C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00500"/>
            <a:ext cx="34861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F3B55"/>
            </a:solidFill>
            <a:prstDash val="solid"/>
          </a:ln>
        </p:spPr>
      </p:sp>
      <p:sp>
        <p:nvSpPr>
          <p:cNvPr id="43" name="effect-card-bar-3">
            <a:extLst xmlns:a="http://schemas.openxmlformats.org/drawingml/2006/main">
              <a:ext uri="{FF2B5EF4-FFF2-40B4-BE49-F238E27FC236}">
                <a16:creationId xmlns:a16="http://schemas.microsoft.com/office/drawing/2014/main" id="{923BD5E9-7041-48E1-B833-D72C0442C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00500"/>
            <a:ext cx="57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44" name="effect-label-3">
            <a:extLst xmlns:a="http://schemas.openxmlformats.org/drawingml/2006/main">
              <a:ext uri="{FF2B5EF4-FFF2-40B4-BE49-F238E27FC236}">
                <a16:creationId xmlns:a16="http://schemas.microsoft.com/office/drawing/2014/main" id="{75899F6A-DEAB-4962-9948-B509DBBDC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06717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퍼블리셔 대응 명확화</a:t>
            </a:r>
          </a:p>
        </p:txBody>
      </p:sp>
      <p:sp>
        <p:nvSpPr>
          <p:cNvPr id="45" name="effect-body-3">
            <a:extLst xmlns:a="http://schemas.openxmlformats.org/drawingml/2006/main">
              <a:ext uri="{FF2B5EF4-FFF2-40B4-BE49-F238E27FC236}">
                <a16:creationId xmlns:a16="http://schemas.microsoft.com/office/drawing/2014/main" id="{7A262619-0ED7-4960-862E-7231166DE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053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CBD5E1"/>
                </a:solidFill>
              </a:defRPr>
            </a:pPr>
            <a:r>
              <a:rPr sz="900">
                <a:solidFill>
                  <a:srgbClr val="CBD5E1"/>
                </a:solidFill>
              </a:rPr>
              <a:t>검수 피드백을 운영 가능한 액션으로 정리합니다.</a:t>
            </a:r>
          </a:p>
        </p:txBody>
      </p:sp>
      <p:sp>
        <p:nvSpPr>
          <p:cNvPr id="46" name="effect-card-4">
            <a:extLst xmlns:a="http://schemas.openxmlformats.org/drawingml/2006/main">
              <a:ext uri="{FF2B5EF4-FFF2-40B4-BE49-F238E27FC236}">
                <a16:creationId xmlns:a16="http://schemas.microsoft.com/office/drawing/2014/main" id="{0AEC824B-4105-4461-8F63-259BD36DE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838700"/>
            <a:ext cx="34861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F3B55"/>
            </a:solidFill>
            <a:prstDash val="solid"/>
          </a:ln>
        </p:spPr>
      </p:sp>
      <p:sp>
        <p:nvSpPr>
          <p:cNvPr id="47" name="effect-card-bar-4">
            <a:extLst xmlns:a="http://schemas.openxmlformats.org/drawingml/2006/main">
              <a:ext uri="{FF2B5EF4-FFF2-40B4-BE49-F238E27FC236}">
                <a16:creationId xmlns:a16="http://schemas.microsoft.com/office/drawing/2014/main" id="{6C6CEA68-77CB-4C50-8A76-F38BEEE3C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838700"/>
            <a:ext cx="57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D9E8"/>
          </a:solidFill>
          <a:ln xmlns:a="http://schemas.openxmlformats.org/drawingml/2006/main" w="0">
            <a:solidFill>
              <a:srgbClr val="8BD9E8"/>
            </a:solidFill>
            <a:prstDash val="solid"/>
          </a:ln>
        </p:spPr>
      </p:sp>
      <p:sp>
        <p:nvSpPr>
          <p:cNvPr id="48" name="effect-label-4">
            <a:extLst xmlns:a="http://schemas.openxmlformats.org/drawingml/2006/main">
              <a:ext uri="{FF2B5EF4-FFF2-40B4-BE49-F238E27FC236}">
                <a16:creationId xmlns:a16="http://schemas.microsoft.com/office/drawing/2014/main" id="{43C4EBAC-12C1-482A-B40C-31F39811C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90537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Live 릴리즈 준비 완성</a:t>
            </a:r>
          </a:p>
        </p:txBody>
      </p:sp>
      <p:sp>
        <p:nvSpPr>
          <p:cNvPr id="49" name="effect-body-4">
            <a:extLst xmlns:a="http://schemas.openxmlformats.org/drawingml/2006/main">
              <a:ext uri="{FF2B5EF4-FFF2-40B4-BE49-F238E27FC236}">
                <a16:creationId xmlns:a16="http://schemas.microsoft.com/office/drawing/2014/main" id="{5FC3A7C7-5B3E-458F-91F8-D149E75DB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435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CBD5E1"/>
                </a:solidFill>
              </a:defRPr>
            </a:pPr>
            <a:r>
              <a:rPr sz="900">
                <a:solidFill>
                  <a:srgbClr val="CBD5E1"/>
                </a:solidFill>
              </a:rPr>
              <a:t>배포 직전까지 필요한 담당·일정·리스크를 확인합니다.</a:t>
            </a:r>
          </a:p>
        </p:txBody>
      </p:sp>
      <p:sp>
        <p:nvSpPr>
          <p:cNvPr id="50" name="final-message-panel">
            <a:extLst xmlns:a="http://schemas.openxmlformats.org/drawingml/2006/main">
              <a:ext uri="{FF2B5EF4-FFF2-40B4-BE49-F238E27FC236}">
                <a16:creationId xmlns:a16="http://schemas.microsoft.com/office/drawing/2014/main" id="{850BB057-AA22-4B7E-80BA-FDC3893DD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91200"/>
            <a:ext cx="108775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0192E"/>
          </a:solidFill>
          <a:ln xmlns:a="http://schemas.openxmlformats.org/drawingml/2006/main" w="9525">
            <a:solidFill>
              <a:srgbClr val="22304E"/>
            </a:solidFill>
            <a:prstDash val="solid"/>
          </a:ln>
        </p:spPr>
      </p:sp>
      <p:sp>
        <p:nvSpPr>
          <p:cNvPr id="51" name="final-message-label">
            <a:extLst xmlns:a="http://schemas.openxmlformats.org/drawingml/2006/main">
              <a:ext uri="{FF2B5EF4-FFF2-40B4-BE49-F238E27FC236}">
                <a16:creationId xmlns:a16="http://schemas.microsoft.com/office/drawing/2014/main" id="{3E8A81CE-7719-4951-A618-2DE70F9E3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BD9E8"/>
                </a:solidFill>
              </a:defRPr>
            </a:pPr>
            <a:r>
              <a:rPr sz="1200" b="1">
                <a:solidFill>
                  <a:srgbClr val="8BD9E8"/>
                </a:solidFill>
              </a:rPr>
              <a:t>정리</a:t>
            </a:r>
          </a:p>
        </p:txBody>
      </p:sp>
      <p:sp>
        <p:nvSpPr>
          <p:cNvPr id="52" name="final-message-body">
            <a:extLst xmlns:a="http://schemas.openxmlformats.org/drawingml/2006/main">
              <a:ext uri="{FF2B5EF4-FFF2-40B4-BE49-F238E27FC236}">
                <a16:creationId xmlns:a16="http://schemas.microsoft.com/office/drawing/2014/main" id="{BDA761DC-62BE-4DC1-81ED-EFAFE4FC2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9055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FFFFFF"/>
                </a:solidFill>
              </a:defRPr>
            </a:pPr>
            <a:r>
              <a:rPr sz="1125">
                <a:solidFill>
                  <a:srgbClr val="FFFFFF"/>
                </a:solidFill>
              </a:rPr>
              <a:t>HIT2 일본 런칭 준비는 마일스톤, 빌드·버전, QA, 퍼블리셔 대응을 하나의 릴리즈 판단 흐름으로 묶어 관리합니다.</a:t>
            </a:r>
          </a:p>
        </p:txBody>
      </p:sp>
    </p:spTree>
    <p:extLst>
      <p:ext uri="{BB962C8B-B14F-4D97-AF65-F5344CB8AC3E}">
        <p14:creationId xmlns:p14="http://schemas.microsoft.com/office/powerpoint/2010/main" val="19702720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2026-07-13T10:58:57.9610000Z</dcterms:created>
  <dcterms:modified xsi:type="dcterms:W3CDTF">2026-07-13T10:58:57.9610000Z</dcterms:modified>
</coreProperties>
</file>