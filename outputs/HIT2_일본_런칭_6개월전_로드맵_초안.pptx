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13e9580f49498c" /><Relationship Type="http://schemas.openxmlformats.org/officeDocument/2006/relationships/extended-properties" Target="/docProps/app.xml" Id="Re67119488ae642bd" /><Relationship Type="http://schemas.openxmlformats.org/officeDocument/2006/relationships/officeDocument" Target="/ppt/presentation.xml" Id="R6be06951125247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abd73a81de496d"/>
  </p:sldMasterIdLst>
  <p:notesMasterIdLst>
    <p:notesMasterId xmlns:r="http://schemas.openxmlformats.org/officeDocument/2006/relationships" r:id="Rbbabfd3ada2b443a"/>
  </p:notesMasterIdLst>
  <p:sldIdLst>
    <p:sldId xmlns:r="http://schemas.openxmlformats.org/officeDocument/2006/relationships" id="256" r:id="R024cdb1efd834df7"/>
    <p:sldId xmlns:r="http://schemas.openxmlformats.org/officeDocument/2006/relationships" id="257" r:id="R2dc7314c8eb643cc"/>
    <p:sldId xmlns:r="http://schemas.openxmlformats.org/officeDocument/2006/relationships" id="258" r:id="Rcc906091a5b44633"/>
    <p:sldId xmlns:r="http://schemas.openxmlformats.org/officeDocument/2006/relationships" id="259" r:id="R02074470234f403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b0ec09ec1f49f6" /><Relationship Type="http://schemas.openxmlformats.org/officeDocument/2006/relationships/slideMaster" Target="/ppt/slideMasters/slideMaster1.xml" Id="Re2abd73a81de496d" /><Relationship Type="http://schemas.openxmlformats.org/officeDocument/2006/relationships/notesMaster" Target="/ppt/notesMasters/notesMaster1.xml" Id="Rbbabfd3ada2b443a" /><Relationship Type="http://schemas.openxmlformats.org/officeDocument/2006/relationships/presProps" Target="/ppt/presProps.xml" Id="R233b3143a28246c3" /><Relationship Type="http://schemas.openxmlformats.org/officeDocument/2006/relationships/tableStyles" Target="/ppt/tableStyles.xml" Id="Rd602100c20e9478a" /><Relationship Type="http://schemas.openxmlformats.org/officeDocument/2006/relationships/slide" Target="/ppt/slides/slide1.xml" Id="R024cdb1efd834df7" /><Relationship Type="http://schemas.openxmlformats.org/officeDocument/2006/relationships/slide" Target="/ppt/slides/slide2.xml" Id="R2dc7314c8eb643cc" /><Relationship Type="http://schemas.openxmlformats.org/officeDocument/2006/relationships/slide" Target="/ppt/slides/slide3.xml" Id="Rcc906091a5b44633" /><Relationship Type="http://schemas.openxmlformats.org/officeDocument/2006/relationships/slide" Target="/ppt/slides/slide4.xml" Id="R02074470234f40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a61f86e71041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bd834be8234393" /><Relationship Type="http://schemas.openxmlformats.org/officeDocument/2006/relationships/notesMaster" Target="/ppt/notesMasters/notesMaster1.xml" Id="R22238dbcfd494d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99b1066c7145a2" /><Relationship Type="http://schemas.openxmlformats.org/officeDocument/2006/relationships/notesMaster" Target="/ppt/notesMasters/notesMaster1.xml" Id="R2f363c5411a04c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94452af8d04e1a" /><Relationship Type="http://schemas.openxmlformats.org/officeDocument/2006/relationships/notesMaster" Target="/ppt/notesMasters/notesMaster1.xml" Id="R6ed512adf2474b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016750998d448d" /><Relationship Type="http://schemas.openxmlformats.org/officeDocument/2006/relationships/notesMaster" Target="/ppt/notesMasters/notesMaster1.xml" Id="R69df47e2df0b45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eb6bc51d25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441cb361764453" /><Relationship Type="http://schemas.openxmlformats.org/officeDocument/2006/relationships/slideLayout" Target="/ppt/slideLayouts/slideLayout1.xml" Id="Re05a8c3bde8043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05a8c3bde8043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58f7ee4c84065" /><Relationship Type="http://schemas.openxmlformats.org/officeDocument/2006/relationships/notesSlide" Target="/ppt/notesSlides/notesSlide1.xml" Id="R5f4afd795e934d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d1b70c2074473a" /><Relationship Type="http://schemas.openxmlformats.org/officeDocument/2006/relationships/notesSlide" Target="/ppt/notesSlides/notesSlide2.xml" Id="R13038ba97f7f4a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404cbd4264e17" /><Relationship Type="http://schemas.openxmlformats.org/officeDocument/2006/relationships/notesSlide" Target="/ppt/notesSlides/notesSlide3.xml" Id="R2a234a0207994f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993d6b7684a91" /><Relationship Type="http://schemas.openxmlformats.org/officeDocument/2006/relationships/notesSlide" Target="/ppt/notesSlides/notesSlide4.xml" Id="R98b1988b13df4e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EF6E871E-54F0-46E6-8632-C6221EA04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3A14BE7F-9051-4111-8876-2915016B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32C1A1C-5FFC-41B9-A302-1295D55D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HIT2 JAPAN LAUNCH ROADMAP | PAGE 01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FD5DD82E-E3DB-4FEB-9FCB-F5EA6BE7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CA3927E2-ED2A-4F33-A815-A4799442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01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B5FF9048-4163-4B0B-93C6-B38C81DB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125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" name="hero-kicker">
            <a:extLst xmlns:a="http://schemas.openxmlformats.org/drawingml/2006/main">
              <a:ext uri="{FF2B5EF4-FFF2-40B4-BE49-F238E27FC236}">
                <a16:creationId xmlns:a16="http://schemas.microsoft.com/office/drawing/2014/main" id="{4B3D6365-598D-4C53-A782-0DDE1862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D9E8"/>
                </a:solidFill>
              </a:defRPr>
            </a:pPr>
            <a:r>
              <a:rPr sz="1500" b="1">
                <a:solidFill>
                  <a:srgbClr val="8BD9E8"/>
                </a:solidFill>
              </a:rPr>
              <a:t>개발 PM 관점의 글로벌 런칭 준비안</a:t>
            </a:r>
          </a:p>
        </p:txBody>
      </p:sp>
      <p:sp>
        <p:nvSpPr>
          <p:cNvPr id="8" name="hero-title">
            <a:extLst xmlns:a="http://schemas.openxmlformats.org/drawingml/2006/main">
              <a:ext uri="{FF2B5EF4-FFF2-40B4-BE49-F238E27FC236}">
                <a16:creationId xmlns:a16="http://schemas.microsoft.com/office/drawing/2014/main" id="{ADDCD46F-298C-4890-A394-6DEB6613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HIT2 일본 런칭 6개월 전 로드맵</a:t>
            </a:r>
          </a:p>
        </p:txBody>
      </p:sp>
      <p:sp>
        <p:nvSpPr>
          <p:cNvPr id="9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B2035ACF-A406-4B83-8FC5-790E60FE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CBD5E1"/>
                </a:solidFill>
              </a:rPr>
              <a:t>마일스톤, 빌드·버전, QA, 퍼블리셔 커뮤니케이션을 하나의 출시 준비 흐름으로 정리합니다.</a:t>
            </a:r>
          </a:p>
        </p:txBody>
      </p:sp>
      <p:sp>
        <p:nvSpPr>
          <p:cNvPr id="10" name="tag-1">
            <a:extLst xmlns:a="http://schemas.openxmlformats.org/drawingml/2006/main">
              <a:ext uri="{FF2B5EF4-FFF2-40B4-BE49-F238E27FC236}">
                <a16:creationId xmlns:a16="http://schemas.microsoft.com/office/drawing/2014/main" id="{CF57E612-CB17-4AD0-8089-6E513D93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00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런칭 D-6M</a:t>
            </a:r>
          </a:p>
        </p:txBody>
      </p:sp>
      <p:sp>
        <p:nvSpPr>
          <p:cNvPr id="11" name="tag-2">
            <a:extLst xmlns:a="http://schemas.openxmlformats.org/drawingml/2006/main">
              <a:ext uri="{FF2B5EF4-FFF2-40B4-BE49-F238E27FC236}">
                <a16:creationId xmlns:a16="http://schemas.microsoft.com/office/drawing/2014/main" id="{24F0C8BB-A82A-4004-849C-D4BF74FA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573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서비스</a:t>
            </a:r>
          </a:p>
        </p:txBody>
      </p:sp>
      <p:sp>
        <p:nvSpPr>
          <p:cNvPr id="12" name="tag-3">
            <a:extLst xmlns:a="http://schemas.openxmlformats.org/drawingml/2006/main">
              <a:ext uri="{FF2B5EF4-FFF2-40B4-BE49-F238E27FC236}">
                <a16:creationId xmlns:a16="http://schemas.microsoft.com/office/drawing/2014/main" id="{54D690C4-BCBD-4C88-A91C-A0CF61AF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cope-title">
            <a:extLst xmlns:a="http://schemas.openxmlformats.org/drawingml/2006/main">
              <a:ext uri="{FF2B5EF4-FFF2-40B4-BE49-F238E27FC236}">
                <a16:creationId xmlns:a16="http://schemas.microsoft.com/office/drawing/2014/main" id="{E2FD3ADC-F90D-4E4B-A9F3-78846F15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작성 범위</a:t>
            </a:r>
          </a:p>
        </p:txBody>
      </p:sp>
      <p:sp>
        <p:nvSpPr>
          <p:cNvPr id="14" name="scope-note">
            <a:extLst xmlns:a="http://schemas.openxmlformats.org/drawingml/2006/main">
              <a:ext uri="{FF2B5EF4-FFF2-40B4-BE49-F238E27FC236}">
                <a16:creationId xmlns:a16="http://schemas.microsoft.com/office/drawing/2014/main" id="{67DB9ADC-84EC-4214-8A32-A95E83F1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813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실제 경력 서술을 바탕으로 한 임의 로드맵 초안</a:t>
            </a:r>
          </a:p>
        </p:txBody>
      </p:sp>
      <p:sp>
        <p:nvSpPr>
          <p:cNvPr id="15" name="scope-row-1">
            <a:extLst xmlns:a="http://schemas.openxmlformats.org/drawingml/2006/main">
              <a:ext uri="{FF2B5EF4-FFF2-40B4-BE49-F238E27FC236}">
                <a16:creationId xmlns:a16="http://schemas.microsoft.com/office/drawing/2014/main" id="{4C12610D-4C0A-4214-A87F-4CE4CFCC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6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335F205F-678E-4644-BF6F-DFF2B1A0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목표</a:t>
            </a:r>
          </a:p>
        </p:txBody>
      </p:sp>
      <p:sp>
        <p:nvSpPr>
          <p:cNvPr id="17" name="scope-value-1">
            <a:extLst xmlns:a="http://schemas.openxmlformats.org/drawingml/2006/main">
              <a:ext uri="{FF2B5EF4-FFF2-40B4-BE49-F238E27FC236}">
                <a16:creationId xmlns:a16="http://schemas.microsoft.com/office/drawing/2014/main" id="{00DBFD1A-EB29-4725-B716-FAFE3197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052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일본 런칭 전 6개월간의 준비 과업과 의사결정 흐름 제시</a:t>
            </a:r>
          </a:p>
        </p:txBody>
      </p:sp>
      <p:sp>
        <p:nvSpPr>
          <p:cNvPr id="18" name="scope-row-2">
            <a:extLst xmlns:a="http://schemas.openxmlformats.org/drawingml/2006/main">
              <a:ext uri="{FF2B5EF4-FFF2-40B4-BE49-F238E27FC236}">
                <a16:creationId xmlns:a16="http://schemas.microsoft.com/office/drawing/2014/main" id="{E2C42690-E149-4D87-BB53-D4C433F8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7564D172-F2AA-47A5-B310-FB148088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핵심 축</a:t>
            </a:r>
          </a:p>
        </p:txBody>
      </p:sp>
      <p:sp>
        <p:nvSpPr>
          <p:cNvPr id="20" name="scope-value-2">
            <a:extLst xmlns:a="http://schemas.openxmlformats.org/drawingml/2006/main">
              <a:ext uri="{FF2B5EF4-FFF2-40B4-BE49-F238E27FC236}">
                <a16:creationId xmlns:a16="http://schemas.microsoft.com/office/drawing/2014/main" id="{72CE553D-A5A4-460B-A0A0-645FA4F8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195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마일스톤 관리, 빌드·버전 통제, QA 안정화, 퍼블리셔 대응</a:t>
            </a:r>
          </a:p>
        </p:txBody>
      </p:sp>
      <p:sp>
        <p:nvSpPr>
          <p:cNvPr id="21" name="scope-row-3">
            <a:extLst xmlns:a="http://schemas.openxmlformats.org/drawingml/2006/main">
              <a:ext uri="{FF2B5EF4-FFF2-40B4-BE49-F238E27FC236}">
                <a16:creationId xmlns:a16="http://schemas.microsoft.com/office/drawing/2014/main" id="{B667751D-BD09-406F-99F1-722EEC65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scope-label-3">
            <a:extLst xmlns:a="http://schemas.openxmlformats.org/drawingml/2006/main">
              <a:ext uri="{FF2B5EF4-FFF2-40B4-BE49-F238E27FC236}">
                <a16:creationId xmlns:a16="http://schemas.microsoft.com/office/drawing/2014/main" id="{2F87E506-3350-4812-A89B-23CE9E6A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산출물</a:t>
            </a:r>
          </a:p>
        </p:txBody>
      </p:sp>
      <p:sp>
        <p:nvSpPr>
          <p:cNvPr id="23" name="scope-value-3">
            <a:extLst xmlns:a="http://schemas.openxmlformats.org/drawingml/2006/main">
              <a:ext uri="{FF2B5EF4-FFF2-40B4-BE49-F238E27FC236}">
                <a16:creationId xmlns:a16="http://schemas.microsoft.com/office/drawing/2014/main" id="{536D4063-A103-4223-ABBD-5BE69D1D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339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월별 로드맵, 게이트 기준, 리스크·커뮤니케이션 관리안</a:t>
            </a:r>
          </a:p>
        </p:txBody>
      </p:sp>
      <p:sp>
        <p:nvSpPr>
          <p:cNvPr id="24" name="scope-row-4">
            <a:extLst xmlns:a="http://schemas.openxmlformats.org/drawingml/2006/main">
              <a:ext uri="{FF2B5EF4-FFF2-40B4-BE49-F238E27FC236}">
                <a16:creationId xmlns:a16="http://schemas.microsoft.com/office/drawing/2014/main" id="{833BE1D9-9783-4146-A0CC-C52E2D83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5" name="scope-label-4">
            <a:extLst xmlns:a="http://schemas.openxmlformats.org/drawingml/2006/main">
              <a:ext uri="{FF2B5EF4-FFF2-40B4-BE49-F238E27FC236}">
                <a16:creationId xmlns:a16="http://schemas.microsoft.com/office/drawing/2014/main" id="{48716E3A-78B4-4F01-B41F-738A4841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전제</a:t>
            </a:r>
          </a:p>
        </p:txBody>
      </p:sp>
      <p:sp>
        <p:nvSpPr>
          <p:cNvPr id="26" name="scope-value-4">
            <a:extLst xmlns:a="http://schemas.openxmlformats.org/drawingml/2006/main">
              <a:ext uri="{FF2B5EF4-FFF2-40B4-BE49-F238E27FC236}">
                <a16:creationId xmlns:a16="http://schemas.microsoft.com/office/drawing/2014/main" id="{20287506-F50E-4BEC-9DDD-AE98ACFE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482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상세 일정과 지표는 과제 목적에 맞춘 가정값으로 구성</a:t>
            </a:r>
          </a:p>
        </p:txBody>
      </p:sp>
      <p:sp>
        <p:nvSpPr>
          <p:cNvPr id="27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5FC098D1-8FE2-4FA9-B3BA-39F847E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경력 근거</a:t>
            </a:r>
          </a:p>
        </p:txBody>
      </p:sp>
      <p:sp>
        <p:nvSpPr>
          <p:cNvPr id="28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0557C158-E4DA-4C69-9F38-744AF0D0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9" name="evidence-bar-1">
            <a:extLst xmlns:a="http://schemas.openxmlformats.org/drawingml/2006/main">
              <a:ext uri="{FF2B5EF4-FFF2-40B4-BE49-F238E27FC236}">
                <a16:creationId xmlns:a16="http://schemas.microsoft.com/office/drawing/2014/main" id="{92050C45-487E-4773-8D46-6A7589DF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AE069EFC-1F3B-4928-BF0D-C78EC46C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HIT2 일본 서비스 개발 PM</a:t>
            </a:r>
          </a:p>
        </p:txBody>
      </p:sp>
      <p:sp>
        <p:nvSpPr>
          <p:cNvPr id="3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C4244FE5-551D-4AB6-ABD1-D257415A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런칭 운영을 담당 PM 관점에서 통합 관리</a:t>
            </a:r>
          </a:p>
        </p:txBody>
      </p:sp>
      <p:sp>
        <p:nvSpPr>
          <p:cNvPr id="32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D3999706-A676-46CC-8871-8E62BB80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evidence-bar-2">
            <a:extLst xmlns:a="http://schemas.openxmlformats.org/drawingml/2006/main">
              <a:ext uri="{FF2B5EF4-FFF2-40B4-BE49-F238E27FC236}">
                <a16:creationId xmlns:a16="http://schemas.microsoft.com/office/drawing/2014/main" id="{FA6292D2-1300-4D2B-9756-15FA1FF1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57D91E72-C2FC-4020-B2FA-F15D01535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마일스톤 및 배포 일정 총괄</a:t>
            </a:r>
          </a:p>
        </p:txBody>
      </p:sp>
      <p:sp>
        <p:nvSpPr>
          <p:cNvPr id="3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8250533F-B925-4437-A9BA-2B30FFAD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19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일정·범위·릴리즈 기준을 연결해 관리</a:t>
            </a:r>
          </a:p>
        </p:txBody>
      </p:sp>
      <p:sp>
        <p:nvSpPr>
          <p:cNvPr id="36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2440D61D-BA59-44FB-93E0-527A3318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7" name="evidence-bar-3">
            <a:extLst xmlns:a="http://schemas.openxmlformats.org/drawingml/2006/main">
              <a:ext uri="{FF2B5EF4-FFF2-40B4-BE49-F238E27FC236}">
                <a16:creationId xmlns:a16="http://schemas.microsoft.com/office/drawing/2014/main" id="{90EDC4F0-6B5D-46B9-B858-E7266443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2F4E645D-5998-4334-9F21-5DD1A9E2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Perforce 기반 빌드·버전 관리</a:t>
            </a:r>
          </a:p>
        </p:txBody>
      </p:sp>
      <p:sp>
        <p:nvSpPr>
          <p:cNvPr id="3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92AC30B7-B8D2-489D-A6C4-3AA6BAB60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업데이트 안정성을 확보하는 릴리즈 체계 경험</a:t>
            </a:r>
          </a:p>
        </p:txBody>
      </p:sp>
    </p:spTree>
    <p:extLst>
      <p:ext uri="{BB962C8B-B14F-4D97-AF65-F5344CB8AC3E}">
        <p14:creationId xmlns:p14="http://schemas.microsoft.com/office/powerpoint/2010/main" val="11906846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A43E086-8A89-47E3-B486-42AA2E63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8CAB8563-9111-4E26-A49E-089BE172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1BEA5706-5583-417F-82EE-3B8A6F18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SIX-MONTH LAUNCH ROADMAP | PAGE 02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4A206D99-822B-4291-8893-61B82689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4510B05D-BD79-4AAD-B7CD-91CD5380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02</a:t>
            </a:r>
          </a:p>
        </p:txBody>
      </p:sp>
      <p:sp>
        <p:nvSpPr>
          <p:cNvPr id="6" name="title-02">
            <a:extLst xmlns:a="http://schemas.openxmlformats.org/drawingml/2006/main">
              <a:ext uri="{FF2B5EF4-FFF2-40B4-BE49-F238E27FC236}">
                <a16:creationId xmlns:a16="http://schemas.microsoft.com/office/drawing/2014/main" id="{93DA5A2B-44BD-47A5-A31C-4FB7EBBF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6개월 런칭 준비는 마일스톤과 릴리즈 기준을 함께 맞춥니다</a:t>
            </a:r>
          </a:p>
        </p:txBody>
      </p:sp>
      <p:sp>
        <p:nvSpPr>
          <p:cNvPr id="7" name="subtitle-02">
            <a:extLst xmlns:a="http://schemas.openxmlformats.org/drawingml/2006/main">
              <a:ext uri="{FF2B5EF4-FFF2-40B4-BE49-F238E27FC236}">
                <a16:creationId xmlns:a16="http://schemas.microsoft.com/office/drawing/2014/main" id="{25E878C4-34F9-4EDE-8FE9-8D979D71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PM 관점에서는 일정·범위 통제, 빌드·버전 관리, QA, 퍼블리셔 대응을 같은 흐름으로 관리해야 합니다.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DA61E38C-309C-4557-B424-8156157C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00425"/>
            <a:ext cx="9963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3B55"/>
          </a:solidFill>
          <a:ln xmlns:a="http://schemas.openxmlformats.org/drawingml/2006/main" w="0">
            <a:solidFill>
              <a:srgbClr val="2F3B55"/>
            </a:solidFill>
            <a:prstDash val="solid"/>
          </a:ln>
        </p:spPr>
      </p:sp>
      <p:sp>
        <p:nvSpPr>
          <p:cNvPr id="9" name="timeline-card-1">
            <a:extLst xmlns:a="http://schemas.openxmlformats.org/drawingml/2006/main">
              <a:ext uri="{FF2B5EF4-FFF2-40B4-BE49-F238E27FC236}">
                <a16:creationId xmlns:a16="http://schemas.microsoft.com/office/drawing/2014/main" id="{71F326DD-56CB-4AFF-A765-E1FAAC97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timeline-bar-1">
            <a:extLst xmlns:a="http://schemas.openxmlformats.org/drawingml/2006/main">
              <a:ext uri="{FF2B5EF4-FFF2-40B4-BE49-F238E27FC236}">
                <a16:creationId xmlns:a16="http://schemas.microsoft.com/office/drawing/2014/main" id="{B652463F-AFCF-44F4-94C3-59616766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timeline-month-1">
            <a:extLst xmlns:a="http://schemas.openxmlformats.org/drawingml/2006/main">
              <a:ext uri="{FF2B5EF4-FFF2-40B4-BE49-F238E27FC236}">
                <a16:creationId xmlns:a16="http://schemas.microsoft.com/office/drawing/2014/main" id="{DCE0EA11-1AAE-4717-95F8-26061B50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0B8D9"/>
                </a:solidFill>
              </a:defRPr>
            </a:pPr>
            <a:r>
              <a:rPr sz="1275" b="1">
                <a:solidFill>
                  <a:srgbClr val="00B8D9"/>
                </a:solidFill>
              </a:rPr>
              <a:t>D-6M</a:t>
            </a:r>
          </a:p>
        </p:txBody>
      </p:sp>
      <p:sp>
        <p:nvSpPr>
          <p:cNvPr id="12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F9079AF9-10DB-480B-945A-9E18BDF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범위·일정 확정</a:t>
            </a:r>
          </a:p>
        </p:txBody>
      </p:sp>
      <p:sp>
        <p:nvSpPr>
          <p:cNvPr id="13" name="timeline-dot-1-1">
            <a:extLst xmlns:a="http://schemas.openxmlformats.org/drawingml/2006/main">
              <a:ext uri="{FF2B5EF4-FFF2-40B4-BE49-F238E27FC236}">
                <a16:creationId xmlns:a16="http://schemas.microsoft.com/office/drawing/2014/main" id="{2C5E123D-D31B-4307-9FC4-AF7593AA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4" name="timeline-item-1-1">
            <a:extLst xmlns:a="http://schemas.openxmlformats.org/drawingml/2006/main">
              <a:ext uri="{FF2B5EF4-FFF2-40B4-BE49-F238E27FC236}">
                <a16:creationId xmlns:a16="http://schemas.microsoft.com/office/drawing/2014/main" id="{901EB455-DC34-4374-9350-63185609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 서비스 범위</a:t>
            </a:r>
          </a:p>
        </p:txBody>
      </p:sp>
      <p:sp>
        <p:nvSpPr>
          <p:cNvPr id="15" name="timeline-dot-1-2">
            <a:extLst xmlns:a="http://schemas.openxmlformats.org/drawingml/2006/main">
              <a:ext uri="{FF2B5EF4-FFF2-40B4-BE49-F238E27FC236}">
                <a16:creationId xmlns:a16="http://schemas.microsoft.com/office/drawing/2014/main" id="{5F4D47F7-3FD2-45BD-9B60-681FE8C9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6" name="timeline-item-1-2">
            <a:extLst xmlns:a="http://schemas.openxmlformats.org/drawingml/2006/main">
              <a:ext uri="{FF2B5EF4-FFF2-40B4-BE49-F238E27FC236}">
                <a16:creationId xmlns:a16="http://schemas.microsoft.com/office/drawing/2014/main" id="{7673024C-A4B5-4A58-8D71-2885E6E6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마일스톤 기준</a:t>
            </a:r>
          </a:p>
        </p:txBody>
      </p:sp>
      <p:sp>
        <p:nvSpPr>
          <p:cNvPr id="17" name="timeline-dot-1-3">
            <a:extLst xmlns:a="http://schemas.openxmlformats.org/drawingml/2006/main">
              <a:ext uri="{FF2B5EF4-FFF2-40B4-BE49-F238E27FC236}">
                <a16:creationId xmlns:a16="http://schemas.microsoft.com/office/drawing/2014/main" id="{2EDB2DB6-7193-4B99-97A0-D09C0D63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B8D9"/>
                </a:solidFill>
              </a:defRPr>
            </a:pPr>
            <a:r>
              <a:rPr sz="1350" b="1">
                <a:solidFill>
                  <a:srgbClr val="00B8D9"/>
                </a:solidFill>
              </a:rPr>
              <a:t>·</a:t>
            </a:r>
          </a:p>
        </p:txBody>
      </p:sp>
      <p:sp>
        <p:nvSpPr>
          <p:cNvPr id="18" name="timeline-item-1-3">
            <a:extLst xmlns:a="http://schemas.openxmlformats.org/drawingml/2006/main">
              <a:ext uri="{FF2B5EF4-FFF2-40B4-BE49-F238E27FC236}">
                <a16:creationId xmlns:a16="http://schemas.microsoft.com/office/drawing/2014/main" id="{5C633E05-D953-488C-B990-93673E5E7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브랜치 운영 원칙</a:t>
            </a:r>
          </a:p>
        </p:txBody>
      </p:sp>
      <p:sp>
        <p:nvSpPr>
          <p:cNvPr id="19" name="timeline-card-2">
            <a:extLst xmlns:a="http://schemas.openxmlformats.org/drawingml/2006/main">
              <a:ext uri="{FF2B5EF4-FFF2-40B4-BE49-F238E27FC236}">
                <a16:creationId xmlns:a16="http://schemas.microsoft.com/office/drawing/2014/main" id="{22F9E5B4-F844-423C-B4DD-6CFFD20B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timeline-bar-2">
            <a:extLst xmlns:a="http://schemas.openxmlformats.org/drawingml/2006/main">
              <a:ext uri="{FF2B5EF4-FFF2-40B4-BE49-F238E27FC236}">
                <a16:creationId xmlns:a16="http://schemas.microsoft.com/office/drawing/2014/main" id="{C969E6A5-9E57-43B9-BD01-0773E503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21" name="timeline-month-2">
            <a:extLst xmlns:a="http://schemas.openxmlformats.org/drawingml/2006/main">
              <a:ext uri="{FF2B5EF4-FFF2-40B4-BE49-F238E27FC236}">
                <a16:creationId xmlns:a16="http://schemas.microsoft.com/office/drawing/2014/main" id="{8BBA170C-B22B-43CE-89F2-DF96FD87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D-5M</a:t>
            </a:r>
          </a:p>
        </p:txBody>
      </p:sp>
      <p:sp>
        <p:nvSpPr>
          <p:cNvPr id="2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A2DF04A3-5377-45F3-BF16-DC407016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개발·현지화 반영</a:t>
            </a:r>
          </a:p>
        </p:txBody>
      </p:sp>
      <p:sp>
        <p:nvSpPr>
          <p:cNvPr id="23" name="timeline-dot-2-1">
            <a:extLst xmlns:a="http://schemas.openxmlformats.org/drawingml/2006/main">
              <a:ext uri="{FF2B5EF4-FFF2-40B4-BE49-F238E27FC236}">
                <a16:creationId xmlns:a16="http://schemas.microsoft.com/office/drawing/2014/main" id="{E423776E-62F2-4829-897F-1A36521C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4" name="timeline-item-2-1">
            <a:extLst xmlns:a="http://schemas.openxmlformats.org/drawingml/2006/main">
              <a:ext uri="{FF2B5EF4-FFF2-40B4-BE49-F238E27FC236}">
                <a16:creationId xmlns:a16="http://schemas.microsoft.com/office/drawing/2014/main" id="{C19D0E56-E0B8-419F-84ED-329D7AF5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번역 리소스 반영</a:t>
            </a:r>
          </a:p>
        </p:txBody>
      </p:sp>
      <p:sp>
        <p:nvSpPr>
          <p:cNvPr id="25" name="timeline-dot-2-2">
            <a:extLst xmlns:a="http://schemas.openxmlformats.org/drawingml/2006/main">
              <a:ext uri="{FF2B5EF4-FFF2-40B4-BE49-F238E27FC236}">
                <a16:creationId xmlns:a16="http://schemas.microsoft.com/office/drawing/2014/main" id="{FC1AAA73-D307-4699-80C6-C174401D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6" name="timeline-item-2-2">
            <a:extLst xmlns:a="http://schemas.openxmlformats.org/drawingml/2006/main">
              <a:ext uri="{FF2B5EF4-FFF2-40B4-BE49-F238E27FC236}">
                <a16:creationId xmlns:a16="http://schemas.microsoft.com/office/drawing/2014/main" id="{18C39682-6242-4D80-85E6-860A8FF5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요청 정리</a:t>
            </a:r>
          </a:p>
        </p:txBody>
      </p:sp>
      <p:sp>
        <p:nvSpPr>
          <p:cNvPr id="27" name="timeline-dot-2-3">
            <a:extLst xmlns:a="http://schemas.openxmlformats.org/drawingml/2006/main">
              <a:ext uri="{FF2B5EF4-FFF2-40B4-BE49-F238E27FC236}">
                <a16:creationId xmlns:a16="http://schemas.microsoft.com/office/drawing/2014/main" id="{9E21BD62-2784-4B02-AD59-02F013B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28" name="timeline-item-2-3">
            <a:extLst xmlns:a="http://schemas.openxmlformats.org/drawingml/2006/main">
              <a:ext uri="{FF2B5EF4-FFF2-40B4-BE49-F238E27FC236}">
                <a16:creationId xmlns:a16="http://schemas.microsoft.com/office/drawing/2014/main" id="{33B048E2-1BBB-487C-BD6F-067CCB2E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개발 마감 기준</a:t>
            </a:r>
          </a:p>
        </p:txBody>
      </p:sp>
      <p:sp>
        <p:nvSpPr>
          <p:cNvPr id="29" name="timeline-card-3">
            <a:extLst xmlns:a="http://schemas.openxmlformats.org/drawingml/2006/main">
              <a:ext uri="{FF2B5EF4-FFF2-40B4-BE49-F238E27FC236}">
                <a16:creationId xmlns:a16="http://schemas.microsoft.com/office/drawing/2014/main" id="{DBB47F54-3E3F-45D4-AFB2-C4266C7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timeline-bar-3">
            <a:extLst xmlns:a="http://schemas.openxmlformats.org/drawingml/2006/main">
              <a:ext uri="{FF2B5EF4-FFF2-40B4-BE49-F238E27FC236}">
                <a16:creationId xmlns:a16="http://schemas.microsoft.com/office/drawing/2014/main" id="{E7A7958E-B5C7-45E8-8521-919A3318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1" name="timeline-month-3">
            <a:extLst xmlns:a="http://schemas.openxmlformats.org/drawingml/2006/main">
              <a:ext uri="{FF2B5EF4-FFF2-40B4-BE49-F238E27FC236}">
                <a16:creationId xmlns:a16="http://schemas.microsoft.com/office/drawing/2014/main" id="{1E316BF3-5FF9-4197-BF12-665826D6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D-4M</a:t>
            </a:r>
          </a:p>
        </p:txBody>
      </p:sp>
      <p:sp>
        <p:nvSpPr>
          <p:cNvPr id="32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D04C2607-4A9A-4600-BAB4-A72FF6BB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QA 진입</a:t>
            </a:r>
          </a:p>
        </p:txBody>
      </p:sp>
      <p:sp>
        <p:nvSpPr>
          <p:cNvPr id="33" name="timeline-dot-3-1">
            <a:extLst xmlns:a="http://schemas.openxmlformats.org/drawingml/2006/main">
              <a:ext uri="{FF2B5EF4-FFF2-40B4-BE49-F238E27FC236}">
                <a16:creationId xmlns:a16="http://schemas.microsoft.com/office/drawing/2014/main" id="{4804ACF8-4EA2-4910-8C6D-C38A0804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4" name="timeline-item-3-1">
            <a:extLst xmlns:a="http://schemas.openxmlformats.org/drawingml/2006/main">
              <a:ext uri="{FF2B5EF4-FFF2-40B4-BE49-F238E27FC236}">
                <a16:creationId xmlns:a16="http://schemas.microsoft.com/office/drawing/2014/main" id="{E68D4359-A05F-476C-8FC5-05026FF7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일본향 빌드 점검</a:t>
            </a:r>
          </a:p>
        </p:txBody>
      </p:sp>
      <p:sp>
        <p:nvSpPr>
          <p:cNvPr id="35" name="timeline-dot-3-2">
            <a:extLst xmlns:a="http://schemas.openxmlformats.org/drawingml/2006/main">
              <a:ext uri="{FF2B5EF4-FFF2-40B4-BE49-F238E27FC236}">
                <a16:creationId xmlns:a16="http://schemas.microsoft.com/office/drawing/2014/main" id="{1E24820B-82D6-42C0-B322-DE5D7A71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6" name="timeline-item-3-2">
            <a:extLst xmlns:a="http://schemas.openxmlformats.org/drawingml/2006/main">
              <a:ext uri="{FF2B5EF4-FFF2-40B4-BE49-F238E27FC236}">
                <a16:creationId xmlns:a16="http://schemas.microsoft.com/office/drawing/2014/main" id="{CF19FC2F-1EA1-47B5-8716-D2D2C1FE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이슈 등급 분류</a:t>
            </a:r>
          </a:p>
        </p:txBody>
      </p:sp>
      <p:sp>
        <p:nvSpPr>
          <p:cNvPr id="37" name="timeline-dot-3-3">
            <a:extLst xmlns:a="http://schemas.openxmlformats.org/drawingml/2006/main">
              <a:ext uri="{FF2B5EF4-FFF2-40B4-BE49-F238E27FC236}">
                <a16:creationId xmlns:a16="http://schemas.microsoft.com/office/drawing/2014/main" id="{D210B9CC-E680-4DA6-BB24-614588AF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38" name="timeline-item-3-3">
            <a:extLst xmlns:a="http://schemas.openxmlformats.org/drawingml/2006/main">
              <a:ext uri="{FF2B5EF4-FFF2-40B4-BE49-F238E27FC236}">
                <a16:creationId xmlns:a16="http://schemas.microsoft.com/office/drawing/2014/main" id="{92AA4F92-1DAB-41AF-80CF-66087150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수정 우선순위</a:t>
            </a:r>
          </a:p>
        </p:txBody>
      </p:sp>
      <p:sp>
        <p:nvSpPr>
          <p:cNvPr id="39" name="timeline-card-4">
            <a:extLst xmlns:a="http://schemas.openxmlformats.org/drawingml/2006/main">
              <a:ext uri="{FF2B5EF4-FFF2-40B4-BE49-F238E27FC236}">
                <a16:creationId xmlns:a16="http://schemas.microsoft.com/office/drawing/2014/main" id="{0FFA0A42-43DC-4762-A511-B4B1ECDC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0" name="timeline-bar-4">
            <a:extLst xmlns:a="http://schemas.openxmlformats.org/drawingml/2006/main">
              <a:ext uri="{FF2B5EF4-FFF2-40B4-BE49-F238E27FC236}">
                <a16:creationId xmlns:a16="http://schemas.microsoft.com/office/drawing/2014/main" id="{12486716-92B3-42AC-A178-9F518C1F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41" name="timeline-month-4">
            <a:extLst xmlns:a="http://schemas.openxmlformats.org/drawingml/2006/main">
              <a:ext uri="{FF2B5EF4-FFF2-40B4-BE49-F238E27FC236}">
                <a16:creationId xmlns:a16="http://schemas.microsoft.com/office/drawing/2014/main" id="{2E330539-8CC1-40C6-B096-C1C76C8D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8BD9E8"/>
                </a:solidFill>
              </a:defRPr>
            </a:pPr>
            <a:r>
              <a:rPr sz="1275" b="1">
                <a:solidFill>
                  <a:srgbClr val="8BD9E8"/>
                </a:solidFill>
              </a:rPr>
              <a:t>D-3M</a:t>
            </a:r>
          </a:p>
        </p:txBody>
      </p:sp>
      <p:sp>
        <p:nvSpPr>
          <p:cNvPr id="42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A9FC81E3-6E02-4707-8FEB-885B1EBF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검수·CBT 준비</a:t>
            </a:r>
          </a:p>
        </p:txBody>
      </p:sp>
      <p:sp>
        <p:nvSpPr>
          <p:cNvPr id="43" name="timeline-dot-4-1">
            <a:extLst xmlns:a="http://schemas.openxmlformats.org/drawingml/2006/main">
              <a:ext uri="{FF2B5EF4-FFF2-40B4-BE49-F238E27FC236}">
                <a16:creationId xmlns:a16="http://schemas.microsoft.com/office/drawing/2014/main" id="{1376D649-D37E-495B-BE9D-43E198FD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4" name="timeline-item-4-1">
            <a:extLst xmlns:a="http://schemas.openxmlformats.org/drawingml/2006/main">
              <a:ext uri="{FF2B5EF4-FFF2-40B4-BE49-F238E27FC236}">
                <a16:creationId xmlns:a16="http://schemas.microsoft.com/office/drawing/2014/main" id="{512A8B08-988C-462F-8B78-D97B8F7B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퍼블리셔 검수 대응</a:t>
            </a:r>
          </a:p>
        </p:txBody>
      </p:sp>
      <p:sp>
        <p:nvSpPr>
          <p:cNvPr id="45" name="timeline-dot-4-2">
            <a:extLst xmlns:a="http://schemas.openxmlformats.org/drawingml/2006/main">
              <a:ext uri="{FF2B5EF4-FFF2-40B4-BE49-F238E27FC236}">
                <a16:creationId xmlns:a16="http://schemas.microsoft.com/office/drawing/2014/main" id="{FD4E6DE5-31C1-4FAC-9315-6638BF0E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6" name="timeline-item-4-2">
            <a:extLst xmlns:a="http://schemas.openxmlformats.org/drawingml/2006/main">
              <a:ext uri="{FF2B5EF4-FFF2-40B4-BE49-F238E27FC236}">
                <a16:creationId xmlns:a16="http://schemas.microsoft.com/office/drawing/2014/main" id="{786D1630-04A3-4B3B-8D42-65EEEEBE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CBT 빌드 기준</a:t>
            </a:r>
          </a:p>
        </p:txBody>
      </p:sp>
      <p:sp>
        <p:nvSpPr>
          <p:cNvPr id="47" name="timeline-dot-4-3">
            <a:extLst xmlns:a="http://schemas.openxmlformats.org/drawingml/2006/main">
              <a:ext uri="{FF2B5EF4-FFF2-40B4-BE49-F238E27FC236}">
                <a16:creationId xmlns:a16="http://schemas.microsoft.com/office/drawing/2014/main" id="{4C7A9791-7C4E-4273-BD47-40D2D5BC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8BD9E8"/>
                </a:solidFill>
              </a:defRPr>
            </a:pPr>
            <a:r>
              <a:rPr sz="1350" b="1">
                <a:solidFill>
                  <a:srgbClr val="8BD9E8"/>
                </a:solidFill>
              </a:rPr>
              <a:t>·</a:t>
            </a:r>
          </a:p>
        </p:txBody>
      </p:sp>
      <p:sp>
        <p:nvSpPr>
          <p:cNvPr id="48" name="timeline-item-4-3">
            <a:extLst xmlns:a="http://schemas.openxmlformats.org/drawingml/2006/main">
              <a:ext uri="{FF2B5EF4-FFF2-40B4-BE49-F238E27FC236}">
                <a16:creationId xmlns:a16="http://schemas.microsoft.com/office/drawing/2014/main" id="{74047F89-03F6-496D-8425-321CAFDC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운영 시나리오</a:t>
            </a:r>
          </a:p>
        </p:txBody>
      </p:sp>
      <p:sp>
        <p:nvSpPr>
          <p:cNvPr id="49" name="timeline-card-5">
            <a:extLst xmlns:a="http://schemas.openxmlformats.org/drawingml/2006/main">
              <a:ext uri="{FF2B5EF4-FFF2-40B4-BE49-F238E27FC236}">
                <a16:creationId xmlns:a16="http://schemas.microsoft.com/office/drawing/2014/main" id="{EC399B6E-744A-467D-9EFC-97702A00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0" name="timeline-bar-5">
            <a:extLst xmlns:a="http://schemas.openxmlformats.org/drawingml/2006/main">
              <a:ext uri="{FF2B5EF4-FFF2-40B4-BE49-F238E27FC236}">
                <a16:creationId xmlns:a16="http://schemas.microsoft.com/office/drawing/2014/main" id="{61220510-B666-444C-8B7A-8FA61CAB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1" name="timeline-month-5">
            <a:extLst xmlns:a="http://schemas.openxmlformats.org/drawingml/2006/main">
              <a:ext uri="{FF2B5EF4-FFF2-40B4-BE49-F238E27FC236}">
                <a16:creationId xmlns:a16="http://schemas.microsoft.com/office/drawing/2014/main" id="{84921866-73AF-45EA-B166-BD0C644B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B35"/>
                </a:solidFill>
              </a:defRPr>
            </a:pPr>
            <a:r>
              <a:rPr sz="1275" b="1">
                <a:solidFill>
                  <a:srgbClr val="FF6B35"/>
                </a:solidFill>
              </a:rPr>
              <a:t>D-2M</a:t>
            </a:r>
          </a:p>
        </p:txBody>
      </p:sp>
      <p:sp>
        <p:nvSpPr>
          <p:cNvPr id="52" name="timeline-title-5">
            <a:extLst xmlns:a="http://schemas.openxmlformats.org/drawingml/2006/main">
              <a:ext uri="{FF2B5EF4-FFF2-40B4-BE49-F238E27FC236}">
                <a16:creationId xmlns:a16="http://schemas.microsoft.com/office/drawing/2014/main" id="{4EF3FDC2-493D-42C0-9377-D9CB6EE7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후보 빌드 안정화</a:t>
            </a:r>
          </a:p>
        </p:txBody>
      </p:sp>
      <p:sp>
        <p:nvSpPr>
          <p:cNvPr id="53" name="timeline-dot-5-1">
            <a:extLst xmlns:a="http://schemas.openxmlformats.org/drawingml/2006/main">
              <a:ext uri="{FF2B5EF4-FFF2-40B4-BE49-F238E27FC236}">
                <a16:creationId xmlns:a16="http://schemas.microsoft.com/office/drawing/2014/main" id="{CB195D7A-59BA-404C-ABF0-908E1CDC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4" name="timeline-item-5-1">
            <a:extLst xmlns:a="http://schemas.openxmlformats.org/drawingml/2006/main">
              <a:ext uri="{FF2B5EF4-FFF2-40B4-BE49-F238E27FC236}">
                <a16:creationId xmlns:a16="http://schemas.microsoft.com/office/drawing/2014/main" id="{EBCAA5AD-FECC-4CA6-A900-014A0129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릴리즈 후보 관리</a:t>
            </a:r>
          </a:p>
        </p:txBody>
      </p:sp>
      <p:sp>
        <p:nvSpPr>
          <p:cNvPr id="55" name="timeline-dot-5-2">
            <a:extLst xmlns:a="http://schemas.openxmlformats.org/drawingml/2006/main">
              <a:ext uri="{FF2B5EF4-FFF2-40B4-BE49-F238E27FC236}">
                <a16:creationId xmlns:a16="http://schemas.microsoft.com/office/drawing/2014/main" id="{08A31B75-D30E-40AF-BA1F-1EF8F4FE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6" name="timeline-item-5-2">
            <a:extLst xmlns:a="http://schemas.openxmlformats.org/drawingml/2006/main">
              <a:ext uri="{FF2B5EF4-FFF2-40B4-BE49-F238E27FC236}">
                <a16:creationId xmlns:a16="http://schemas.microsoft.com/office/drawing/2014/main" id="{AAC6BC4E-41D7-440D-B91D-9B038415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잔여 이슈 추적</a:t>
            </a:r>
          </a:p>
        </p:txBody>
      </p:sp>
      <p:sp>
        <p:nvSpPr>
          <p:cNvPr id="57" name="timeline-dot-5-3">
            <a:extLst xmlns:a="http://schemas.openxmlformats.org/drawingml/2006/main">
              <a:ext uri="{FF2B5EF4-FFF2-40B4-BE49-F238E27FC236}">
                <a16:creationId xmlns:a16="http://schemas.microsoft.com/office/drawing/2014/main" id="{8709111A-CB14-4DC2-B8CD-6EF97408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B35"/>
                </a:solidFill>
              </a:defRPr>
            </a:pPr>
            <a:r>
              <a:rPr sz="1350" b="1">
                <a:solidFill>
                  <a:srgbClr val="FF6B35"/>
                </a:solidFill>
              </a:rPr>
              <a:t>·</a:t>
            </a:r>
          </a:p>
        </p:txBody>
      </p:sp>
      <p:sp>
        <p:nvSpPr>
          <p:cNvPr id="58" name="timeline-item-5-3">
            <a:extLst xmlns:a="http://schemas.openxmlformats.org/drawingml/2006/main">
              <a:ext uri="{FF2B5EF4-FFF2-40B4-BE49-F238E27FC236}">
                <a16:creationId xmlns:a16="http://schemas.microsoft.com/office/drawing/2014/main" id="{A04420B3-6574-49A0-A54D-3C0337E9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심의·스토어 체크</a:t>
            </a:r>
          </a:p>
        </p:txBody>
      </p:sp>
      <p:sp>
        <p:nvSpPr>
          <p:cNvPr id="59" name="timeline-card-6">
            <a:extLst xmlns:a="http://schemas.openxmlformats.org/drawingml/2006/main">
              <a:ext uri="{FF2B5EF4-FFF2-40B4-BE49-F238E27FC236}">
                <a16:creationId xmlns:a16="http://schemas.microsoft.com/office/drawing/2014/main" id="{2BD4F686-2A66-4025-B862-54E59C2E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23812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60" name="timeline-bar-6">
            <a:extLst xmlns:a="http://schemas.openxmlformats.org/drawingml/2006/main">
              <a:ext uri="{FF2B5EF4-FFF2-40B4-BE49-F238E27FC236}">
                <a16:creationId xmlns:a16="http://schemas.microsoft.com/office/drawing/2014/main" id="{708B108C-1324-411B-9BA7-4A2BFB86C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09800"/>
            <a:ext cx="15811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61" name="timeline-month-6">
            <a:extLst xmlns:a="http://schemas.openxmlformats.org/drawingml/2006/main">
              <a:ext uri="{FF2B5EF4-FFF2-40B4-BE49-F238E27FC236}">
                <a16:creationId xmlns:a16="http://schemas.microsoft.com/office/drawing/2014/main" id="{5A956DAE-A19D-46B6-8FD9-A1909D90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C3AED"/>
                </a:solidFill>
              </a:defRPr>
            </a:pPr>
            <a:r>
              <a:rPr sz="1275" b="1">
                <a:solidFill>
                  <a:srgbClr val="7C3AED"/>
                </a:solidFill>
              </a:rPr>
              <a:t>D-1M</a:t>
            </a:r>
          </a:p>
        </p:txBody>
      </p:sp>
      <p:sp>
        <p:nvSpPr>
          <p:cNvPr id="62" name="timeline-title-6">
            <a:extLst xmlns:a="http://schemas.openxmlformats.org/drawingml/2006/main">
              <a:ext uri="{FF2B5EF4-FFF2-40B4-BE49-F238E27FC236}">
                <a16:creationId xmlns:a16="http://schemas.microsoft.com/office/drawing/2014/main" id="{6B3E2FED-BFEA-4575-AD32-628E7A71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62250"/>
            <a:ext cx="125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Live 릴리즈 준비</a:t>
            </a:r>
          </a:p>
        </p:txBody>
      </p:sp>
      <p:sp>
        <p:nvSpPr>
          <p:cNvPr id="63" name="timeline-dot-6-1">
            <a:extLst xmlns:a="http://schemas.openxmlformats.org/drawingml/2006/main">
              <a:ext uri="{FF2B5EF4-FFF2-40B4-BE49-F238E27FC236}">
                <a16:creationId xmlns:a16="http://schemas.microsoft.com/office/drawing/2014/main" id="{23CE8EB4-54C2-4298-BBAC-A48DE6BD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718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4" name="timeline-item-6-1">
            <a:extLst xmlns:a="http://schemas.openxmlformats.org/drawingml/2006/main">
              <a:ext uri="{FF2B5EF4-FFF2-40B4-BE49-F238E27FC236}">
                <a16:creationId xmlns:a16="http://schemas.microsoft.com/office/drawing/2014/main" id="{43FC7D4C-4B80-4BF1-ABF6-3A3B57D1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04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배포 리허설</a:t>
            </a:r>
          </a:p>
        </p:txBody>
      </p:sp>
      <p:sp>
        <p:nvSpPr>
          <p:cNvPr id="65" name="timeline-dot-6-2">
            <a:extLst xmlns:a="http://schemas.openxmlformats.org/drawingml/2006/main">
              <a:ext uri="{FF2B5EF4-FFF2-40B4-BE49-F238E27FC236}">
                <a16:creationId xmlns:a16="http://schemas.microsoft.com/office/drawing/2014/main" id="{00F3C90B-9B09-4E02-96E6-2EC70BB2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9570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6" name="timeline-item-6-2">
            <a:extLst xmlns:a="http://schemas.openxmlformats.org/drawingml/2006/main">
              <a:ext uri="{FF2B5EF4-FFF2-40B4-BE49-F238E27FC236}">
                <a16:creationId xmlns:a16="http://schemas.microsoft.com/office/drawing/2014/main" id="{F6D35562-8500-46E4-BDD1-E2B11DF4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72427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장애 대응 플랜</a:t>
            </a:r>
          </a:p>
        </p:txBody>
      </p:sp>
      <p:sp>
        <p:nvSpPr>
          <p:cNvPr id="67" name="timeline-dot-6-3">
            <a:extLst xmlns:a="http://schemas.openxmlformats.org/drawingml/2006/main">
              <a:ext uri="{FF2B5EF4-FFF2-40B4-BE49-F238E27FC236}">
                <a16:creationId xmlns:a16="http://schemas.microsoft.com/office/drawing/2014/main" id="{3C7B0809-D291-486E-8D05-B106B403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19550"/>
            <a:ext cx="114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3AED"/>
                </a:solidFill>
              </a:defRPr>
            </a:pPr>
            <a:r>
              <a:rPr sz="1350" b="1">
                <a:solidFill>
                  <a:srgbClr val="7C3AED"/>
                </a:solidFill>
              </a:rPr>
              <a:t>·</a:t>
            </a:r>
          </a:p>
        </p:txBody>
      </p:sp>
      <p:sp>
        <p:nvSpPr>
          <p:cNvPr id="68" name="timeline-item-6-3">
            <a:extLst xmlns:a="http://schemas.openxmlformats.org/drawingml/2006/main">
              <a:ext uri="{FF2B5EF4-FFF2-40B4-BE49-F238E27FC236}">
                <a16:creationId xmlns:a16="http://schemas.microsoft.com/office/drawing/2014/main" id="{3DB2143D-1795-4F0A-A6B3-2E7CBBFF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48125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런칭 당일 체계</a:t>
            </a:r>
          </a:p>
        </p:txBody>
      </p:sp>
      <p:sp>
        <p:nvSpPr>
          <p:cNvPr id="69" name="management-title">
            <a:extLst xmlns:a="http://schemas.openxmlformats.org/drawingml/2006/main">
              <a:ext uri="{FF2B5EF4-FFF2-40B4-BE49-F238E27FC236}">
                <a16:creationId xmlns:a16="http://schemas.microsoft.com/office/drawing/2014/main" id="{8B4EED73-B94C-4426-9A47-C3E15235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PM 관리 포인트</a:t>
            </a:r>
          </a:p>
        </p:txBody>
      </p:sp>
      <p:sp>
        <p:nvSpPr>
          <p:cNvPr id="70" name="management-note">
            <a:extLst xmlns:a="http://schemas.openxmlformats.org/drawingml/2006/main">
              <a:ext uri="{FF2B5EF4-FFF2-40B4-BE49-F238E27FC236}">
                <a16:creationId xmlns:a16="http://schemas.microsoft.com/office/drawing/2014/main" id="{07FBB63D-C0D7-4535-9B80-559FAF62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67275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마일스톤별 완료 기준을 두고, 빌드·버전·QA·퍼블리셔 대응을 함께 추적합니다.</a:t>
            </a:r>
          </a:p>
        </p:txBody>
      </p:sp>
      <p:sp>
        <p:nvSpPr>
          <p:cNvPr id="71" name="mgmt-card-1">
            <a:extLst xmlns:a="http://schemas.openxmlformats.org/drawingml/2006/main">
              <a:ext uri="{FF2B5EF4-FFF2-40B4-BE49-F238E27FC236}">
                <a16:creationId xmlns:a16="http://schemas.microsoft.com/office/drawing/2014/main" id="{E15F8F58-41E2-4145-9110-900F0A06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2" name="mgmt-bar-1">
            <a:extLst xmlns:a="http://schemas.openxmlformats.org/drawingml/2006/main">
              <a:ext uri="{FF2B5EF4-FFF2-40B4-BE49-F238E27FC236}">
                <a16:creationId xmlns:a16="http://schemas.microsoft.com/office/drawing/2014/main" id="{5B3F837C-7109-4855-9123-481E74B0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73" name="mgmt-label-1">
            <a:extLst xmlns:a="http://schemas.openxmlformats.org/drawingml/2006/main">
              <a:ext uri="{FF2B5EF4-FFF2-40B4-BE49-F238E27FC236}">
                <a16:creationId xmlns:a16="http://schemas.microsoft.com/office/drawing/2014/main" id="{237F3CC8-6D45-4360-AA3C-588249C2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마일스톤</a:t>
            </a:r>
          </a:p>
        </p:txBody>
      </p:sp>
      <p:sp>
        <p:nvSpPr>
          <p:cNvPr id="74" name="mgmt-body-1">
            <a:extLst xmlns:a="http://schemas.openxmlformats.org/drawingml/2006/main">
              <a:ext uri="{FF2B5EF4-FFF2-40B4-BE49-F238E27FC236}">
                <a16:creationId xmlns:a16="http://schemas.microsoft.com/office/drawing/2014/main" id="{A46A886F-0781-4E68-AC80-40EC536D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 통제 기준 관리</a:t>
            </a:r>
          </a:p>
        </p:txBody>
      </p:sp>
      <p:sp>
        <p:nvSpPr>
          <p:cNvPr id="75" name="mgmt-card-2">
            <a:extLst xmlns:a="http://schemas.openxmlformats.org/drawingml/2006/main">
              <a:ext uri="{FF2B5EF4-FFF2-40B4-BE49-F238E27FC236}">
                <a16:creationId xmlns:a16="http://schemas.microsoft.com/office/drawing/2014/main" id="{386A610C-DB9A-401D-9367-B6E58933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76" name="mgmt-bar-2">
            <a:extLst xmlns:a="http://schemas.openxmlformats.org/drawingml/2006/main">
              <a:ext uri="{FF2B5EF4-FFF2-40B4-BE49-F238E27FC236}">
                <a16:creationId xmlns:a16="http://schemas.microsoft.com/office/drawing/2014/main" id="{63907001-3C41-4709-80BB-702F1971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7" name="mgmt-label-2">
            <a:extLst xmlns:a="http://schemas.openxmlformats.org/drawingml/2006/main">
              <a:ext uri="{FF2B5EF4-FFF2-40B4-BE49-F238E27FC236}">
                <a16:creationId xmlns:a16="http://schemas.microsoft.com/office/drawing/2014/main" id="{E31B5C6D-D93C-4418-BA2F-F4ED3A07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빌드·버전</a:t>
            </a:r>
          </a:p>
        </p:txBody>
      </p:sp>
      <p:sp>
        <p:nvSpPr>
          <p:cNvPr id="78" name="mgmt-body-2">
            <a:extLst xmlns:a="http://schemas.openxmlformats.org/drawingml/2006/main">
              <a:ext uri="{FF2B5EF4-FFF2-40B4-BE49-F238E27FC236}">
                <a16:creationId xmlns:a16="http://schemas.microsoft.com/office/drawing/2014/main" id="{C3AFEF9B-7CB3-407B-BA92-AB465210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Perforce 기반 릴리즈 관리</a:t>
            </a:r>
          </a:p>
        </p:txBody>
      </p:sp>
      <p:sp>
        <p:nvSpPr>
          <p:cNvPr id="79" name="mgmt-card-3">
            <a:extLst xmlns:a="http://schemas.openxmlformats.org/drawingml/2006/main">
              <a:ext uri="{FF2B5EF4-FFF2-40B4-BE49-F238E27FC236}">
                <a16:creationId xmlns:a16="http://schemas.microsoft.com/office/drawing/2014/main" id="{C28F5A7E-C39A-4623-ACD1-2CEB3B21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0" name="mgmt-bar-3">
            <a:extLst xmlns:a="http://schemas.openxmlformats.org/drawingml/2006/main">
              <a:ext uri="{FF2B5EF4-FFF2-40B4-BE49-F238E27FC236}">
                <a16:creationId xmlns:a16="http://schemas.microsoft.com/office/drawing/2014/main" id="{94BD03DC-19C0-42CA-9D39-3DB7A682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81" name="mgmt-label-3">
            <a:extLst xmlns:a="http://schemas.openxmlformats.org/drawingml/2006/main">
              <a:ext uri="{FF2B5EF4-FFF2-40B4-BE49-F238E27FC236}">
                <a16:creationId xmlns:a16="http://schemas.microsoft.com/office/drawing/2014/main" id="{7712DA1C-365D-40E1-98FF-8AF89476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QA</a:t>
            </a:r>
          </a:p>
        </p:txBody>
      </p:sp>
      <p:sp>
        <p:nvSpPr>
          <p:cNvPr id="82" name="mgmt-body-3">
            <a:extLst xmlns:a="http://schemas.openxmlformats.org/drawingml/2006/main">
              <a:ext uri="{FF2B5EF4-FFF2-40B4-BE49-F238E27FC236}">
                <a16:creationId xmlns:a16="http://schemas.microsoft.com/office/drawing/2014/main" id="{859373C5-3E2C-418E-A041-8539A06F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이슈 대응과 수정 반영 추적</a:t>
            </a:r>
          </a:p>
        </p:txBody>
      </p:sp>
      <p:sp>
        <p:nvSpPr>
          <p:cNvPr id="83" name="mgmt-card-4">
            <a:extLst xmlns:a="http://schemas.openxmlformats.org/drawingml/2006/main">
              <a:ext uri="{FF2B5EF4-FFF2-40B4-BE49-F238E27FC236}">
                <a16:creationId xmlns:a16="http://schemas.microsoft.com/office/drawing/2014/main" id="{38309886-AD96-4069-9518-C8F8BDB3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84" name="mgmt-bar-4">
            <a:extLst xmlns:a="http://schemas.openxmlformats.org/drawingml/2006/main">
              <a:ext uri="{FF2B5EF4-FFF2-40B4-BE49-F238E27FC236}">
                <a16:creationId xmlns:a16="http://schemas.microsoft.com/office/drawing/2014/main" id="{AA81157C-7363-426F-9EDD-131193BAB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2006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85" name="mgmt-label-4">
            <a:extLst xmlns:a="http://schemas.openxmlformats.org/drawingml/2006/main">
              <a:ext uri="{FF2B5EF4-FFF2-40B4-BE49-F238E27FC236}">
                <a16:creationId xmlns:a16="http://schemas.microsoft.com/office/drawing/2014/main" id="{DBFE5DAB-C994-46F2-A9AD-043F2068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3911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퍼블리셔 대응</a:t>
            </a:r>
          </a:p>
        </p:txBody>
      </p:sp>
      <p:sp>
        <p:nvSpPr>
          <p:cNvPr id="86" name="mgmt-body-4">
            <a:extLst xmlns:a="http://schemas.openxmlformats.org/drawingml/2006/main">
              <a:ext uri="{FF2B5EF4-FFF2-40B4-BE49-F238E27FC236}">
                <a16:creationId xmlns:a16="http://schemas.microsoft.com/office/drawing/2014/main" id="{94101F82-460A-4F56-88F6-E90530C4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6578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협업 이슈와 의사결정 정리</a:t>
            </a:r>
          </a:p>
        </p:txBody>
      </p:sp>
    </p:spTree>
    <p:extLst>
      <p:ext uri="{BB962C8B-B14F-4D97-AF65-F5344CB8AC3E}">
        <p14:creationId xmlns:p14="http://schemas.microsoft.com/office/powerpoint/2010/main" val="11159643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D46B4306-9D20-4336-A531-1C1A6DDD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B4128A05-B984-4621-A74D-131000CA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08CE8A8-C31D-40E9-87BC-6F248941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LAUNCH GATE CRITERIA | PAGE 03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B8C3D7A1-E0C2-49E1-901E-2FA76B0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26EE5217-6495-42F4-BE93-F02CA743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03</a:t>
            </a:r>
          </a:p>
        </p:txBody>
      </p:sp>
      <p:sp>
        <p:nvSpPr>
          <p:cNvPr id="6" name="title-03">
            <a:extLst xmlns:a="http://schemas.openxmlformats.org/drawingml/2006/main">
              <a:ext uri="{FF2B5EF4-FFF2-40B4-BE49-F238E27FC236}">
                <a16:creationId xmlns:a16="http://schemas.microsoft.com/office/drawing/2014/main" id="{E3099A91-2E26-4554-A522-2D8D9353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마일스톤은 일정이 아니라 통과 기준으로 관리합니다</a:t>
            </a:r>
          </a:p>
        </p:txBody>
      </p:sp>
      <p:sp>
        <p:nvSpPr>
          <p:cNvPr id="7" name="subtitle-03">
            <a:extLst xmlns:a="http://schemas.openxmlformats.org/drawingml/2006/main">
              <a:ext uri="{FF2B5EF4-FFF2-40B4-BE49-F238E27FC236}">
                <a16:creationId xmlns:a16="http://schemas.microsoft.com/office/drawing/2014/main" id="{784D9ACE-EA34-4E9C-AC21-2865A463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월별 일정표만으로는 리스크가 숨기 쉽기 때문에, 범위·빌드·버전·QA·퍼블리셔 기준을 함께 판정합니다.</a:t>
            </a:r>
          </a:p>
        </p:txBody>
      </p:sp>
      <p:sp>
        <p:nvSpPr>
          <p:cNvPr id="8" name="gate-section-title">
            <a:extLst xmlns:a="http://schemas.openxmlformats.org/drawingml/2006/main">
              <a:ext uri="{FF2B5EF4-FFF2-40B4-BE49-F238E27FC236}">
                <a16:creationId xmlns:a16="http://schemas.microsoft.com/office/drawing/2014/main" id="{FDA28168-CCF0-4E29-9B23-022E05A5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핵심 게이트</a:t>
            </a:r>
          </a:p>
        </p:txBody>
      </p:sp>
      <p:sp>
        <p:nvSpPr>
          <p:cNvPr id="9" name="gate-card-1">
            <a:extLst xmlns:a="http://schemas.openxmlformats.org/drawingml/2006/main">
              <a:ext uri="{FF2B5EF4-FFF2-40B4-BE49-F238E27FC236}">
                <a16:creationId xmlns:a16="http://schemas.microsoft.com/office/drawing/2014/main" id="{7D19993D-E6B5-4344-926F-984B6D27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0" name="gate-bar-1">
            <a:extLst xmlns:a="http://schemas.openxmlformats.org/drawingml/2006/main">
              <a:ext uri="{FF2B5EF4-FFF2-40B4-BE49-F238E27FC236}">
                <a16:creationId xmlns:a16="http://schemas.microsoft.com/office/drawing/2014/main" id="{46F831CF-0307-4F61-92A8-AE2B682C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1" name="gate-phase-1">
            <a:extLst xmlns:a="http://schemas.openxmlformats.org/drawingml/2006/main">
              <a:ext uri="{FF2B5EF4-FFF2-40B4-BE49-F238E27FC236}">
                <a16:creationId xmlns:a16="http://schemas.microsoft.com/office/drawing/2014/main" id="{FC19F9D9-955D-46BF-B655-09CF7BE27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B8D9"/>
                </a:solidFill>
              </a:defRPr>
            </a:pPr>
            <a:r>
              <a:rPr sz="1200" b="1">
                <a:solidFill>
                  <a:srgbClr val="00B8D9"/>
                </a:solidFill>
              </a:rPr>
              <a:t>Gate 1</a:t>
            </a:r>
          </a:p>
        </p:txBody>
      </p:sp>
      <p:sp>
        <p:nvSpPr>
          <p:cNvPr id="12" name="gate-title-1">
            <a:extLst xmlns:a="http://schemas.openxmlformats.org/drawingml/2006/main">
              <a:ext uri="{FF2B5EF4-FFF2-40B4-BE49-F238E27FC236}">
                <a16:creationId xmlns:a16="http://schemas.microsoft.com/office/drawing/2014/main" id="{27F803DD-0952-4D72-861C-F7F5AE04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383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범위 고정</a:t>
            </a:r>
          </a:p>
        </p:txBody>
      </p:sp>
      <p:sp>
        <p:nvSpPr>
          <p:cNvPr id="13" name="gate-body-1">
            <a:extLst xmlns:a="http://schemas.openxmlformats.org/drawingml/2006/main">
              <a:ext uri="{FF2B5EF4-FFF2-40B4-BE49-F238E27FC236}">
                <a16:creationId xmlns:a16="http://schemas.microsoft.com/office/drawing/2014/main" id="{D6E41A6B-72B9-4140-9002-ED8F685F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일본 서비스 범위와 마일스톤 기준을 확정하고, 변경 요청은 영향도 검토 후 반영합니다.</a:t>
            </a:r>
          </a:p>
        </p:txBody>
      </p:sp>
      <p:sp>
        <p:nvSpPr>
          <p:cNvPr id="14" name="gate-card-2">
            <a:extLst xmlns:a="http://schemas.openxmlformats.org/drawingml/2006/main">
              <a:ext uri="{FF2B5EF4-FFF2-40B4-BE49-F238E27FC236}">
                <a16:creationId xmlns:a16="http://schemas.microsoft.com/office/drawing/2014/main" id="{A3AE2984-59B3-4320-85BF-DFB52EE9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5" name="gate-bar-2">
            <a:extLst xmlns:a="http://schemas.openxmlformats.org/drawingml/2006/main">
              <a:ext uri="{FF2B5EF4-FFF2-40B4-BE49-F238E27FC236}">
                <a16:creationId xmlns:a16="http://schemas.microsoft.com/office/drawing/2014/main" id="{FA8AD2D0-EEBE-4F9D-9DF4-E42660FE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6" name="gate-phase-2">
            <a:extLst xmlns:a="http://schemas.openxmlformats.org/drawingml/2006/main">
              <a:ext uri="{FF2B5EF4-FFF2-40B4-BE49-F238E27FC236}">
                <a16:creationId xmlns:a16="http://schemas.microsoft.com/office/drawing/2014/main" id="{6C444459-AF88-4266-8B2F-CDAF117C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4805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B35"/>
                </a:solidFill>
              </a:defRPr>
            </a:pPr>
            <a:r>
              <a:rPr sz="1200" b="1">
                <a:solidFill>
                  <a:srgbClr val="FF6B35"/>
                </a:solidFill>
              </a:rPr>
              <a:t>Gate 2</a:t>
            </a:r>
          </a:p>
        </p:txBody>
      </p:sp>
      <p:sp>
        <p:nvSpPr>
          <p:cNvPr id="17" name="gate-title-2">
            <a:extLst xmlns:a="http://schemas.openxmlformats.org/drawingml/2006/main">
              <a:ext uri="{FF2B5EF4-FFF2-40B4-BE49-F238E27FC236}">
                <a16:creationId xmlns:a16="http://schemas.microsoft.com/office/drawing/2014/main" id="{F2E6CAC6-313C-43C1-858A-E18C2CC7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3852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QA·검수 진입</a:t>
            </a:r>
          </a:p>
        </p:txBody>
      </p:sp>
      <p:sp>
        <p:nvSpPr>
          <p:cNvPr id="18" name="gate-body-2">
            <a:extLst xmlns:a="http://schemas.openxmlformats.org/drawingml/2006/main">
              <a:ext uri="{FF2B5EF4-FFF2-40B4-BE49-F238E27FC236}">
                <a16:creationId xmlns:a16="http://schemas.microsoft.com/office/drawing/2014/main" id="{25422143-0984-4043-AD06-5BBF2883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9095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현지화 리소스와 빌드 반영 상태를 확인한 뒤 QA와 퍼블리셔 검수에 진입합니다.</a:t>
            </a:r>
          </a:p>
        </p:txBody>
      </p:sp>
      <p:sp>
        <p:nvSpPr>
          <p:cNvPr id="19" name="gate-card-3">
            <a:extLst xmlns:a="http://schemas.openxmlformats.org/drawingml/2006/main">
              <a:ext uri="{FF2B5EF4-FFF2-40B4-BE49-F238E27FC236}">
                <a16:creationId xmlns:a16="http://schemas.microsoft.com/office/drawing/2014/main" id="{B7F809EA-C6B0-4117-882B-476B2BA4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3714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0" name="gate-bar-3">
            <a:extLst xmlns:a="http://schemas.openxmlformats.org/drawingml/2006/main">
              <a:ext uri="{FF2B5EF4-FFF2-40B4-BE49-F238E27FC236}">
                <a16:creationId xmlns:a16="http://schemas.microsoft.com/office/drawing/2014/main" id="{5BFE7A5F-F0F4-4950-B8F0-20139CDA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6667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21" name="gate-phase-3">
            <a:extLst xmlns:a="http://schemas.openxmlformats.org/drawingml/2006/main">
              <a:ext uri="{FF2B5EF4-FFF2-40B4-BE49-F238E27FC236}">
                <a16:creationId xmlns:a16="http://schemas.microsoft.com/office/drawing/2014/main" id="{1EBE3083-D550-451F-990A-0DE78BCE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C3AED"/>
                </a:solidFill>
              </a:defRPr>
            </a:pPr>
            <a:r>
              <a:rPr sz="1200" b="1">
                <a:solidFill>
                  <a:srgbClr val="7C3AED"/>
                </a:solidFill>
              </a:rPr>
              <a:t>Gate 3</a:t>
            </a:r>
          </a:p>
        </p:txBody>
      </p:sp>
      <p:sp>
        <p:nvSpPr>
          <p:cNvPr id="22" name="gate-title-3">
            <a:extLst xmlns:a="http://schemas.openxmlformats.org/drawingml/2006/main">
              <a:ext uri="{FF2B5EF4-FFF2-40B4-BE49-F238E27FC236}">
                <a16:creationId xmlns:a16="http://schemas.microsoft.com/office/drawing/2014/main" id="{3EA761F6-CCC0-4DCC-866F-9B1D229D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38675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릴리즈 후보</a:t>
            </a:r>
          </a:p>
        </p:txBody>
      </p:sp>
      <p:sp>
        <p:nvSpPr>
          <p:cNvPr id="23" name="gate-body-3">
            <a:extLst xmlns:a="http://schemas.openxmlformats.org/drawingml/2006/main">
              <a:ext uri="{FF2B5EF4-FFF2-40B4-BE49-F238E27FC236}">
                <a16:creationId xmlns:a16="http://schemas.microsoft.com/office/drawing/2014/main" id="{6CD3FBE4-73F7-41E5-980E-88B63450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9110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BD5E1"/>
                </a:solidFill>
              </a:defRPr>
            </a:pPr>
            <a:r>
              <a:rPr sz="1050">
                <a:solidFill>
                  <a:srgbClr val="CBD5E1"/>
                </a:solidFill>
              </a:rPr>
              <a:t>주요 이슈와 잔여 리스크를 분리하고, 배포 가능한 후보 빌드 기준을 고정합니다.</a:t>
            </a:r>
          </a:p>
        </p:txBody>
      </p:sp>
      <p:sp>
        <p:nvSpPr>
          <p:cNvPr id="24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91BE98DA-DC8E-4009-B02C-74B589B9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판정 체크리스트</a:t>
            </a:r>
          </a:p>
        </p:txBody>
      </p:sp>
      <p:sp>
        <p:nvSpPr>
          <p:cNvPr id="25" name="decision-note">
            <a:extLst xmlns:a="http://schemas.openxmlformats.org/drawingml/2006/main">
              <a:ext uri="{FF2B5EF4-FFF2-40B4-BE49-F238E27FC236}">
                <a16:creationId xmlns:a16="http://schemas.microsoft.com/office/drawing/2014/main" id="{FC2CAF70-273B-4045-8C06-94AD9147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097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94A3B8"/>
                </a:solidFill>
              </a:defRPr>
            </a:pPr>
            <a:r>
              <a:rPr sz="1050">
                <a:solidFill>
                  <a:srgbClr val="94A3B8"/>
                </a:solidFill>
              </a:rPr>
              <a:t>각 항목은 다음 단계 진입 가능성을 기준으로 판단합니다.</a:t>
            </a:r>
          </a:p>
        </p:txBody>
      </p:sp>
      <p:sp>
        <p:nvSpPr>
          <p:cNvPr id="26" name="decision-header">
            <a:extLst xmlns:a="http://schemas.openxmlformats.org/drawingml/2006/main">
              <a:ext uri="{FF2B5EF4-FFF2-40B4-BE49-F238E27FC236}">
                <a16:creationId xmlns:a16="http://schemas.microsoft.com/office/drawing/2014/main" id="{C063CA54-1701-4D04-B059-83D47151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33600"/>
            <a:ext cx="670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7" name="decision-th-1">
            <a:extLst xmlns:a="http://schemas.openxmlformats.org/drawingml/2006/main">
              <a:ext uri="{FF2B5EF4-FFF2-40B4-BE49-F238E27FC236}">
                <a16:creationId xmlns:a16="http://schemas.microsoft.com/office/drawing/2014/main" id="{B3C1901D-32D8-4B40-87D3-21D9037C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098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항목</a:t>
            </a:r>
          </a:p>
        </p:txBody>
      </p:sp>
      <p:sp>
        <p:nvSpPr>
          <p:cNvPr id="28" name="decision-th-2">
            <a:extLst xmlns:a="http://schemas.openxmlformats.org/drawingml/2006/main">
              <a:ext uri="{FF2B5EF4-FFF2-40B4-BE49-F238E27FC236}">
                <a16:creationId xmlns:a16="http://schemas.microsoft.com/office/drawing/2014/main" id="{45A0327C-AB85-4FCC-A1AE-EECEAEBA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098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통과 기준</a:t>
            </a:r>
          </a:p>
        </p:txBody>
      </p:sp>
      <p:sp>
        <p:nvSpPr>
          <p:cNvPr id="29" name="decision-th-3">
            <a:extLst xmlns:a="http://schemas.openxmlformats.org/drawingml/2006/main">
              <a:ext uri="{FF2B5EF4-FFF2-40B4-BE49-F238E27FC236}">
                <a16:creationId xmlns:a16="http://schemas.microsoft.com/office/drawing/2014/main" id="{BBD47427-C55A-4E20-9C9B-2BFBB2DB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098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6111F"/>
                </a:solidFill>
              </a:defRPr>
            </a:pPr>
            <a:r>
              <a:rPr sz="1050" b="1">
                <a:solidFill>
                  <a:srgbClr val="06111F"/>
                </a:solidFill>
              </a:rPr>
              <a:t>주관</a:t>
            </a:r>
          </a:p>
        </p:txBody>
      </p:sp>
      <p:sp>
        <p:nvSpPr>
          <p:cNvPr id="30" name="decision-row-1">
            <a:extLst xmlns:a="http://schemas.openxmlformats.org/drawingml/2006/main">
              <a:ext uri="{FF2B5EF4-FFF2-40B4-BE49-F238E27FC236}">
                <a16:creationId xmlns:a16="http://schemas.microsoft.com/office/drawing/2014/main" id="{3ED38D39-8961-47AC-A7FF-98E31DD4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574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1" name="decision-item-1">
            <a:extLst xmlns:a="http://schemas.openxmlformats.org/drawingml/2006/main">
              <a:ext uri="{FF2B5EF4-FFF2-40B4-BE49-F238E27FC236}">
                <a16:creationId xmlns:a16="http://schemas.microsoft.com/office/drawing/2014/main" id="{3B808020-5681-4F4B-A862-31BD16C2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193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서비스 범위</a:t>
            </a:r>
          </a:p>
        </p:txBody>
      </p:sp>
      <p:sp>
        <p:nvSpPr>
          <p:cNvPr id="32" name="decision-gate-1">
            <a:extLst xmlns:a="http://schemas.openxmlformats.org/drawingml/2006/main">
              <a:ext uri="{FF2B5EF4-FFF2-40B4-BE49-F238E27FC236}">
                <a16:creationId xmlns:a16="http://schemas.microsoft.com/office/drawing/2014/main" id="{EB88E084-E2CB-4FC1-BBCF-BF9209CB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71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런칭 포함·제외 범위와 변경 승인 기준 확정</a:t>
            </a:r>
          </a:p>
        </p:txBody>
      </p:sp>
      <p:sp>
        <p:nvSpPr>
          <p:cNvPr id="33" name="decision-owner-1">
            <a:extLst xmlns:a="http://schemas.openxmlformats.org/drawingml/2006/main">
              <a:ext uri="{FF2B5EF4-FFF2-40B4-BE49-F238E27FC236}">
                <a16:creationId xmlns:a16="http://schemas.microsoft.com/office/drawing/2014/main" id="{5EA37DA0-39F0-4B80-98A6-BAAE1391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6193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34" name="decision-row-2">
            <a:extLst xmlns:a="http://schemas.openxmlformats.org/drawingml/2006/main">
              <a:ext uri="{FF2B5EF4-FFF2-40B4-BE49-F238E27FC236}">
                <a16:creationId xmlns:a16="http://schemas.microsoft.com/office/drawing/2014/main" id="{7E765816-370C-497A-86E7-36371D74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099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5" name="decision-item-2">
            <a:extLst xmlns:a="http://schemas.openxmlformats.org/drawingml/2006/main">
              <a:ext uri="{FF2B5EF4-FFF2-40B4-BE49-F238E27FC236}">
                <a16:creationId xmlns:a16="http://schemas.microsoft.com/office/drawing/2014/main" id="{1313EDB3-5DB0-420E-9239-35D5648E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71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빌드·버전</a:t>
            </a:r>
          </a:p>
        </p:txBody>
      </p:sp>
      <p:sp>
        <p:nvSpPr>
          <p:cNvPr id="36" name="decision-gate-2">
            <a:extLst xmlns:a="http://schemas.openxmlformats.org/drawingml/2006/main">
              <a:ext uri="{FF2B5EF4-FFF2-40B4-BE49-F238E27FC236}">
                <a16:creationId xmlns:a16="http://schemas.microsoft.com/office/drawing/2014/main" id="{EBED3E62-5C3F-44F3-B31D-188CFDDD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24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Perforce 브랜치와 후보 빌드 태그 기준 합의</a:t>
            </a:r>
          </a:p>
        </p:txBody>
      </p:sp>
      <p:sp>
        <p:nvSpPr>
          <p:cNvPr id="37" name="decision-owner-2">
            <a:extLst xmlns:a="http://schemas.openxmlformats.org/drawingml/2006/main">
              <a:ext uri="{FF2B5EF4-FFF2-40B4-BE49-F238E27FC236}">
                <a16:creationId xmlns:a16="http://schemas.microsoft.com/office/drawing/2014/main" id="{ED943F7E-2499-4806-872C-44A48CD4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1718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개발</a:t>
            </a:r>
          </a:p>
        </p:txBody>
      </p:sp>
      <p:sp>
        <p:nvSpPr>
          <p:cNvPr id="38" name="decision-row-3">
            <a:extLst xmlns:a="http://schemas.openxmlformats.org/drawingml/2006/main">
              <a:ext uri="{FF2B5EF4-FFF2-40B4-BE49-F238E27FC236}">
                <a16:creationId xmlns:a16="http://schemas.microsoft.com/office/drawing/2014/main" id="{133B6815-F68D-48EA-B870-1A8AACDD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623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9" name="decision-item-3">
            <a:extLst xmlns:a="http://schemas.openxmlformats.org/drawingml/2006/main">
              <a:ext uri="{FF2B5EF4-FFF2-40B4-BE49-F238E27FC236}">
                <a16:creationId xmlns:a16="http://schemas.microsoft.com/office/drawing/2014/main" id="{E75F62CA-379B-4333-A928-B0FBA230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242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QA 안정성</a:t>
            </a:r>
          </a:p>
        </p:txBody>
      </p:sp>
      <p:sp>
        <p:nvSpPr>
          <p:cNvPr id="40" name="decision-gate-3">
            <a:extLst xmlns:a="http://schemas.openxmlformats.org/drawingml/2006/main">
              <a:ext uri="{FF2B5EF4-FFF2-40B4-BE49-F238E27FC236}">
                <a16:creationId xmlns:a16="http://schemas.microsoft.com/office/drawing/2014/main" id="{35D48100-3790-4EC2-AEFA-0C477444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주요 이슈 수정 계획과 잔여 리스크 공유</a:t>
            </a:r>
          </a:p>
        </p:txBody>
      </p:sp>
      <p:sp>
        <p:nvSpPr>
          <p:cNvPr id="41" name="decision-owner-3">
            <a:extLst xmlns:a="http://schemas.openxmlformats.org/drawingml/2006/main">
              <a:ext uri="{FF2B5EF4-FFF2-40B4-BE49-F238E27FC236}">
                <a16:creationId xmlns:a16="http://schemas.microsoft.com/office/drawing/2014/main" id="{66DE90A7-5E34-45B5-BD3B-35AB284F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7242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QA</a:t>
            </a:r>
          </a:p>
        </p:txBody>
      </p:sp>
      <p:sp>
        <p:nvSpPr>
          <p:cNvPr id="42" name="decision-row-4">
            <a:extLst xmlns:a="http://schemas.openxmlformats.org/drawingml/2006/main">
              <a:ext uri="{FF2B5EF4-FFF2-40B4-BE49-F238E27FC236}">
                <a16:creationId xmlns:a16="http://schemas.microsoft.com/office/drawing/2014/main" id="{6B0087D5-23CD-41CC-893C-08ACE8C3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3" name="decision-item-4">
            <a:extLst xmlns:a="http://schemas.openxmlformats.org/drawingml/2006/main">
              <a:ext uri="{FF2B5EF4-FFF2-40B4-BE49-F238E27FC236}">
                <a16:creationId xmlns:a16="http://schemas.microsoft.com/office/drawing/2014/main" id="{6DBE7842-D2DA-4895-9349-5A40EBD6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767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퍼블리셔 대응</a:t>
            </a:r>
          </a:p>
        </p:txBody>
      </p:sp>
      <p:sp>
        <p:nvSpPr>
          <p:cNvPr id="44" name="decision-gate-4">
            <a:extLst xmlns:a="http://schemas.openxmlformats.org/drawingml/2006/main">
              <a:ext uri="{FF2B5EF4-FFF2-40B4-BE49-F238E27FC236}">
                <a16:creationId xmlns:a16="http://schemas.microsoft.com/office/drawing/2014/main" id="{5A9E6EEA-2B1A-4A35-B570-DBEB7193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2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검수 요청, 피드백, 재전달 일정 추적</a:t>
            </a:r>
          </a:p>
        </p:txBody>
      </p:sp>
      <p:sp>
        <p:nvSpPr>
          <p:cNvPr id="45" name="decision-owner-4">
            <a:extLst xmlns:a="http://schemas.openxmlformats.org/drawingml/2006/main">
              <a:ext uri="{FF2B5EF4-FFF2-40B4-BE49-F238E27FC236}">
                <a16:creationId xmlns:a16="http://schemas.microsoft.com/office/drawing/2014/main" id="{438E4FAF-4E13-4C2D-A34C-CECEA7B5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27672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PM</a:t>
            </a:r>
          </a:p>
        </p:txBody>
      </p:sp>
      <p:sp>
        <p:nvSpPr>
          <p:cNvPr id="46" name="decision-row-5">
            <a:extLst xmlns:a="http://schemas.openxmlformats.org/drawingml/2006/main">
              <a:ext uri="{FF2B5EF4-FFF2-40B4-BE49-F238E27FC236}">
                <a16:creationId xmlns:a16="http://schemas.microsoft.com/office/drawing/2014/main" id="{04225715-7089-4861-B6D1-DEA0CEFF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67250"/>
            <a:ext cx="6705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7" name="decision-item-5">
            <a:extLst xmlns:a="http://schemas.openxmlformats.org/drawingml/2006/main">
              <a:ext uri="{FF2B5EF4-FFF2-40B4-BE49-F238E27FC236}">
                <a16:creationId xmlns:a16="http://schemas.microsoft.com/office/drawing/2014/main" id="{C9675159-5B41-41D7-9A93-FA0F735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291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Live 릴리즈</a:t>
            </a:r>
          </a:p>
        </p:txBody>
      </p:sp>
      <p:sp>
        <p:nvSpPr>
          <p:cNvPr id="48" name="decision-gate-5">
            <a:extLst xmlns:a="http://schemas.openxmlformats.org/drawingml/2006/main">
              <a:ext uri="{FF2B5EF4-FFF2-40B4-BE49-F238E27FC236}">
                <a16:creationId xmlns:a16="http://schemas.microsoft.com/office/drawing/2014/main" id="{8B84A2B6-A7A0-4EB8-854F-2B24B541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FFFFFF"/>
                </a:solidFill>
              </a:defRPr>
            </a:pPr>
            <a:r>
              <a:rPr sz="1013">
                <a:solidFill>
                  <a:srgbClr val="FFFFFF"/>
                </a:solidFill>
              </a:rPr>
              <a:t>배포·공지·장애 대응 담당자 확인</a:t>
            </a:r>
          </a:p>
        </p:txBody>
      </p:sp>
      <p:sp>
        <p:nvSpPr>
          <p:cNvPr id="49" name="decision-owner-5">
            <a:extLst xmlns:a="http://schemas.openxmlformats.org/drawingml/2006/main">
              <a:ext uri="{FF2B5EF4-FFF2-40B4-BE49-F238E27FC236}">
                <a16:creationId xmlns:a16="http://schemas.microsoft.com/office/drawing/2014/main" id="{B1FD36A6-41A5-4800-BB25-912BA864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829175"/>
            <a:ext cx="933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BD5E1"/>
                </a:solidFill>
              </a:defRPr>
            </a:pPr>
            <a:r>
              <a:rPr sz="1050" b="1">
                <a:solidFill>
                  <a:srgbClr val="CBD5E1"/>
                </a:solidFill>
              </a:rPr>
              <a:t>운영</a:t>
            </a:r>
          </a:p>
        </p:txBody>
      </p:sp>
      <p:sp>
        <p:nvSpPr>
          <p:cNvPr id="50" name="principle-panel">
            <a:extLst xmlns:a="http://schemas.openxmlformats.org/drawingml/2006/main">
              <a:ext uri="{FF2B5EF4-FFF2-40B4-BE49-F238E27FC236}">
                <a16:creationId xmlns:a16="http://schemas.microsoft.com/office/drawing/2014/main" id="{8E22E816-F035-4E45-93BA-8627E00E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5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DEA8794B-D33A-4CAD-BD26-E3683F37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운영 원칙</a:t>
            </a:r>
          </a:p>
        </p:txBody>
      </p:sp>
      <p:sp>
        <p:nvSpPr>
          <p:cNvPr id="52" name="principle-body">
            <a:extLst xmlns:a="http://schemas.openxmlformats.org/drawingml/2006/main">
              <a:ext uri="{FF2B5EF4-FFF2-40B4-BE49-F238E27FC236}">
                <a16:creationId xmlns:a16="http://schemas.microsoft.com/office/drawing/2014/main" id="{1E3BB899-BF86-4040-B8FA-898FF5CB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미통과 항목은 일정 지연이 아니라 의사결정 이슈로 분리해, 영향도와 대안을 함께 보고합니다.</a:t>
            </a:r>
          </a:p>
        </p:txBody>
      </p:sp>
    </p:spTree>
    <p:extLst>
      <p:ext uri="{BB962C8B-B14F-4D97-AF65-F5344CB8AC3E}">
        <p14:creationId xmlns:p14="http://schemas.microsoft.com/office/powerpoint/2010/main" val="11122167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39A0876D-8EB1-4BF0-9D87-DDA7C022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622C2192-D74E-48FA-A02B-967F7C51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A6A72702-4C1C-4910-91D1-2F1129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RISK RESPONSE SYSTEM | PAGE 04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12782A95-2D81-44A5-8285-2F651828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08EF888A-88F8-4CBB-A444-E4EFCCFF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04</a:t>
            </a:r>
          </a:p>
        </p:txBody>
      </p:sp>
      <p:sp>
        <p:nvSpPr>
          <p:cNvPr id="6" name="title-04">
            <a:extLst xmlns:a="http://schemas.openxmlformats.org/drawingml/2006/main">
              <a:ext uri="{FF2B5EF4-FFF2-40B4-BE49-F238E27FC236}">
                <a16:creationId xmlns:a16="http://schemas.microsoft.com/office/drawing/2014/main" id="{02E217CC-2544-41A1-B55F-552EA5F8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1057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런칭 리스크는 조기 분리와 이슈 대응으로 관리합니다</a:t>
            </a:r>
          </a:p>
        </p:txBody>
      </p:sp>
      <p:sp>
        <p:nvSpPr>
          <p:cNvPr id="7" name="subtitle-04">
            <a:extLst xmlns:a="http://schemas.openxmlformats.org/drawingml/2006/main">
              <a:ext uri="{FF2B5EF4-FFF2-40B4-BE49-F238E27FC236}">
                <a16:creationId xmlns:a16="http://schemas.microsoft.com/office/drawing/2014/main" id="{65806F9C-7D35-4E68-BBE5-B1836643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CBD5E1"/>
                </a:solidFill>
              </a:defRPr>
            </a:pPr>
            <a:r>
              <a:rPr sz="1275">
                <a:solidFill>
                  <a:srgbClr val="CBD5E1"/>
                </a:solidFill>
              </a:rPr>
              <a:t>일정·범위·빌드·버전·QA에 미치는 영향을 먼저 보이게 만들어야 의사결정이 빨라집니다.</a:t>
            </a:r>
          </a:p>
        </p:txBody>
      </p:sp>
      <p:sp>
        <p:nvSpPr>
          <p:cNvPr id="8" name="risk-title">
            <a:extLst xmlns:a="http://schemas.openxmlformats.org/drawingml/2006/main">
              <a:ext uri="{FF2B5EF4-FFF2-40B4-BE49-F238E27FC236}">
                <a16:creationId xmlns:a16="http://schemas.microsoft.com/office/drawing/2014/main" id="{A50D9908-FCE2-458C-9331-141D7CF8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주요 리스크</a:t>
            </a:r>
          </a:p>
        </p:txBody>
      </p:sp>
      <p:sp>
        <p:nvSpPr>
          <p:cNvPr id="9" name="risk-header">
            <a:extLst xmlns:a="http://schemas.openxmlformats.org/drawingml/2006/main">
              <a:ext uri="{FF2B5EF4-FFF2-40B4-BE49-F238E27FC236}">
                <a16:creationId xmlns:a16="http://schemas.microsoft.com/office/drawing/2014/main" id="{53971F05-0E1F-4858-B0CA-9DDC16E7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657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10" name="risk-th-1">
            <a:extLst xmlns:a="http://schemas.openxmlformats.org/drawingml/2006/main">
              <a:ext uri="{FF2B5EF4-FFF2-40B4-BE49-F238E27FC236}">
                <a16:creationId xmlns:a16="http://schemas.microsoft.com/office/drawing/2014/main" id="{C647D4A6-393E-497B-BB6D-FCD1F53C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0502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리스크</a:t>
            </a:r>
          </a:p>
        </p:txBody>
      </p:sp>
      <p:sp>
        <p:nvSpPr>
          <p:cNvPr id="11" name="risk-th-2">
            <a:extLst xmlns:a="http://schemas.openxmlformats.org/drawingml/2006/main">
              <a:ext uri="{FF2B5EF4-FFF2-40B4-BE49-F238E27FC236}">
                <a16:creationId xmlns:a16="http://schemas.microsoft.com/office/drawing/2014/main" id="{4A489B56-9255-4125-8967-067B665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1050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영향</a:t>
            </a:r>
          </a:p>
        </p:txBody>
      </p:sp>
      <p:sp>
        <p:nvSpPr>
          <p:cNvPr id="12" name="risk-th-3">
            <a:extLst xmlns:a="http://schemas.openxmlformats.org/drawingml/2006/main">
              <a:ext uri="{FF2B5EF4-FFF2-40B4-BE49-F238E27FC236}">
                <a16:creationId xmlns:a16="http://schemas.microsoft.com/office/drawing/2014/main" id="{8836B600-8042-40F5-959F-02189E2E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6111F"/>
                </a:solidFill>
              </a:defRPr>
            </a:pPr>
            <a:r>
              <a:rPr sz="975" b="1">
                <a:solidFill>
                  <a:srgbClr val="06111F"/>
                </a:solidFill>
              </a:rPr>
              <a:t>대응</a:t>
            </a:r>
          </a:p>
        </p:txBody>
      </p:sp>
      <p:sp>
        <p:nvSpPr>
          <p:cNvPr id="13" name="risk-row-1">
            <a:extLst xmlns:a="http://schemas.openxmlformats.org/drawingml/2006/main">
              <a:ext uri="{FF2B5EF4-FFF2-40B4-BE49-F238E27FC236}">
                <a16:creationId xmlns:a16="http://schemas.microsoft.com/office/drawing/2014/main" id="{93507CBD-58EB-473A-868E-D06A2634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050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4" name="risk-name-1">
            <a:extLst xmlns:a="http://schemas.openxmlformats.org/drawingml/2006/main">
              <a:ext uri="{FF2B5EF4-FFF2-40B4-BE49-F238E27FC236}">
                <a16:creationId xmlns:a16="http://schemas.microsoft.com/office/drawing/2014/main" id="{8AC7D2E4-F22A-4559-97B2-1EEECC4B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0B8D9"/>
                </a:solidFill>
              </a:defRPr>
            </a:pPr>
            <a:r>
              <a:rPr sz="1125" b="1">
                <a:solidFill>
                  <a:srgbClr val="00B8D9"/>
                </a:solidFill>
              </a:rPr>
              <a:t>현지화 지연</a:t>
            </a:r>
          </a:p>
        </p:txBody>
      </p:sp>
      <p:sp>
        <p:nvSpPr>
          <p:cNvPr id="15" name="risk-impact-1">
            <a:extLst xmlns:a="http://schemas.openxmlformats.org/drawingml/2006/main">
              <a:ext uri="{FF2B5EF4-FFF2-40B4-BE49-F238E27FC236}">
                <a16:creationId xmlns:a16="http://schemas.microsoft.com/office/drawing/2014/main" id="{0D9174B5-71CC-4883-ACA0-CD6FBABB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4288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번역·리소스 반영 지연으로 검수 일정 압박</a:t>
            </a:r>
          </a:p>
        </p:txBody>
      </p:sp>
      <p:sp>
        <p:nvSpPr>
          <p:cNvPr id="16" name="risk-response-1">
            <a:extLst xmlns:a="http://schemas.openxmlformats.org/drawingml/2006/main">
              <a:ext uri="{FF2B5EF4-FFF2-40B4-BE49-F238E27FC236}">
                <a16:creationId xmlns:a16="http://schemas.microsoft.com/office/drawing/2014/main" id="{8F3096FA-1397-4C3A-9C64-B9A153F1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288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반영 범위와 우선순위 재정렬</a:t>
            </a:r>
          </a:p>
        </p:txBody>
      </p:sp>
      <p:sp>
        <p:nvSpPr>
          <p:cNvPr id="17" name="risk-row-2">
            <a:extLst xmlns:a="http://schemas.openxmlformats.org/drawingml/2006/main">
              <a:ext uri="{FF2B5EF4-FFF2-40B4-BE49-F238E27FC236}">
                <a16:creationId xmlns:a16="http://schemas.microsoft.com/office/drawing/2014/main" id="{22B574F3-663F-4C1E-A62B-0F376042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3370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8" name="risk-name-2">
            <a:extLst xmlns:a="http://schemas.openxmlformats.org/drawingml/2006/main">
              <a:ext uri="{FF2B5EF4-FFF2-40B4-BE49-F238E27FC236}">
                <a16:creationId xmlns:a16="http://schemas.microsoft.com/office/drawing/2014/main" id="{A7A4FBD0-69B9-4DF1-8FBF-F1A4210C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빌드 불안정</a:t>
            </a:r>
          </a:p>
        </p:txBody>
      </p:sp>
      <p:sp>
        <p:nvSpPr>
          <p:cNvPr id="19" name="risk-impact-2">
            <a:extLst xmlns:a="http://schemas.openxmlformats.org/drawingml/2006/main">
              <a:ext uri="{FF2B5EF4-FFF2-40B4-BE49-F238E27FC236}">
                <a16:creationId xmlns:a16="http://schemas.microsoft.com/office/drawing/2014/main" id="{2D87ABAF-6CB8-4DA7-88E6-9D954572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057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후보 빌드 기준 미고정과 긴급 수정 누적</a:t>
            </a:r>
          </a:p>
        </p:txBody>
      </p:sp>
      <p:sp>
        <p:nvSpPr>
          <p:cNvPr id="20" name="risk-response-2">
            <a:extLst xmlns:a="http://schemas.openxmlformats.org/drawingml/2006/main">
              <a:ext uri="{FF2B5EF4-FFF2-40B4-BE49-F238E27FC236}">
                <a16:creationId xmlns:a16="http://schemas.microsoft.com/office/drawing/2014/main" id="{3417579A-CE04-41C1-977A-DB105692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5752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브랜치·태그 기준 고정</a:t>
            </a:r>
          </a:p>
        </p:txBody>
      </p:sp>
      <p:sp>
        <p:nvSpPr>
          <p:cNvPr id="21" name="risk-row-3">
            <a:extLst xmlns:a="http://schemas.openxmlformats.org/drawingml/2006/main">
              <a:ext uri="{FF2B5EF4-FFF2-40B4-BE49-F238E27FC236}">
                <a16:creationId xmlns:a16="http://schemas.microsoft.com/office/drawing/2014/main" id="{268A2E18-532E-42C9-A2EC-9EF168E6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risk-name-3">
            <a:extLst xmlns:a="http://schemas.openxmlformats.org/drawingml/2006/main">
              <a:ext uri="{FF2B5EF4-FFF2-40B4-BE49-F238E27FC236}">
                <a16:creationId xmlns:a16="http://schemas.microsoft.com/office/drawing/2014/main" id="{A7C85972-FB73-4108-AB59-E3AD2B6A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QA 병목</a:t>
            </a:r>
          </a:p>
        </p:txBody>
      </p:sp>
      <p:sp>
        <p:nvSpPr>
          <p:cNvPr id="23" name="risk-impact-3">
            <a:extLst xmlns:a="http://schemas.openxmlformats.org/drawingml/2006/main">
              <a:ext uri="{FF2B5EF4-FFF2-40B4-BE49-F238E27FC236}">
                <a16:creationId xmlns:a16="http://schemas.microsoft.com/office/drawing/2014/main" id="{76A45D05-E701-41F9-802B-6A49F0A6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6861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이슈 분류 지연과 수정 검증 대기 증가</a:t>
            </a:r>
          </a:p>
        </p:txBody>
      </p:sp>
      <p:sp>
        <p:nvSpPr>
          <p:cNvPr id="24" name="risk-response-3">
            <a:extLst xmlns:a="http://schemas.openxmlformats.org/drawingml/2006/main">
              <a:ext uri="{FF2B5EF4-FFF2-40B4-BE49-F238E27FC236}">
                <a16:creationId xmlns:a16="http://schemas.microsoft.com/office/drawing/2014/main" id="{CA4518BD-7A2A-436E-87AE-B436A165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6861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재현 정보와 수정 일정 추적</a:t>
            </a:r>
          </a:p>
        </p:txBody>
      </p:sp>
      <p:sp>
        <p:nvSpPr>
          <p:cNvPr id="25" name="risk-row-4">
            <a:extLst xmlns:a="http://schemas.openxmlformats.org/drawingml/2006/main">
              <a:ext uri="{FF2B5EF4-FFF2-40B4-BE49-F238E27FC236}">
                <a16:creationId xmlns:a16="http://schemas.microsoft.com/office/drawing/2014/main" id="{9F34B709-23C2-4E70-8392-E6960C0F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6" name="risk-name-4">
            <a:extLst xmlns:a="http://schemas.openxmlformats.org/drawingml/2006/main">
              <a:ext uri="{FF2B5EF4-FFF2-40B4-BE49-F238E27FC236}">
                <a16:creationId xmlns:a16="http://schemas.microsoft.com/office/drawing/2014/main" id="{79282555-94FE-46C4-9553-10E1CB4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피드백 지연</a:t>
            </a:r>
          </a:p>
        </p:txBody>
      </p:sp>
      <p:sp>
        <p:nvSpPr>
          <p:cNvPr id="27" name="risk-impact-4">
            <a:extLst xmlns:a="http://schemas.openxmlformats.org/drawingml/2006/main">
              <a:ext uri="{FF2B5EF4-FFF2-40B4-BE49-F238E27FC236}">
                <a16:creationId xmlns:a16="http://schemas.microsoft.com/office/drawing/2014/main" id="{4461E9A9-CD62-4FEE-9906-EFD56829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3148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퍼블리셔 검수 의견 회신과 재전달 일정 불명확</a:t>
            </a:r>
          </a:p>
        </p:txBody>
      </p:sp>
      <p:sp>
        <p:nvSpPr>
          <p:cNvPr id="28" name="risk-response-4">
            <a:extLst xmlns:a="http://schemas.openxmlformats.org/drawingml/2006/main">
              <a:ext uri="{FF2B5EF4-FFF2-40B4-BE49-F238E27FC236}">
                <a16:creationId xmlns:a16="http://schemas.microsoft.com/office/drawing/2014/main" id="{BC5103D7-B8E3-4BF2-B208-E019718B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1482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요청·회신·재전달 상태 관리</a:t>
            </a:r>
          </a:p>
        </p:txBody>
      </p:sp>
      <p:sp>
        <p:nvSpPr>
          <p:cNvPr id="29" name="risk-row-5">
            <a:extLst xmlns:a="http://schemas.openxmlformats.org/drawingml/2006/main">
              <a:ext uri="{FF2B5EF4-FFF2-40B4-BE49-F238E27FC236}">
                <a16:creationId xmlns:a16="http://schemas.microsoft.com/office/drawing/2014/main" id="{FBE01808-DA87-46C9-B5E2-BEB2C1CB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6572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0" name="risk-name-5">
            <a:extLst xmlns:a="http://schemas.openxmlformats.org/drawingml/2006/main">
              <a:ext uri="{FF2B5EF4-FFF2-40B4-BE49-F238E27FC236}">
                <a16:creationId xmlns:a16="http://schemas.microsoft.com/office/drawing/2014/main" id="{9C8A501E-EAE5-40BF-8A11-2EDDE292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B35"/>
                </a:solidFill>
              </a:defRPr>
            </a:pPr>
            <a:r>
              <a:rPr sz="1125" b="1">
                <a:solidFill>
                  <a:srgbClr val="FF6B35"/>
                </a:solidFill>
              </a:rPr>
              <a:t>직전 변경</a:t>
            </a:r>
          </a:p>
        </p:txBody>
      </p:sp>
      <p:sp>
        <p:nvSpPr>
          <p:cNvPr id="31" name="risk-impact-5">
            <a:extLst xmlns:a="http://schemas.openxmlformats.org/drawingml/2006/main">
              <a:ext uri="{FF2B5EF4-FFF2-40B4-BE49-F238E27FC236}">
                <a16:creationId xmlns:a16="http://schemas.microsoft.com/office/drawing/2014/main" id="{0AA21A79-AE73-4EE4-802E-BA69370F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434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서비스 범위와 운영 정책 변경으로 품질 흔들림</a:t>
            </a:r>
          </a:p>
        </p:txBody>
      </p:sp>
      <p:sp>
        <p:nvSpPr>
          <p:cNvPr id="32" name="risk-response-5">
            <a:extLst xmlns:a="http://schemas.openxmlformats.org/drawingml/2006/main">
              <a:ext uri="{FF2B5EF4-FFF2-40B4-BE49-F238E27FC236}">
                <a16:creationId xmlns:a16="http://schemas.microsoft.com/office/drawing/2014/main" id="{BCD13F04-70D9-4FC0-B8E6-F5CE575A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943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영향도 검토 후 반영·보류 결정</a:t>
            </a:r>
          </a:p>
        </p:txBody>
      </p:sp>
      <p:sp>
        <p:nvSpPr>
          <p:cNvPr id="33" name="process-title">
            <a:extLst xmlns:a="http://schemas.openxmlformats.org/drawingml/2006/main">
              <a:ext uri="{FF2B5EF4-FFF2-40B4-BE49-F238E27FC236}">
                <a16:creationId xmlns:a16="http://schemas.microsoft.com/office/drawing/2014/main" id="{B5107125-E0BE-4968-B698-4F923A4E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대응 프로세스</a:t>
            </a:r>
          </a:p>
        </p:txBody>
      </p:sp>
      <p:sp>
        <p:nvSpPr>
          <p:cNvPr id="34" name="process-note">
            <a:extLst xmlns:a="http://schemas.openxmlformats.org/drawingml/2006/main">
              <a:ext uri="{FF2B5EF4-FFF2-40B4-BE49-F238E27FC236}">
                <a16:creationId xmlns:a16="http://schemas.microsoft.com/office/drawing/2014/main" id="{032563F5-12B6-4E82-8A7F-008800CE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94A3B8"/>
                </a:solidFill>
              </a:defRPr>
            </a:pPr>
            <a:r>
              <a:rPr sz="975">
                <a:solidFill>
                  <a:srgbClr val="94A3B8"/>
                </a:solidFill>
              </a:rPr>
              <a:t>먼저 분류·담당을 잡습니다.</a:t>
            </a:r>
          </a:p>
        </p:txBody>
      </p:sp>
      <p:sp>
        <p:nvSpPr>
          <p:cNvPr id="35" name="process-step-1">
            <a:extLst xmlns:a="http://schemas.openxmlformats.org/drawingml/2006/main">
              <a:ext uri="{FF2B5EF4-FFF2-40B4-BE49-F238E27FC236}">
                <a16:creationId xmlns:a16="http://schemas.microsoft.com/office/drawing/2014/main" id="{1E2BF19E-623C-4F31-B490-F48BD5CF7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6" name="process-step-bar-1">
            <a:extLst xmlns:a="http://schemas.openxmlformats.org/drawingml/2006/main">
              <a:ext uri="{FF2B5EF4-FFF2-40B4-BE49-F238E27FC236}">
                <a16:creationId xmlns:a16="http://schemas.microsoft.com/office/drawing/2014/main" id="{2044ACCD-7C49-4A62-8690-82A907B0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479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7" name="process-step-no-1">
            <a:extLst xmlns:a="http://schemas.openxmlformats.org/drawingml/2006/main">
              <a:ext uri="{FF2B5EF4-FFF2-40B4-BE49-F238E27FC236}">
                <a16:creationId xmlns:a16="http://schemas.microsoft.com/office/drawing/2014/main" id="{3AD6421B-B48D-4183-96AB-3B199DF5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1935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01</a:t>
            </a:r>
          </a:p>
        </p:txBody>
      </p:sp>
      <p:sp>
        <p:nvSpPr>
          <p:cNvPr id="38" name="process-step-title-1">
            <a:extLst xmlns:a="http://schemas.openxmlformats.org/drawingml/2006/main">
              <a:ext uri="{FF2B5EF4-FFF2-40B4-BE49-F238E27FC236}">
                <a16:creationId xmlns:a16="http://schemas.microsoft.com/office/drawing/2014/main" id="{65C72DE7-0046-44DB-8E3C-17DE2676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622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이슈 등록</a:t>
            </a:r>
          </a:p>
        </p:txBody>
      </p:sp>
      <p:sp>
        <p:nvSpPr>
          <p:cNvPr id="39" name="process-step-body-1">
            <a:extLst xmlns:a="http://schemas.openxmlformats.org/drawingml/2006/main">
              <a:ext uri="{FF2B5EF4-FFF2-40B4-BE49-F238E27FC236}">
                <a16:creationId xmlns:a16="http://schemas.microsoft.com/office/drawing/2014/main" id="{6EE4C32B-4C91-4A1B-939F-A3093548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193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일정·빌드·QA·퍼블리셔 항목 분류</a:t>
            </a:r>
          </a:p>
        </p:txBody>
      </p:sp>
      <p:sp>
        <p:nvSpPr>
          <p:cNvPr id="40" name="process-step-2">
            <a:extLst xmlns:a="http://schemas.openxmlformats.org/drawingml/2006/main">
              <a:ext uri="{FF2B5EF4-FFF2-40B4-BE49-F238E27FC236}">
                <a16:creationId xmlns:a16="http://schemas.microsoft.com/office/drawing/2014/main" id="{0843C6C3-C3E5-42FB-80E5-EF0EC091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1" name="process-step-bar-2">
            <a:extLst xmlns:a="http://schemas.openxmlformats.org/drawingml/2006/main">
              <a:ext uri="{FF2B5EF4-FFF2-40B4-BE49-F238E27FC236}">
                <a16:creationId xmlns:a16="http://schemas.microsoft.com/office/drawing/2014/main" id="{A80D8D44-E243-41CA-A4E4-DD81CA51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670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42" name="process-step-no-2">
            <a:extLst xmlns:a="http://schemas.openxmlformats.org/drawingml/2006/main">
              <a:ext uri="{FF2B5EF4-FFF2-40B4-BE49-F238E27FC236}">
                <a16:creationId xmlns:a16="http://schemas.microsoft.com/office/drawing/2014/main" id="{72A1295D-C6B6-4393-BE39-73D24CF0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3850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3" name="process-step-title-2">
            <a:extLst xmlns:a="http://schemas.openxmlformats.org/drawingml/2006/main">
              <a:ext uri="{FF2B5EF4-FFF2-40B4-BE49-F238E27FC236}">
                <a16:creationId xmlns:a16="http://schemas.microsoft.com/office/drawing/2014/main" id="{06758EF0-4849-45F1-BB65-2BC49EA0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813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영향도 판단</a:t>
            </a:r>
          </a:p>
        </p:txBody>
      </p:sp>
      <p:sp>
        <p:nvSpPr>
          <p:cNvPr id="44" name="process-step-body-2">
            <a:extLst xmlns:a="http://schemas.openxmlformats.org/drawingml/2006/main">
              <a:ext uri="{FF2B5EF4-FFF2-40B4-BE49-F238E27FC236}">
                <a16:creationId xmlns:a16="http://schemas.microsoft.com/office/drawing/2014/main" id="{4D73D3B8-2FBA-4D28-882A-294645551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4385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일정·범위·품질 영향도 확인</a:t>
            </a:r>
          </a:p>
        </p:txBody>
      </p:sp>
      <p:sp>
        <p:nvSpPr>
          <p:cNvPr id="45" name="process-step-3">
            <a:extLst xmlns:a="http://schemas.openxmlformats.org/drawingml/2006/main">
              <a:ext uri="{FF2B5EF4-FFF2-40B4-BE49-F238E27FC236}">
                <a16:creationId xmlns:a16="http://schemas.microsoft.com/office/drawing/2014/main" id="{3C282961-8379-4729-BF6F-53B53D17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620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46" name="process-step-bar-3">
            <a:extLst xmlns:a="http://schemas.openxmlformats.org/drawingml/2006/main">
              <a:ext uri="{FF2B5EF4-FFF2-40B4-BE49-F238E27FC236}">
                <a16:creationId xmlns:a16="http://schemas.microsoft.com/office/drawing/2014/main" id="{8F5E6589-7A82-48D8-BC4D-84C278D1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8620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47" name="process-step-no-3">
            <a:extLst xmlns:a="http://schemas.openxmlformats.org/drawingml/2006/main">
              <a:ext uri="{FF2B5EF4-FFF2-40B4-BE49-F238E27FC236}">
                <a16:creationId xmlns:a16="http://schemas.microsoft.com/office/drawing/2014/main" id="{23707AA8-D05B-4F71-9317-3F7640B2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8" name="process-step-title-3">
            <a:extLst xmlns:a="http://schemas.openxmlformats.org/drawingml/2006/main">
              <a:ext uri="{FF2B5EF4-FFF2-40B4-BE49-F238E27FC236}">
                <a16:creationId xmlns:a16="http://schemas.microsoft.com/office/drawing/2014/main" id="{3C77EEDA-1980-49E6-ACD3-77A8005A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00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담당·기한 지정</a:t>
            </a:r>
          </a:p>
        </p:txBody>
      </p:sp>
      <p:sp>
        <p:nvSpPr>
          <p:cNvPr id="49" name="process-step-body-3">
            <a:extLst xmlns:a="http://schemas.openxmlformats.org/drawingml/2006/main">
              <a:ext uri="{FF2B5EF4-FFF2-40B4-BE49-F238E27FC236}">
                <a16:creationId xmlns:a16="http://schemas.microsoft.com/office/drawing/2014/main" id="{C059B267-FBCE-4BF0-BF7E-89FFA980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257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개발·QA·퍼블리셔 담당 확정</a:t>
            </a:r>
          </a:p>
        </p:txBody>
      </p:sp>
      <p:sp>
        <p:nvSpPr>
          <p:cNvPr id="50" name="process-step-4">
            <a:extLst xmlns:a="http://schemas.openxmlformats.org/drawingml/2006/main">
              <a:ext uri="{FF2B5EF4-FFF2-40B4-BE49-F238E27FC236}">
                <a16:creationId xmlns:a16="http://schemas.microsoft.com/office/drawing/2014/main" id="{43B09CBB-AF12-488C-AFFC-C3BCC49D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05350"/>
            <a:ext cx="37147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51" name="process-step-bar-4">
            <a:extLst xmlns:a="http://schemas.openxmlformats.org/drawingml/2006/main">
              <a:ext uri="{FF2B5EF4-FFF2-40B4-BE49-F238E27FC236}">
                <a16:creationId xmlns:a16="http://schemas.microsoft.com/office/drawing/2014/main" id="{4D0D22F9-D61C-4405-9677-EB6E61EA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053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D9E8"/>
          </a:solidFill>
          <a:ln xmlns:a="http://schemas.openxmlformats.org/drawingml/2006/main" w="0">
            <a:solidFill>
              <a:srgbClr val="8BD9E8"/>
            </a:solidFill>
            <a:prstDash val="solid"/>
          </a:ln>
        </p:spPr>
      </p:sp>
      <p:sp>
        <p:nvSpPr>
          <p:cNvPr id="52" name="process-step-no-4">
            <a:extLst xmlns:a="http://schemas.openxmlformats.org/drawingml/2006/main">
              <a:ext uri="{FF2B5EF4-FFF2-40B4-BE49-F238E27FC236}">
                <a16:creationId xmlns:a16="http://schemas.microsoft.com/office/drawing/2014/main" id="{ED85CB50-CACA-41A3-B24E-ABCF8ACA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5524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8BD9E8"/>
          </a:solidFill>
          <a:ln xmlns:a="http://schemas.openxmlformats.org/drawingml/2006/main" w="9525">
            <a:solidFill>
              <a:srgbClr val="8BD9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3" name="process-step-title-4">
            <a:extLst xmlns:a="http://schemas.openxmlformats.org/drawingml/2006/main">
              <a:ext uri="{FF2B5EF4-FFF2-40B4-BE49-F238E27FC236}">
                <a16:creationId xmlns:a16="http://schemas.microsoft.com/office/drawing/2014/main" id="{8A04F538-988F-4067-956C-9C9A927C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819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마일스톤 재판정</a:t>
            </a:r>
          </a:p>
        </p:txBody>
      </p:sp>
      <p:sp>
        <p:nvSpPr>
          <p:cNvPr id="54" name="process-step-body-4">
            <a:extLst xmlns:a="http://schemas.openxmlformats.org/drawingml/2006/main">
              <a:ext uri="{FF2B5EF4-FFF2-40B4-BE49-F238E27FC236}">
                <a16:creationId xmlns:a16="http://schemas.microsoft.com/office/drawing/2014/main" id="{3D7D4080-A6BA-471A-9FD8-748A4521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768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CBD5E1"/>
                </a:solidFill>
              </a:defRPr>
            </a:pPr>
            <a:r>
              <a:rPr sz="938">
                <a:solidFill>
                  <a:srgbClr val="CBD5E1"/>
                </a:solidFill>
              </a:rPr>
              <a:t>해결·보류·제외 기준 정리</a:t>
            </a:r>
          </a:p>
        </p:txBody>
      </p:sp>
      <p:sp>
        <p:nvSpPr>
          <p:cNvPr id="55" name="risk-principle-panel">
            <a:extLst xmlns:a="http://schemas.openxmlformats.org/drawingml/2006/main">
              <a:ext uri="{FF2B5EF4-FFF2-40B4-BE49-F238E27FC236}">
                <a16:creationId xmlns:a16="http://schemas.microsoft.com/office/drawing/2014/main" id="{7FFE48EA-70D0-46E9-BAD0-D27FA47B5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087755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56" name="risk-principle-label">
            <a:extLst xmlns:a="http://schemas.openxmlformats.org/drawingml/2006/main">
              <a:ext uri="{FF2B5EF4-FFF2-40B4-BE49-F238E27FC236}">
                <a16:creationId xmlns:a16="http://schemas.microsoft.com/office/drawing/2014/main" id="{C722B008-8634-43F1-89FC-CA63AB24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PM 역할</a:t>
            </a:r>
          </a:p>
        </p:txBody>
      </p:sp>
      <p:sp>
        <p:nvSpPr>
          <p:cNvPr id="57" name="risk-principle-body">
            <a:extLst xmlns:a="http://schemas.openxmlformats.org/drawingml/2006/main">
              <a:ext uri="{FF2B5EF4-FFF2-40B4-BE49-F238E27FC236}">
                <a16:creationId xmlns:a16="http://schemas.microsoft.com/office/drawing/2014/main" id="{9B515F3A-9ABC-42BC-BBEA-78033A6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05500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리스크를 직접 해결하기보다, 일정·버전·이슈를 의사결정 가능한 상태로 정리하는 것이 핵심입니다.</a:t>
            </a:r>
          </a:p>
        </p:txBody>
      </p:sp>
    </p:spTree>
    <p:extLst>
      <p:ext uri="{BB962C8B-B14F-4D97-AF65-F5344CB8AC3E}">
        <p14:creationId xmlns:p14="http://schemas.microsoft.com/office/powerpoint/2010/main" val="9078567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2026-07-13T09:47:33.9060000Z</dcterms:created>
  <dcterms:modified xsi:type="dcterms:W3CDTF">2026-07-13T09:47:33.9060000Z</dcterms:modified>
</coreProperties>
</file>