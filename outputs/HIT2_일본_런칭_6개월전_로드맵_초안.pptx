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502de4820294e2b" /><Relationship Type="http://schemas.openxmlformats.org/officeDocument/2006/relationships/extended-properties" Target="/docProps/app.xml" Id="R2dcab9e66dea421d" /><Relationship Type="http://schemas.openxmlformats.org/officeDocument/2006/relationships/officeDocument" Target="/ppt/presentation.xml" Id="R3d0a3fed6c89454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62491ddb63243c0"/>
  </p:sldMasterIdLst>
  <p:notesMasterIdLst>
    <p:notesMasterId xmlns:r="http://schemas.openxmlformats.org/officeDocument/2006/relationships" r:id="R10e58742bff54142"/>
  </p:notesMasterIdLst>
  <p:sldIdLst>
    <p:sldId xmlns:r="http://schemas.openxmlformats.org/officeDocument/2006/relationships" id="256" r:id="Rde8df3105faa408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ba6bd53f22a45ed" /><Relationship Type="http://schemas.openxmlformats.org/officeDocument/2006/relationships/slideMaster" Target="/ppt/slideMasters/slideMaster1.xml" Id="R862491ddb63243c0" /><Relationship Type="http://schemas.openxmlformats.org/officeDocument/2006/relationships/notesMaster" Target="/ppt/notesMasters/notesMaster1.xml" Id="R10e58742bff54142" /><Relationship Type="http://schemas.openxmlformats.org/officeDocument/2006/relationships/presProps" Target="/ppt/presProps.xml" Id="R5d106a8fa0104e60" /><Relationship Type="http://schemas.openxmlformats.org/officeDocument/2006/relationships/tableStyles" Target="/ppt/tableStyles.xml" Id="Rb1bb93ef41734a7d" /><Relationship Type="http://schemas.openxmlformats.org/officeDocument/2006/relationships/slide" Target="/ppt/slides/slide1.xml" Id="Rde8df3105faa408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eb1315ee4d34a1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617dc58be904c45" /><Relationship Type="http://schemas.openxmlformats.org/officeDocument/2006/relationships/notesMaster" Target="/ppt/notesMasters/notesMaster1.xml" Id="R41291fc644b2468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377e2bea28460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a7f724f63e64b30" /><Relationship Type="http://schemas.openxmlformats.org/officeDocument/2006/relationships/slideLayout" Target="/ppt/slideLayouts/slideLayout1.xml" Id="R0a59564abe494e9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a59564abe494e9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4ad76343614ef3" /><Relationship Type="http://schemas.openxmlformats.org/officeDocument/2006/relationships/notesSlide" Target="/ppt/notesSlides/notesSlide1.xml" Id="R14e5524b8498479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accent">
            <a:extLst xmlns:a="http://schemas.openxmlformats.org/drawingml/2006/main">
              <a:ext uri="{FF2B5EF4-FFF2-40B4-BE49-F238E27FC236}">
                <a16:creationId xmlns:a16="http://schemas.microsoft.com/office/drawing/2014/main" id="{7485DD3D-49CA-4E11-95BA-C0B0B4E3A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2" name="left-accent">
            <a:extLst xmlns:a="http://schemas.openxmlformats.org/drawingml/2006/main">
              <a:ext uri="{FF2B5EF4-FFF2-40B4-BE49-F238E27FC236}">
                <a16:creationId xmlns:a16="http://schemas.microsoft.com/office/drawing/2014/main" id="{9C6457F4-349D-4CCF-8069-2EFF64D21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F48689D7-D6BF-415F-A133-BB57B8098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8BD9E8"/>
                </a:solidFill>
              </a:defRPr>
            </a:pPr>
            <a:r>
              <a:rPr sz="1125" b="1">
                <a:solidFill>
                  <a:srgbClr val="8BD9E8"/>
                </a:solidFill>
              </a:rPr>
              <a:t>HIT2 JAPAN LAUNCH ROADMAP | PAGE 01</a:t>
            </a:r>
          </a:p>
        </p:txBody>
      </p:sp>
      <p:sp>
        <p:nvSpPr>
          <p:cNvPr id="4" name="footer">
            <a:extLst xmlns:a="http://schemas.openxmlformats.org/drawingml/2006/main">
              <a:ext uri="{FF2B5EF4-FFF2-40B4-BE49-F238E27FC236}">
                <a16:creationId xmlns:a16="http://schemas.microsoft.com/office/drawing/2014/main" id="{7C4C45AF-1FDA-423C-A59F-42E878CC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57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94A3B8"/>
                </a:solidFill>
              </a:defRPr>
            </a:pPr>
            <a:r>
              <a:rPr sz="1125">
                <a:solidFill>
                  <a:srgbClr val="94A3B8"/>
                </a:solidFill>
              </a:rPr>
              <a:t>HIT2 일본 서비스 런칭 6개월 전 로드맵</a:t>
            </a:r>
          </a:p>
        </p:txBody>
      </p:sp>
      <p:sp>
        <p:nvSpPr>
          <p:cNvPr id="5" name="page-no">
            <a:extLst xmlns:a="http://schemas.openxmlformats.org/drawingml/2006/main">
              <a:ext uri="{FF2B5EF4-FFF2-40B4-BE49-F238E27FC236}">
                <a16:creationId xmlns:a16="http://schemas.microsoft.com/office/drawing/2014/main" id="{01DFE2D1-3011-4265-AEA9-0BC99D584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579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4A3B8"/>
                </a:solidFill>
              </a:defRPr>
            </a:pPr>
            <a:r>
              <a:rPr sz="1200" b="1">
                <a:solidFill>
                  <a:srgbClr val="94A3B8"/>
                </a:solidFill>
              </a:rPr>
              <a:t>01</a:t>
            </a:r>
          </a:p>
        </p:txBody>
      </p:sp>
      <p:sp>
        <p:nvSpPr>
          <p:cNvPr id="6" name="hero-panel">
            <a:extLst xmlns:a="http://schemas.openxmlformats.org/drawingml/2006/main">
              <a:ext uri="{FF2B5EF4-FFF2-40B4-BE49-F238E27FC236}">
                <a16:creationId xmlns:a16="http://schemas.microsoft.com/office/drawing/2014/main" id="{4383C236-DB54-4097-B3D1-747EDA508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1252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92E"/>
          </a:solidFill>
          <a:ln xmlns:a="http://schemas.openxmlformats.org/drawingml/2006/main" w="9525">
            <a:solidFill>
              <a:srgbClr val="22304E"/>
            </a:solidFill>
            <a:prstDash val="solid"/>
          </a:ln>
        </p:spPr>
      </p:sp>
      <p:sp>
        <p:nvSpPr>
          <p:cNvPr id="7" name="hero-kicker">
            <a:extLst xmlns:a="http://schemas.openxmlformats.org/drawingml/2006/main">
              <a:ext uri="{FF2B5EF4-FFF2-40B4-BE49-F238E27FC236}">
                <a16:creationId xmlns:a16="http://schemas.microsoft.com/office/drawing/2014/main" id="{E4DC28E6-1B95-42A5-B8A2-419BDD63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191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8BD9E8"/>
                </a:solidFill>
              </a:defRPr>
            </a:pPr>
            <a:r>
              <a:rPr sz="1500" b="1">
                <a:solidFill>
                  <a:srgbClr val="8BD9E8"/>
                </a:solidFill>
              </a:rPr>
              <a:t>개발 PM 관점의 글로벌 런칭 준비안</a:t>
            </a:r>
          </a:p>
        </p:txBody>
      </p:sp>
      <p:sp>
        <p:nvSpPr>
          <p:cNvPr id="8" name="hero-title">
            <a:extLst xmlns:a="http://schemas.openxmlformats.org/drawingml/2006/main">
              <a:ext uri="{FF2B5EF4-FFF2-40B4-BE49-F238E27FC236}">
                <a16:creationId xmlns:a16="http://schemas.microsoft.com/office/drawing/2014/main" id="{C055DF5B-91F6-404C-9970-3DC7A1F03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8096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HIT2 일본 런칭 6개월 전 로드맵</a:t>
            </a:r>
          </a:p>
        </p:txBody>
      </p:sp>
      <p:sp>
        <p:nvSpPr>
          <p:cNvPr id="9" name="hero-subtitle">
            <a:extLst xmlns:a="http://schemas.openxmlformats.org/drawingml/2006/main">
              <a:ext uri="{FF2B5EF4-FFF2-40B4-BE49-F238E27FC236}">
                <a16:creationId xmlns:a16="http://schemas.microsoft.com/office/drawing/2014/main" id="{3301D87B-D90F-4F89-8249-A4C263C83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050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CBD5E1"/>
                </a:solidFill>
              </a:defRPr>
            </a:pPr>
            <a:r>
              <a:rPr sz="1425">
                <a:solidFill>
                  <a:srgbClr val="CBD5E1"/>
                </a:solidFill>
              </a:rPr>
              <a:t>마일스톤, 빌드·버전, QA, 퍼블리셔 커뮤니케이션을 하나의 출시 준비 흐름으로 정리합니다.</a:t>
            </a:r>
          </a:p>
        </p:txBody>
      </p:sp>
      <p:sp>
        <p:nvSpPr>
          <p:cNvPr id="10" name="tag-1">
            <a:extLst xmlns:a="http://schemas.openxmlformats.org/drawingml/2006/main">
              <a:ext uri="{FF2B5EF4-FFF2-40B4-BE49-F238E27FC236}">
                <a16:creationId xmlns:a16="http://schemas.microsoft.com/office/drawing/2014/main" id="{365480EB-F0C6-442B-9531-4D0C261F5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80010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0B8D9"/>
          </a:solidFill>
          <a:ln xmlns:a="http://schemas.openxmlformats.org/drawingml/2006/main" w="9525">
            <a:solidFill>
              <a:srgbClr val="00B8D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6111F"/>
                </a:solidFill>
              </a:defRPr>
            </a:pPr>
            <a:r>
              <a:rPr sz="1125" b="1">
                <a:solidFill>
                  <a:srgbClr val="06111F"/>
                </a:solidFill>
              </a:rPr>
              <a:t>런칭 D-6M</a:t>
            </a:r>
          </a:p>
        </p:txBody>
      </p:sp>
      <p:sp>
        <p:nvSpPr>
          <p:cNvPr id="11" name="tag-2">
            <a:extLst xmlns:a="http://schemas.openxmlformats.org/drawingml/2006/main">
              <a:ext uri="{FF2B5EF4-FFF2-40B4-BE49-F238E27FC236}">
                <a16:creationId xmlns:a16="http://schemas.microsoft.com/office/drawing/2014/main" id="{C0DC44E7-5115-4875-9791-118A84076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25730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6B35"/>
          </a:solidFill>
          <a:ln xmlns:a="http://schemas.openxmlformats.org/drawingml/2006/main" w="9525">
            <a:solidFill>
              <a:srgbClr val="FF6B3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일본 서비스</a:t>
            </a:r>
          </a:p>
        </p:txBody>
      </p:sp>
      <p:sp>
        <p:nvSpPr>
          <p:cNvPr id="12" name="tag-3">
            <a:extLst xmlns:a="http://schemas.openxmlformats.org/drawingml/2006/main">
              <a:ext uri="{FF2B5EF4-FFF2-40B4-BE49-F238E27FC236}">
                <a16:creationId xmlns:a16="http://schemas.microsoft.com/office/drawing/2014/main" id="{BEAF8971-35C2-49D2-8039-35949799B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1450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34155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개발 PM</a:t>
            </a:r>
          </a:p>
        </p:txBody>
      </p:sp>
      <p:sp>
        <p:nvSpPr>
          <p:cNvPr id="13" name="scope-title">
            <a:extLst xmlns:a="http://schemas.openxmlformats.org/drawingml/2006/main">
              <a:ext uri="{FF2B5EF4-FFF2-40B4-BE49-F238E27FC236}">
                <a16:creationId xmlns:a16="http://schemas.microsoft.com/office/drawing/2014/main" id="{959997CE-44A4-4CFD-8D8F-713495787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작성 범위</a:t>
            </a:r>
          </a:p>
        </p:txBody>
      </p:sp>
      <p:sp>
        <p:nvSpPr>
          <p:cNvPr id="14" name="scope-note">
            <a:extLst xmlns:a="http://schemas.openxmlformats.org/drawingml/2006/main">
              <a:ext uri="{FF2B5EF4-FFF2-40B4-BE49-F238E27FC236}">
                <a16:creationId xmlns:a16="http://schemas.microsoft.com/office/drawing/2014/main" id="{119295B3-927C-4E41-95E3-CEC9F5D6A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981325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94A3B8"/>
                </a:solidFill>
              </a:defRPr>
            </a:pPr>
            <a:r>
              <a:rPr sz="1125">
                <a:solidFill>
                  <a:srgbClr val="94A3B8"/>
                </a:solidFill>
              </a:rPr>
              <a:t>실제 경력 서술을 바탕으로 한 임의 로드맵 초안</a:t>
            </a:r>
          </a:p>
        </p:txBody>
      </p:sp>
      <p:sp>
        <p:nvSpPr>
          <p:cNvPr id="15" name="scope-row-1">
            <a:extLst xmlns:a="http://schemas.openxmlformats.org/drawingml/2006/main">
              <a:ext uri="{FF2B5EF4-FFF2-40B4-BE49-F238E27FC236}">
                <a16:creationId xmlns:a16="http://schemas.microsoft.com/office/drawing/2014/main" id="{A1F78B5B-9D2E-409B-BFC8-D8AD951C5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6419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16" name="scope-label-1">
            <a:extLst xmlns:a="http://schemas.openxmlformats.org/drawingml/2006/main">
              <a:ext uri="{FF2B5EF4-FFF2-40B4-BE49-F238E27FC236}">
                <a16:creationId xmlns:a16="http://schemas.microsoft.com/office/drawing/2014/main" id="{26DBA780-AAC7-4A81-AFEF-51C1EC860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D9E8"/>
                </a:solidFill>
              </a:defRPr>
            </a:pPr>
            <a:r>
              <a:rPr sz="1200" b="1">
                <a:solidFill>
                  <a:srgbClr val="8BD9E8"/>
                </a:solidFill>
              </a:rPr>
              <a:t>목표</a:t>
            </a:r>
          </a:p>
        </p:txBody>
      </p:sp>
      <p:sp>
        <p:nvSpPr>
          <p:cNvPr id="17" name="scope-value-1">
            <a:extLst xmlns:a="http://schemas.openxmlformats.org/drawingml/2006/main">
              <a:ext uri="{FF2B5EF4-FFF2-40B4-BE49-F238E27FC236}">
                <a16:creationId xmlns:a16="http://schemas.microsoft.com/office/drawing/2014/main" id="{75A3B9C4-2580-4C86-AAD7-65DF9D51B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705225"/>
            <a:ext cx="438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FFFFFF"/>
                </a:solidFill>
              </a:defRPr>
            </a:pPr>
            <a:r>
              <a:rPr sz="1200">
                <a:solidFill>
                  <a:srgbClr val="FFFFFF"/>
                </a:solidFill>
              </a:rPr>
              <a:t>일본 런칭 전 6개월간의 준비 과업과 의사결정 흐름 제시</a:t>
            </a:r>
          </a:p>
        </p:txBody>
      </p:sp>
      <p:sp>
        <p:nvSpPr>
          <p:cNvPr id="18" name="scope-row-2">
            <a:extLst xmlns:a="http://schemas.openxmlformats.org/drawingml/2006/main">
              <a:ext uri="{FF2B5EF4-FFF2-40B4-BE49-F238E27FC236}">
                <a16:creationId xmlns:a16="http://schemas.microsoft.com/office/drawing/2014/main" id="{747A003F-0026-4D2B-A143-B2ADFE300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6419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19" name="scope-label-2">
            <a:extLst xmlns:a="http://schemas.openxmlformats.org/drawingml/2006/main">
              <a:ext uri="{FF2B5EF4-FFF2-40B4-BE49-F238E27FC236}">
                <a16:creationId xmlns:a16="http://schemas.microsoft.com/office/drawing/2014/main" id="{808832D2-3436-4749-970A-B5B007F7F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2910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D9E8"/>
                </a:solidFill>
              </a:defRPr>
            </a:pPr>
            <a:r>
              <a:rPr sz="1200" b="1">
                <a:solidFill>
                  <a:srgbClr val="8BD9E8"/>
                </a:solidFill>
              </a:rPr>
              <a:t>핵심 축</a:t>
            </a:r>
          </a:p>
        </p:txBody>
      </p:sp>
      <p:sp>
        <p:nvSpPr>
          <p:cNvPr id="20" name="scope-value-2">
            <a:extLst xmlns:a="http://schemas.openxmlformats.org/drawingml/2006/main">
              <a:ext uri="{FF2B5EF4-FFF2-40B4-BE49-F238E27FC236}">
                <a16:creationId xmlns:a16="http://schemas.microsoft.com/office/drawing/2014/main" id="{AB0E592C-E904-46BE-8C60-BD1028AC7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219575"/>
            <a:ext cx="438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FFFFFF"/>
                </a:solidFill>
              </a:defRPr>
            </a:pPr>
            <a:r>
              <a:rPr sz="1200">
                <a:solidFill>
                  <a:srgbClr val="FFFFFF"/>
                </a:solidFill>
              </a:rPr>
              <a:t>마일스톤 관리, 빌드·버전 통제, QA 안정화, 퍼블리셔 대응</a:t>
            </a:r>
          </a:p>
        </p:txBody>
      </p:sp>
      <p:sp>
        <p:nvSpPr>
          <p:cNvPr id="21" name="scope-row-3">
            <a:extLst xmlns:a="http://schemas.openxmlformats.org/drawingml/2006/main">
              <a:ext uri="{FF2B5EF4-FFF2-40B4-BE49-F238E27FC236}">
                <a16:creationId xmlns:a16="http://schemas.microsoft.com/office/drawing/2014/main" id="{254FE3C6-141F-4041-AB83-3CE1C1C78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6419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F34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22" name="scope-label-3">
            <a:extLst xmlns:a="http://schemas.openxmlformats.org/drawingml/2006/main">
              <a:ext uri="{FF2B5EF4-FFF2-40B4-BE49-F238E27FC236}">
                <a16:creationId xmlns:a16="http://schemas.microsoft.com/office/drawing/2014/main" id="{9882EFD8-FB8B-4FFF-B718-5D03D887B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4345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D9E8"/>
                </a:solidFill>
              </a:defRPr>
            </a:pPr>
            <a:r>
              <a:rPr sz="1200" b="1">
                <a:solidFill>
                  <a:srgbClr val="8BD9E8"/>
                </a:solidFill>
              </a:rPr>
              <a:t>산출물</a:t>
            </a:r>
          </a:p>
        </p:txBody>
      </p:sp>
      <p:sp>
        <p:nvSpPr>
          <p:cNvPr id="23" name="scope-value-3">
            <a:extLst xmlns:a="http://schemas.openxmlformats.org/drawingml/2006/main">
              <a:ext uri="{FF2B5EF4-FFF2-40B4-BE49-F238E27FC236}">
                <a16:creationId xmlns:a16="http://schemas.microsoft.com/office/drawing/2014/main" id="{0CF421D7-5E14-4E69-BE94-1A8A5BC8E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733925"/>
            <a:ext cx="438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FFFFFF"/>
                </a:solidFill>
              </a:defRPr>
            </a:pPr>
            <a:r>
              <a:rPr sz="1200">
                <a:solidFill>
                  <a:srgbClr val="FFFFFF"/>
                </a:solidFill>
              </a:rPr>
              <a:t>월별 로드맵, 게이트 기준, 리스크·커뮤니케이션 관리안</a:t>
            </a:r>
          </a:p>
        </p:txBody>
      </p:sp>
      <p:sp>
        <p:nvSpPr>
          <p:cNvPr id="24" name="scope-row-4">
            <a:extLst xmlns:a="http://schemas.openxmlformats.org/drawingml/2006/main">
              <a:ext uri="{FF2B5EF4-FFF2-40B4-BE49-F238E27FC236}">
                <a16:creationId xmlns:a16="http://schemas.microsoft.com/office/drawing/2014/main" id="{A0706CBB-BF16-40D8-B0C1-445582E53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64198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25" name="scope-label-4">
            <a:extLst xmlns:a="http://schemas.openxmlformats.org/drawingml/2006/main">
              <a:ext uri="{FF2B5EF4-FFF2-40B4-BE49-F238E27FC236}">
                <a16:creationId xmlns:a16="http://schemas.microsoft.com/office/drawing/2014/main" id="{A14FBE55-DF5D-40A9-A6F2-F5BC6BE86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5780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D9E8"/>
                </a:solidFill>
              </a:defRPr>
            </a:pPr>
            <a:r>
              <a:rPr sz="1200" b="1">
                <a:solidFill>
                  <a:srgbClr val="8BD9E8"/>
                </a:solidFill>
              </a:rPr>
              <a:t>전제</a:t>
            </a:r>
          </a:p>
        </p:txBody>
      </p:sp>
      <p:sp>
        <p:nvSpPr>
          <p:cNvPr id="26" name="scope-value-4">
            <a:extLst xmlns:a="http://schemas.openxmlformats.org/drawingml/2006/main">
              <a:ext uri="{FF2B5EF4-FFF2-40B4-BE49-F238E27FC236}">
                <a16:creationId xmlns:a16="http://schemas.microsoft.com/office/drawing/2014/main" id="{F82D48E4-4143-4C36-94F7-86C385E34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48275"/>
            <a:ext cx="438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FFFFFF"/>
                </a:solidFill>
              </a:defRPr>
            </a:pPr>
            <a:r>
              <a:rPr sz="1200">
                <a:solidFill>
                  <a:srgbClr val="FFFFFF"/>
                </a:solidFill>
              </a:rPr>
              <a:t>상세 일정과 지표는 과제 목적에 맞춘 가정값으로 구성</a:t>
            </a:r>
          </a:p>
        </p:txBody>
      </p:sp>
      <p:sp>
        <p:nvSpPr>
          <p:cNvPr id="27" name="evidence-title">
            <a:extLst xmlns:a="http://schemas.openxmlformats.org/drawingml/2006/main">
              <a:ext uri="{FF2B5EF4-FFF2-40B4-BE49-F238E27FC236}">
                <a16:creationId xmlns:a16="http://schemas.microsoft.com/office/drawing/2014/main" id="{62873B73-2344-4B83-A008-5A5CEE7E4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146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경력 근거</a:t>
            </a:r>
          </a:p>
        </p:txBody>
      </p:sp>
      <p:sp>
        <p:nvSpPr>
          <p:cNvPr id="28" name="evidence-card-1">
            <a:extLst xmlns:a="http://schemas.openxmlformats.org/drawingml/2006/main">
              <a:ext uri="{FF2B5EF4-FFF2-40B4-BE49-F238E27FC236}">
                <a16:creationId xmlns:a16="http://schemas.microsoft.com/office/drawing/2014/main" id="{AF39F80D-3B67-49C1-9E44-B669E8E66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276600"/>
            <a:ext cx="35623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29" name="evidence-bar-1">
            <a:extLst xmlns:a="http://schemas.openxmlformats.org/drawingml/2006/main">
              <a:ext uri="{FF2B5EF4-FFF2-40B4-BE49-F238E27FC236}">
                <a16:creationId xmlns:a16="http://schemas.microsoft.com/office/drawing/2014/main" id="{5F88EE19-D4B3-4DBA-82B6-25BC3C81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276600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8D9"/>
          </a:solidFill>
          <a:ln xmlns:a="http://schemas.openxmlformats.org/drawingml/2006/main" w="0">
            <a:solidFill>
              <a:srgbClr val="00B8D9"/>
            </a:solidFill>
            <a:prstDash val="solid"/>
          </a:ln>
        </p:spPr>
      </p:sp>
      <p:sp>
        <p:nvSpPr>
          <p:cNvPr id="30" name="evidence-title-1">
            <a:extLst xmlns:a="http://schemas.openxmlformats.org/drawingml/2006/main">
              <a:ext uri="{FF2B5EF4-FFF2-40B4-BE49-F238E27FC236}">
                <a16:creationId xmlns:a16="http://schemas.microsoft.com/office/drawing/2014/main" id="{25B6F673-939D-468E-BE28-F9BBE8BD8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371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HIT2 일본 서비스 개발 PM</a:t>
            </a:r>
          </a:p>
        </p:txBody>
      </p:sp>
      <p:sp>
        <p:nvSpPr>
          <p:cNvPr id="31" name="evidence-body-1">
            <a:extLst xmlns:a="http://schemas.openxmlformats.org/drawingml/2006/main">
              <a:ext uri="{FF2B5EF4-FFF2-40B4-BE49-F238E27FC236}">
                <a16:creationId xmlns:a16="http://schemas.microsoft.com/office/drawing/2014/main" id="{62DCB257-1096-4A46-9A60-E9FC97AE2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6195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런칭 운영을 담당 PM 관점에서 통합 관리</a:t>
            </a:r>
          </a:p>
        </p:txBody>
      </p:sp>
      <p:sp>
        <p:nvSpPr>
          <p:cNvPr id="32" name="evidence-card-2">
            <a:extLst xmlns:a="http://schemas.openxmlformats.org/drawingml/2006/main">
              <a:ext uri="{FF2B5EF4-FFF2-40B4-BE49-F238E27FC236}">
                <a16:creationId xmlns:a16="http://schemas.microsoft.com/office/drawing/2014/main" id="{AD4DE1F4-A875-4355-A636-0DFC8534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76700"/>
            <a:ext cx="35623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33" name="evidence-bar-2">
            <a:extLst xmlns:a="http://schemas.openxmlformats.org/drawingml/2006/main">
              <a:ext uri="{FF2B5EF4-FFF2-40B4-BE49-F238E27FC236}">
                <a16:creationId xmlns:a16="http://schemas.microsoft.com/office/drawing/2014/main" id="{743832EF-A64B-49A4-90B1-F46221B51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76700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34" name="evidence-title-2">
            <a:extLst xmlns:a="http://schemas.openxmlformats.org/drawingml/2006/main">
              <a:ext uri="{FF2B5EF4-FFF2-40B4-BE49-F238E27FC236}">
                <a16:creationId xmlns:a16="http://schemas.microsoft.com/office/drawing/2014/main" id="{0FC03D62-297D-43F6-9384-8E94EBBA6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719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마일스톤 및 배포 일정 총괄</a:t>
            </a:r>
          </a:p>
        </p:txBody>
      </p:sp>
      <p:sp>
        <p:nvSpPr>
          <p:cNvPr id="35" name="evidence-body-2">
            <a:extLst xmlns:a="http://schemas.openxmlformats.org/drawingml/2006/main">
              <a:ext uri="{FF2B5EF4-FFF2-40B4-BE49-F238E27FC236}">
                <a16:creationId xmlns:a16="http://schemas.microsoft.com/office/drawing/2014/main" id="{6AFAB91C-4411-414D-A82A-132515F5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4196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일정·범위·릴리즈 기준을 연결해 관리</a:t>
            </a:r>
          </a:p>
        </p:txBody>
      </p:sp>
      <p:sp>
        <p:nvSpPr>
          <p:cNvPr id="36" name="evidence-card-3">
            <a:extLst xmlns:a="http://schemas.openxmlformats.org/drawingml/2006/main">
              <a:ext uri="{FF2B5EF4-FFF2-40B4-BE49-F238E27FC236}">
                <a16:creationId xmlns:a16="http://schemas.microsoft.com/office/drawing/2014/main" id="{A440D78A-F75F-4943-A706-D461B0977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76800"/>
            <a:ext cx="35623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F3B55"/>
            </a:solidFill>
            <a:prstDash val="solid"/>
          </a:ln>
        </p:spPr>
      </p:sp>
      <p:sp>
        <p:nvSpPr>
          <p:cNvPr id="37" name="evidence-bar-3">
            <a:extLst xmlns:a="http://schemas.openxmlformats.org/drawingml/2006/main">
              <a:ext uri="{FF2B5EF4-FFF2-40B4-BE49-F238E27FC236}">
                <a16:creationId xmlns:a16="http://schemas.microsoft.com/office/drawing/2014/main" id="{20A6A53C-1810-4C04-8763-18C335DA4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76800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7C3AED"/>
            </a:solidFill>
            <a:prstDash val="solid"/>
          </a:ln>
        </p:spPr>
      </p:sp>
      <p:sp>
        <p:nvSpPr>
          <p:cNvPr id="38" name="evidence-title-3">
            <a:extLst xmlns:a="http://schemas.openxmlformats.org/drawingml/2006/main">
              <a:ext uri="{FF2B5EF4-FFF2-40B4-BE49-F238E27FC236}">
                <a16:creationId xmlns:a16="http://schemas.microsoft.com/office/drawing/2014/main" id="{265EE72B-1E94-40F3-84A4-3AA7E58BE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9720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Perforce 기반 빌드·버전 관리</a:t>
            </a:r>
          </a:p>
        </p:txBody>
      </p:sp>
      <p:sp>
        <p:nvSpPr>
          <p:cNvPr id="39" name="evidence-body-3">
            <a:extLst xmlns:a="http://schemas.openxmlformats.org/drawingml/2006/main">
              <a:ext uri="{FF2B5EF4-FFF2-40B4-BE49-F238E27FC236}">
                <a16:creationId xmlns:a16="http://schemas.microsoft.com/office/drawing/2014/main" id="{00051384-EDBE-4D35-B627-573CCE107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219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CBD5E1"/>
                </a:solidFill>
              </a:defRPr>
            </a:pPr>
            <a:r>
              <a:rPr sz="975">
                <a:solidFill>
                  <a:srgbClr val="CBD5E1"/>
                </a:solidFill>
              </a:rPr>
              <a:t>업데이트 안정성을 확보하는 릴리즈 체계 경험</a:t>
            </a:r>
          </a:p>
        </p:txBody>
      </p:sp>
    </p:spTree>
    <p:extLst>
      <p:ext uri="{BB962C8B-B14F-4D97-AF65-F5344CB8AC3E}">
        <p14:creationId xmlns:p14="http://schemas.microsoft.com/office/powerpoint/2010/main" val="5032591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2026-07-13T09:18:39.1840000Z</dcterms:created>
  <dcterms:modified xsi:type="dcterms:W3CDTF">2026-07-13T09:18:39.1840000Z</dcterms:modified>
</coreProperties>
</file>